
<file path=[Content_Types].xml><?xml version="1.0" encoding="utf-8"?>
<Types xmlns="http://schemas.openxmlformats.org/package/2006/content-types"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6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0" d="100"/>
          <a:sy n="120" d="100"/>
        </p:scale>
        <p:origin x="11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ad Furl" userId="e1f063c0-f891-481e-b162-0b825299f031" providerId="ADAL" clId="{6ADDB542-7708-4E33-BA5D-95E7728F0CE2}"/>
    <pc:docChg chg="undo custSel modSld">
      <pc:chgData name="Chad Furl" userId="e1f063c0-f891-481e-b162-0b825299f031" providerId="ADAL" clId="{6ADDB542-7708-4E33-BA5D-95E7728F0CE2}" dt="2026-08-27T16:35:32.334" v="396" actId="478"/>
      <pc:docMkLst>
        <pc:docMk/>
      </pc:docMkLst>
      <pc:sldChg chg="delSp modSp mod">
        <pc:chgData name="Chad Furl" userId="e1f063c0-f891-481e-b162-0b825299f031" providerId="ADAL" clId="{6ADDB542-7708-4E33-BA5D-95E7728F0CE2}" dt="2026-08-27T16:35:32.334" v="396" actId="478"/>
        <pc:sldMkLst>
          <pc:docMk/>
          <pc:sldMk cId="0" sldId="256"/>
        </pc:sldMkLst>
        <pc:spChg chg="mod">
          <ac:chgData name="Chad Furl" userId="e1f063c0-f891-481e-b162-0b825299f031" providerId="ADAL" clId="{6ADDB542-7708-4E33-BA5D-95E7728F0CE2}" dt="2026-08-27T16:35:11.087" v="395" actId="20577"/>
          <ac:spMkLst>
            <pc:docMk/>
            <pc:sldMk cId="0" sldId="256"/>
            <ac:spMk id="6" creationId="{00000000-0000-0000-0000-000000000000}"/>
          </ac:spMkLst>
        </pc:spChg>
        <pc:spChg chg="del">
          <ac:chgData name="Chad Furl" userId="e1f063c0-f891-481e-b162-0b825299f031" providerId="ADAL" clId="{6ADDB542-7708-4E33-BA5D-95E7728F0CE2}" dt="2026-08-27T16:35:32.334" v="396" actId="478"/>
          <ac:spMkLst>
            <pc:docMk/>
            <pc:sldMk cId="0" sldId="256"/>
            <ac:spMk id="7" creationId="{00000000-0000-0000-0000-000000000000}"/>
          </ac:spMkLst>
        </pc:spChg>
      </pc:sldChg>
      <pc:sldChg chg="addSp delSp modSp mod">
        <pc:chgData name="Chad Furl" userId="e1f063c0-f891-481e-b162-0b825299f031" providerId="ADAL" clId="{6ADDB542-7708-4E33-BA5D-95E7728F0CE2}" dt="2026-08-26T15:11:50.656" v="366" actId="20577"/>
        <pc:sldMkLst>
          <pc:docMk/>
          <pc:sldMk cId="0" sldId="266"/>
        </pc:sldMkLst>
        <pc:spChg chg="mod">
          <ac:chgData name="Chad Furl" userId="e1f063c0-f891-481e-b162-0b825299f031" providerId="ADAL" clId="{6ADDB542-7708-4E33-BA5D-95E7728F0CE2}" dt="2026-08-26T15:03:46.940" v="90" actId="20577"/>
          <ac:spMkLst>
            <pc:docMk/>
            <pc:sldMk cId="0" sldId="266"/>
            <ac:spMk id="3" creationId="{00000000-0000-0000-0000-000000000000}"/>
          </ac:spMkLst>
        </pc:spChg>
        <pc:spChg chg="del mod">
          <ac:chgData name="Chad Furl" userId="e1f063c0-f891-481e-b162-0b825299f031" providerId="ADAL" clId="{6ADDB542-7708-4E33-BA5D-95E7728F0CE2}" dt="2026-08-26T15:03:50.846" v="91" actId="478"/>
          <ac:spMkLst>
            <pc:docMk/>
            <pc:sldMk cId="0" sldId="266"/>
            <ac:spMk id="4" creationId="{00000000-0000-0000-0000-000000000000}"/>
          </ac:spMkLst>
        </pc:spChg>
        <pc:spChg chg="add del mod">
          <ac:chgData name="Chad Furl" userId="e1f063c0-f891-481e-b162-0b825299f031" providerId="ADAL" clId="{6ADDB542-7708-4E33-BA5D-95E7728F0CE2}" dt="2026-08-26T15:04:09.176" v="103" actId="20577"/>
          <ac:spMkLst>
            <pc:docMk/>
            <pc:sldMk cId="0" sldId="266"/>
            <ac:spMk id="6" creationId="{00000000-0000-0000-0000-000000000000}"/>
          </ac:spMkLst>
        </pc:spChg>
        <pc:spChg chg="mod">
          <ac:chgData name="Chad Furl" userId="e1f063c0-f891-481e-b162-0b825299f031" providerId="ADAL" clId="{6ADDB542-7708-4E33-BA5D-95E7728F0CE2}" dt="2026-08-26T15:06:15.889" v="165" actId="20577"/>
          <ac:spMkLst>
            <pc:docMk/>
            <pc:sldMk cId="0" sldId="266"/>
            <ac:spMk id="7" creationId="{00000000-0000-0000-0000-000000000000}"/>
          </ac:spMkLst>
        </pc:spChg>
        <pc:spChg chg="mod">
          <ac:chgData name="Chad Furl" userId="e1f063c0-f891-481e-b162-0b825299f031" providerId="ADAL" clId="{6ADDB542-7708-4E33-BA5D-95E7728F0CE2}" dt="2026-08-26T15:11:13.296" v="343" actId="5793"/>
          <ac:spMkLst>
            <pc:docMk/>
            <pc:sldMk cId="0" sldId="266"/>
            <ac:spMk id="8" creationId="{00000000-0000-0000-0000-000000000000}"/>
          </ac:spMkLst>
        </pc:spChg>
        <pc:spChg chg="mod">
          <ac:chgData name="Chad Furl" userId="e1f063c0-f891-481e-b162-0b825299f031" providerId="ADAL" clId="{6ADDB542-7708-4E33-BA5D-95E7728F0CE2}" dt="2026-08-26T15:04:15.797" v="111" actId="20577"/>
          <ac:spMkLst>
            <pc:docMk/>
            <pc:sldMk cId="0" sldId="266"/>
            <ac:spMk id="10" creationId="{00000000-0000-0000-0000-000000000000}"/>
          </ac:spMkLst>
        </pc:spChg>
        <pc:spChg chg="mod">
          <ac:chgData name="Chad Furl" userId="e1f063c0-f891-481e-b162-0b825299f031" providerId="ADAL" clId="{6ADDB542-7708-4E33-BA5D-95E7728F0CE2}" dt="2026-08-26T15:07:05.888" v="181" actId="20577"/>
          <ac:spMkLst>
            <pc:docMk/>
            <pc:sldMk cId="0" sldId="266"/>
            <ac:spMk id="11" creationId="{00000000-0000-0000-0000-000000000000}"/>
          </ac:spMkLst>
        </pc:spChg>
        <pc:spChg chg="mod">
          <ac:chgData name="Chad Furl" userId="e1f063c0-f891-481e-b162-0b825299f031" providerId="ADAL" clId="{6ADDB542-7708-4E33-BA5D-95E7728F0CE2}" dt="2026-08-26T15:11:50.656" v="366" actId="20577"/>
          <ac:spMkLst>
            <pc:docMk/>
            <pc:sldMk cId="0" sldId="266"/>
            <ac:spMk id="12" creationId="{00000000-0000-0000-0000-000000000000}"/>
          </ac:spMkLst>
        </pc:spChg>
        <pc:spChg chg="mod">
          <ac:chgData name="Chad Furl" userId="e1f063c0-f891-481e-b162-0b825299f031" providerId="ADAL" clId="{6ADDB542-7708-4E33-BA5D-95E7728F0CE2}" dt="2026-08-26T15:04:26.901" v="120" actId="20577"/>
          <ac:spMkLst>
            <pc:docMk/>
            <pc:sldMk cId="0" sldId="266"/>
            <ac:spMk id="14" creationId="{00000000-0000-0000-0000-000000000000}"/>
          </ac:spMkLst>
        </pc:spChg>
        <pc:spChg chg="mod">
          <ac:chgData name="Chad Furl" userId="e1f063c0-f891-481e-b162-0b825299f031" providerId="ADAL" clId="{6ADDB542-7708-4E33-BA5D-95E7728F0CE2}" dt="2026-08-26T15:07:23.586" v="222" actId="20577"/>
          <ac:spMkLst>
            <pc:docMk/>
            <pc:sldMk cId="0" sldId="266"/>
            <ac:spMk id="15" creationId="{00000000-0000-0000-0000-000000000000}"/>
          </ac:spMkLst>
        </pc:spChg>
        <pc:spChg chg="mod">
          <ac:chgData name="Chad Furl" userId="e1f063c0-f891-481e-b162-0b825299f031" providerId="ADAL" clId="{6ADDB542-7708-4E33-BA5D-95E7728F0CE2}" dt="2026-08-26T15:11:08.802" v="341" actId="5793"/>
          <ac:spMkLst>
            <pc:docMk/>
            <pc:sldMk cId="0" sldId="266"/>
            <ac:spMk id="16" creationId="{00000000-0000-0000-0000-000000000000}"/>
          </ac:spMkLst>
        </pc:spChg>
        <pc:spChg chg="del">
          <ac:chgData name="Chad Furl" userId="e1f063c0-f891-481e-b162-0b825299f031" providerId="ADAL" clId="{6ADDB542-7708-4E33-BA5D-95E7728F0CE2}" dt="2026-08-26T15:11:19.276" v="344" actId="478"/>
          <ac:spMkLst>
            <pc:docMk/>
            <pc:sldMk cId="0" sldId="266"/>
            <ac:spMk id="18" creationId="{00000000-0000-0000-0000-000000000000}"/>
          </ac:spMkLst>
        </pc:spChg>
      </pc:sldChg>
    </pc:docChg>
  </pc:docChgLst>
  <pc:docChgLst>
    <pc:chgData name="Chad Furl" userId="e1f063c0-f891-481e-b162-0b825299f031" providerId="ADAL" clId="{3E978C21-B3D0-4285-96BE-5AD851B5E1C0}"/>
    <pc:docChg chg="modSld sldOrd">
      <pc:chgData name="Chad Furl" userId="e1f063c0-f891-481e-b162-0b825299f031" providerId="ADAL" clId="{3E978C21-B3D0-4285-96BE-5AD851B5E1C0}" dt="2026-08-25T21:02:15.490" v="0"/>
      <pc:docMkLst>
        <pc:docMk/>
      </pc:docMkLst>
      <pc:sldChg chg="ord">
        <pc:chgData name="Chad Furl" userId="e1f063c0-f891-481e-b162-0b825299f031" providerId="ADAL" clId="{3E978C21-B3D0-4285-96BE-5AD851B5E1C0}" dt="2026-08-25T21:02:15.490" v="0"/>
        <pc:sldMkLst>
          <pc:docMk/>
          <pc:sldMk cId="0" sldId="26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899845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C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315968"/>
            <a:ext cx="12188952" cy="224028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>
            <a:alphaModFix amt="45000"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18120" y="-594360"/>
            <a:ext cx="4800600" cy="48006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749808" y="658368"/>
            <a:ext cx="960120" cy="0"/>
          </a:xfrm>
          <a:prstGeom prst="line">
            <a:avLst/>
          </a:prstGeom>
          <a:noFill/>
          <a:ln w="50800">
            <a:solidFill>
              <a:srgbClr val="6DB6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1"/>
          <p:cNvSpPr txBox="1"/>
          <p:nvPr/>
        </p:nvSpPr>
        <p:spPr>
          <a:xfrm>
            <a:off x="749808" y="78638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6DB6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EAHCP</a:t>
            </a:r>
            <a:endParaRPr lang="en-US" sz="1200" dirty="0"/>
          </a:p>
        </p:txBody>
      </p:sp>
      <p:sp>
        <p:nvSpPr>
          <p:cNvPr id="6" name="Text 2"/>
          <p:cNvSpPr txBox="1"/>
          <p:nvPr/>
        </p:nvSpPr>
        <p:spPr>
          <a:xfrm>
            <a:off x="749808" y="1261872"/>
            <a:ext cx="7132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4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Supporting Measures</a:t>
            </a:r>
            <a:endParaRPr lang="en-US" sz="4300" dirty="0"/>
          </a:p>
        </p:txBody>
      </p:sp>
      <p:sp>
        <p:nvSpPr>
          <p:cNvPr id="8" name="Text 4"/>
          <p:cNvSpPr txBox="1"/>
          <p:nvPr/>
        </p:nvSpPr>
        <p:spPr>
          <a:xfrm>
            <a:off x="786384" y="5413248"/>
            <a:ext cx="5029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DB6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SCIENCE COMMITTEE IMPLEMENTATION MEETING</a:t>
            </a:r>
            <a:endParaRPr lang="en-US" sz="1000" dirty="0"/>
          </a:p>
        </p:txBody>
      </p:sp>
      <p:sp>
        <p:nvSpPr>
          <p:cNvPr id="9" name="Text 5"/>
          <p:cNvSpPr txBox="1"/>
          <p:nvPr/>
        </p:nvSpPr>
        <p:spPr>
          <a:xfrm>
            <a:off x="786384" y="5779008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Meeting date  ·  Location  ·  Presenter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8412480" y="6044184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BFD5D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CLEAR SPRINGS / TECHNICAL STEWARDSHIP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47472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D7F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 STEPS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94944"/>
            <a:ext cx="10515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3C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Supporting Measures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13232" y="1874520"/>
            <a:ext cx="3273552" cy="3639312"/>
          </a:xfrm>
          <a:prstGeom prst="roundRect">
            <a:avLst>
              <a:gd name="adj" fmla="val 2235"/>
            </a:avLst>
          </a:prstGeom>
          <a:solidFill>
            <a:srgbClr val="FFFFFF"/>
          </a:solidFill>
          <a:ln w="12700">
            <a:solidFill>
              <a:srgbClr val="D5CF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987552" y="218541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6374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MONITORING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987552" y="2542032"/>
            <a:ext cx="2697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B3C5D"/>
                </a:solidFill>
                <a:latin typeface="Aptos Display" pitchFamily="34" charset="0"/>
              </a:rPr>
              <a:t>Biological and Water Quality Monitoring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987552" y="3447288"/>
            <a:ext cx="2670048" cy="14813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>
              <a:buSzPct val="100000"/>
            </a:pP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98264" y="1874520"/>
            <a:ext cx="3273552" cy="3639312"/>
          </a:xfrm>
          <a:prstGeom prst="roundRect">
            <a:avLst>
              <a:gd name="adj" fmla="val 2235"/>
            </a:avLst>
          </a:prstGeom>
          <a:solidFill>
            <a:srgbClr val="DDECEF"/>
          </a:solidFill>
          <a:ln w="20320">
            <a:solidFill>
              <a:srgbClr val="6DB6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4672584" y="218541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2D7F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4672584" y="2542032"/>
            <a:ext cx="2697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B3C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Applied Research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4672584" y="3180523"/>
            <a:ext cx="2670048" cy="197192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43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San Marcos salamander monitoring protocol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43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CSRB genetics across droughts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43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Comal Springs dryopid monitoring protocol</a:t>
            </a:r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4343B"/>
                </a:solidFill>
                <a:latin typeface="Aptos" pitchFamily="34" charset="0"/>
              </a:rPr>
              <a:t>Data Management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083296" y="1874520"/>
            <a:ext cx="3273552" cy="3639312"/>
          </a:xfrm>
          <a:prstGeom prst="roundRect">
            <a:avLst>
              <a:gd name="adj" fmla="val 2235"/>
            </a:avLst>
          </a:prstGeom>
          <a:solidFill>
            <a:srgbClr val="FFFFFF"/>
          </a:solidFill>
          <a:ln w="12700">
            <a:solidFill>
              <a:srgbClr val="D5CF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8357616" y="218541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6374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REFUGIA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8357616" y="2542032"/>
            <a:ext cx="2697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B3C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Edwards Aquifer Refugia Program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8357616" y="3447288"/>
            <a:ext cx="2670048" cy="14813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>
              <a:buSzPct val="100000"/>
            </a:pP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13232" y="5751576"/>
            <a:ext cx="10652760" cy="329184"/>
          </a:xfrm>
          <a:prstGeom prst="roundRect">
            <a:avLst>
              <a:gd name="adj" fmla="val 11111"/>
            </a:avLst>
          </a:prstGeom>
          <a:solidFill>
            <a:srgbClr val="2D7F83"/>
          </a:solidFill>
          <a:ln w="12700">
            <a:solidFill>
              <a:srgbClr val="2D7F8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94360" y="6510528"/>
            <a:ext cx="11018520" cy="0"/>
          </a:xfrm>
          <a:prstGeom prst="line">
            <a:avLst/>
          </a:prstGeom>
          <a:noFill/>
          <a:ln w="7620">
            <a:solidFill>
              <a:srgbClr val="A69E8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621792" y="6556248"/>
            <a:ext cx="43891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6374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LOOKING FORWARD</a:t>
            </a:r>
            <a:endParaRPr lang="en-US" sz="850" dirty="0"/>
          </a:p>
        </p:txBody>
      </p:sp>
      <p:sp>
        <p:nvSpPr>
          <p:cNvPr id="21" name="Text 19"/>
          <p:cNvSpPr txBox="1"/>
          <p:nvPr/>
        </p:nvSpPr>
        <p:spPr>
          <a:xfrm>
            <a:off x="10972800" y="6537960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6374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47472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D7F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TO USE THIS DECK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94944"/>
            <a:ext cx="10515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3C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Template design system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426464"/>
            <a:ext cx="10424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50" dirty="0">
                <a:solidFill>
                  <a:srgbClr val="6374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this slide as a reference, then remove it from the final briefing.</a:t>
            </a:r>
            <a:endParaRPr lang="en-US" sz="145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93852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D7F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PALETTE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85800" y="2286000"/>
            <a:ext cx="1078992" cy="530352"/>
          </a:xfrm>
          <a:prstGeom prst="roundRect">
            <a:avLst>
              <a:gd name="adj" fmla="val 8621"/>
            </a:avLst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685800" y="2889504"/>
            <a:ext cx="1078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6374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AQUIFER</a:t>
            </a:r>
            <a:endParaRPr lang="en-US" sz="75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3099816"/>
            <a:ext cx="10789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6374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#0B3C5D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1984248" y="2286000"/>
            <a:ext cx="1078992" cy="530352"/>
          </a:xfrm>
          <a:prstGeom prst="roundRect">
            <a:avLst>
              <a:gd name="adj" fmla="val 8621"/>
            </a:avLst>
          </a:prstGeom>
          <a:solidFill>
            <a:srgbClr val="2D7F83"/>
          </a:solidFill>
          <a:ln w="12700">
            <a:solidFill>
              <a:srgbClr val="2D7F8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1984248" y="2889504"/>
            <a:ext cx="1078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6374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SPRING</a:t>
            </a:r>
            <a:endParaRPr lang="en-US" sz="750" dirty="0"/>
          </a:p>
        </p:txBody>
      </p:sp>
      <p:sp>
        <p:nvSpPr>
          <p:cNvPr id="11" name="Text 9"/>
          <p:cNvSpPr txBox="1"/>
          <p:nvPr/>
        </p:nvSpPr>
        <p:spPr>
          <a:xfrm>
            <a:off x="1984248" y="3099816"/>
            <a:ext cx="10789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6374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#2D7F83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3282696" y="2286000"/>
            <a:ext cx="1078992" cy="530352"/>
          </a:xfrm>
          <a:prstGeom prst="roundRect">
            <a:avLst>
              <a:gd name="adj" fmla="val 8621"/>
            </a:avLst>
          </a:prstGeom>
          <a:solidFill>
            <a:srgbClr val="6DB6C4"/>
          </a:solidFill>
          <a:ln w="12700">
            <a:solidFill>
              <a:srgbClr val="6DB6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3282696" y="2889504"/>
            <a:ext cx="1078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6374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FLOW</a:t>
            </a:r>
            <a:endParaRPr lang="en-US" sz="750" dirty="0"/>
          </a:p>
        </p:txBody>
      </p:sp>
      <p:sp>
        <p:nvSpPr>
          <p:cNvPr id="14" name="Text 12"/>
          <p:cNvSpPr txBox="1"/>
          <p:nvPr/>
        </p:nvSpPr>
        <p:spPr>
          <a:xfrm>
            <a:off x="3282696" y="3099816"/>
            <a:ext cx="10789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6374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#6DB6C4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4581144" y="2286000"/>
            <a:ext cx="1078992" cy="530352"/>
          </a:xfrm>
          <a:prstGeom prst="roundRect">
            <a:avLst>
              <a:gd name="adj" fmla="val 8621"/>
            </a:avLst>
          </a:prstGeom>
          <a:solidFill>
            <a:srgbClr val="5F7D68"/>
          </a:solidFill>
          <a:ln w="12700">
            <a:solidFill>
              <a:srgbClr val="5F7D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4581144" y="2889504"/>
            <a:ext cx="1078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6374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CYPRESS</a:t>
            </a:r>
            <a:endParaRPr lang="en-US" sz="750" dirty="0"/>
          </a:p>
        </p:txBody>
      </p:sp>
      <p:sp>
        <p:nvSpPr>
          <p:cNvPr id="17" name="Text 15"/>
          <p:cNvSpPr txBox="1"/>
          <p:nvPr/>
        </p:nvSpPr>
        <p:spPr>
          <a:xfrm>
            <a:off x="4581144" y="3099816"/>
            <a:ext cx="10789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6374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#5F7D68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5879592" y="2286000"/>
            <a:ext cx="1078992" cy="530352"/>
          </a:xfrm>
          <a:prstGeom prst="roundRect">
            <a:avLst>
              <a:gd name="adj" fmla="val 8621"/>
            </a:avLst>
          </a:prstGeom>
          <a:solidFill>
            <a:srgbClr val="D5CFC2"/>
          </a:solidFill>
          <a:ln w="12700">
            <a:solidFill>
              <a:srgbClr val="D5CF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5879592" y="2889504"/>
            <a:ext cx="1078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6374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LIMESTONE</a:t>
            </a:r>
            <a:endParaRPr lang="en-US" sz="750" dirty="0"/>
          </a:p>
        </p:txBody>
      </p:sp>
      <p:sp>
        <p:nvSpPr>
          <p:cNvPr id="20" name="Text 18"/>
          <p:cNvSpPr txBox="1"/>
          <p:nvPr/>
        </p:nvSpPr>
        <p:spPr>
          <a:xfrm>
            <a:off x="5879592" y="3099816"/>
            <a:ext cx="10789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6374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#D5CFC2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7178040" y="2286000"/>
            <a:ext cx="1078992" cy="530352"/>
          </a:xfrm>
          <a:prstGeom prst="roundRect">
            <a:avLst>
              <a:gd name="adj" fmla="val 8621"/>
            </a:avLst>
          </a:prstGeom>
          <a:solidFill>
            <a:srgbClr val="C65D4A"/>
          </a:solidFill>
          <a:ln w="12700">
            <a:solidFill>
              <a:srgbClr val="C65D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7178040" y="2889504"/>
            <a:ext cx="1078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6374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ALERT</a:t>
            </a:r>
            <a:endParaRPr lang="en-US" sz="750" dirty="0"/>
          </a:p>
        </p:txBody>
      </p:sp>
      <p:sp>
        <p:nvSpPr>
          <p:cNvPr id="23" name="Text 21"/>
          <p:cNvSpPr txBox="1"/>
          <p:nvPr/>
        </p:nvSpPr>
        <p:spPr>
          <a:xfrm>
            <a:off x="7178040" y="3099816"/>
            <a:ext cx="10789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6374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#C65D4A</a:t>
            </a:r>
            <a:endParaRPr lang="en-US" sz="750" dirty="0"/>
          </a:p>
        </p:txBody>
      </p:sp>
      <p:sp>
        <p:nvSpPr>
          <p:cNvPr id="24" name="Text 22"/>
          <p:cNvSpPr txBox="1"/>
          <p:nvPr/>
        </p:nvSpPr>
        <p:spPr>
          <a:xfrm>
            <a:off x="8641080" y="193852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D7F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TYPE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8641080" y="2267712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B3C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Aptos Display</a:t>
            </a:r>
            <a:endParaRPr lang="en-US" sz="2500" dirty="0"/>
          </a:p>
        </p:txBody>
      </p:sp>
      <p:sp>
        <p:nvSpPr>
          <p:cNvPr id="26" name="Text 24"/>
          <p:cNvSpPr txBox="1"/>
          <p:nvPr/>
        </p:nvSpPr>
        <p:spPr>
          <a:xfrm>
            <a:off x="8641080" y="2706624"/>
            <a:ext cx="25603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6374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Scientific headings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8641080" y="3072384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243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Aptos supports compact technical prose, tables, captions, and annotation.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85800" y="3886200"/>
            <a:ext cx="516636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12700">
            <a:solidFill>
              <a:srgbClr val="D5CF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 txBox="1"/>
          <p:nvPr/>
        </p:nvSpPr>
        <p:spPr>
          <a:xfrm>
            <a:off x="950976" y="416052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D7F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RULE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950976" y="4489704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B3C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One scientific message per slide.</a:t>
            </a:r>
            <a:endParaRPr lang="en-US" sz="2200" dirty="0"/>
          </a:p>
        </p:txBody>
      </p:sp>
      <p:sp>
        <p:nvSpPr>
          <p:cNvPr id="31" name="Text 29"/>
          <p:cNvSpPr txBox="1"/>
          <p:nvPr/>
        </p:nvSpPr>
        <p:spPr>
          <a:xfrm>
            <a:off x="950976" y="4919472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6374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the headline to state the finding—not merely name the topic.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6108192" y="3886200"/>
            <a:ext cx="5166360" cy="1572768"/>
          </a:xfrm>
          <a:prstGeom prst="roundRect">
            <a:avLst>
              <a:gd name="adj" fmla="val 3488"/>
            </a:avLst>
          </a:prstGeom>
          <a:solidFill>
            <a:srgbClr val="DDECEF"/>
          </a:solidFill>
          <a:ln w="12700">
            <a:solidFill>
              <a:srgbClr val="DDEC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 txBox="1"/>
          <p:nvPr/>
        </p:nvSpPr>
        <p:spPr>
          <a:xfrm>
            <a:off x="6373368" y="416052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D7F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FIGURE RULE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6373368" y="4489704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B3C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Direct attention with one accent.</a:t>
            </a:r>
            <a:endParaRPr lang="en-US" sz="2200" dirty="0"/>
          </a:p>
        </p:txBody>
      </p:sp>
      <p:sp>
        <p:nvSpPr>
          <p:cNvPr id="35" name="Text 33"/>
          <p:cNvSpPr txBox="1"/>
          <p:nvPr/>
        </p:nvSpPr>
        <p:spPr>
          <a:xfrm>
            <a:off x="6373368" y="4919472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6374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Most data stay aquifer blue or gray; coral marks thresholds, exceptions, or decisions.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594360" y="6510528"/>
            <a:ext cx="11018520" cy="0"/>
          </a:xfrm>
          <a:prstGeom prst="line">
            <a:avLst/>
          </a:prstGeom>
          <a:noFill/>
          <a:ln w="7620">
            <a:solidFill>
              <a:srgbClr val="A69E8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 txBox="1"/>
          <p:nvPr/>
        </p:nvSpPr>
        <p:spPr>
          <a:xfrm>
            <a:off x="621792" y="6556248"/>
            <a:ext cx="43891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6374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TEMPLATE GUIDANCE</a:t>
            </a:r>
            <a:endParaRPr lang="en-US" sz="850" dirty="0"/>
          </a:p>
        </p:txBody>
      </p:sp>
      <p:sp>
        <p:nvSpPr>
          <p:cNvPr id="38" name="Text 36"/>
          <p:cNvSpPr txBox="1"/>
          <p:nvPr/>
        </p:nvSpPr>
        <p:spPr>
          <a:xfrm>
            <a:off x="10972800" y="6537960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6374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D7F8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3108960"/>
            <a:ext cx="12188952" cy="347472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>
            <a:alphaModFix amt="28000"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75120" y="-1097280"/>
            <a:ext cx="5852160" cy="585216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749808" y="64008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CDE4E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749808" y="1234440"/>
            <a:ext cx="65836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Springflow</a:t>
            </a:r>
            <a:endParaRPr lang="en-US" sz="4000" dirty="0"/>
          </a:p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Protection</a:t>
            </a:r>
            <a:endParaRPr lang="en-US" sz="4000" dirty="0"/>
          </a:p>
        </p:txBody>
      </p:sp>
      <p:sp>
        <p:nvSpPr>
          <p:cNvPr id="6" name="Text 2"/>
          <p:cNvSpPr txBox="1"/>
          <p:nvPr/>
        </p:nvSpPr>
        <p:spPr>
          <a:xfrm>
            <a:off x="777240" y="2852928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E5F0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Section subtitle or implementation question</a:t>
            </a:r>
            <a:endParaRPr lang="en-US" sz="1600" dirty="0"/>
          </a:p>
        </p:txBody>
      </p:sp>
      <p:sp>
        <p:nvSpPr>
          <p:cNvPr id="7" name="Text 3"/>
          <p:cNvSpPr txBox="1"/>
          <p:nvPr/>
        </p:nvSpPr>
        <p:spPr>
          <a:xfrm>
            <a:off x="777240" y="5330952"/>
            <a:ext cx="6035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section dividers to reset the room and establish the question the next slides will answer.</a:t>
            </a:r>
            <a:endParaRPr lang="en-US" sz="1350" dirty="0"/>
          </a:p>
        </p:txBody>
      </p:sp>
      <p:sp>
        <p:nvSpPr>
          <p:cNvPr id="8" name="Shape 4"/>
          <p:cNvSpPr/>
          <p:nvPr/>
        </p:nvSpPr>
        <p:spPr>
          <a:xfrm>
            <a:off x="594360" y="6510528"/>
            <a:ext cx="11018520" cy="0"/>
          </a:xfrm>
          <a:prstGeom prst="line">
            <a:avLst/>
          </a:prstGeom>
          <a:noFill/>
          <a:ln w="7620">
            <a:solidFill>
              <a:srgbClr val="5D7E8D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 txBox="1"/>
          <p:nvPr/>
        </p:nvSpPr>
        <p:spPr>
          <a:xfrm>
            <a:off x="621792" y="6556248"/>
            <a:ext cx="43891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DDE8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SECTION DIVIDER</a:t>
            </a:r>
            <a:endParaRPr lang="en-US" sz="850" dirty="0"/>
          </a:p>
        </p:txBody>
      </p:sp>
      <p:sp>
        <p:nvSpPr>
          <p:cNvPr id="10" name="Text 6"/>
          <p:cNvSpPr txBox="1"/>
          <p:nvPr/>
        </p:nvSpPr>
        <p:spPr>
          <a:xfrm>
            <a:off x="10972800" y="6537960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DDE8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47472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D7F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MESSAGE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94944"/>
            <a:ext cx="10515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3C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Springflow protection is an operating system—not a single measure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426464"/>
            <a:ext cx="10424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50" dirty="0">
                <a:solidFill>
                  <a:srgbClr val="6374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a declarative headline to frame the evidence on the slide.</a:t>
            </a:r>
            <a:endParaRPr lang="en-US" sz="1450" dirty="0"/>
          </a:p>
        </p:txBody>
      </p:sp>
      <p:sp>
        <p:nvSpPr>
          <p:cNvPr id="5" name="Text 3"/>
          <p:cNvSpPr txBox="1"/>
          <p:nvPr/>
        </p:nvSpPr>
        <p:spPr>
          <a:xfrm>
            <a:off x="713232" y="187452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2D7F8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713232" y="2478024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3C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CONNECTED FUNCTIONS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713232" y="278892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6374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Hydrologic monitoring, implementation actions, and biological outcomes should read as one connected story.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977640" y="1874520"/>
            <a:ext cx="7498080" cy="361188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D5CF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4215384" y="2048256"/>
            <a:ext cx="70225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B3C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FIGURE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215384" y="2304288"/>
            <a:ext cx="7022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6374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Drop in the primary plot, map, or monitoring result supporting the headline.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416552" y="2743200"/>
            <a:ext cx="6784848" cy="0"/>
          </a:xfrm>
          <a:prstGeom prst="line">
            <a:avLst/>
          </a:prstGeom>
          <a:noFill/>
          <a:ln w="6350">
            <a:solidFill>
              <a:srgbClr val="D8DEDD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416552" y="3344418"/>
            <a:ext cx="6784848" cy="0"/>
          </a:xfrm>
          <a:prstGeom prst="line">
            <a:avLst/>
          </a:prstGeom>
          <a:noFill/>
          <a:ln w="6350">
            <a:solidFill>
              <a:srgbClr val="D8DEDD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416552" y="3945636"/>
            <a:ext cx="6784848" cy="0"/>
          </a:xfrm>
          <a:prstGeom prst="line">
            <a:avLst/>
          </a:prstGeom>
          <a:noFill/>
          <a:ln w="6350">
            <a:solidFill>
              <a:srgbClr val="D8DEDD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416552" y="4546854"/>
            <a:ext cx="6784848" cy="0"/>
          </a:xfrm>
          <a:prstGeom prst="line">
            <a:avLst/>
          </a:prstGeom>
          <a:noFill/>
          <a:ln w="6350">
            <a:solidFill>
              <a:srgbClr val="D8DEDD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416552" y="5148072"/>
            <a:ext cx="6784848" cy="0"/>
          </a:xfrm>
          <a:prstGeom prst="line">
            <a:avLst/>
          </a:prstGeom>
          <a:noFill/>
          <a:ln w="6350">
            <a:solidFill>
              <a:srgbClr val="D8DEDD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416552" y="5148072"/>
            <a:ext cx="6784848" cy="0"/>
          </a:xfrm>
          <a:prstGeom prst="line">
            <a:avLst/>
          </a:prstGeom>
          <a:noFill/>
          <a:ln w="10160">
            <a:solidFill>
              <a:srgbClr val="6374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416552" y="2743200"/>
            <a:ext cx="0" cy="2404872"/>
          </a:xfrm>
          <a:prstGeom prst="line">
            <a:avLst/>
          </a:prstGeom>
          <a:noFill/>
          <a:ln w="10160">
            <a:solidFill>
              <a:srgbClr val="6374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6894576" y="5257800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6374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 / SITE / CATEGORY</a:t>
            </a:r>
            <a:endParaRPr lang="en-US" sz="750" dirty="0"/>
          </a:p>
        </p:txBody>
      </p:sp>
      <p:sp>
        <p:nvSpPr>
          <p:cNvPr id="19" name="Text 17"/>
          <p:cNvSpPr txBox="1"/>
          <p:nvPr/>
        </p:nvSpPr>
        <p:spPr>
          <a:xfrm>
            <a:off x="4023360" y="37810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6374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MEASURE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3977640" y="5650992"/>
            <a:ext cx="7498080" cy="493776"/>
          </a:xfrm>
          <a:prstGeom prst="roundRect">
            <a:avLst>
              <a:gd name="adj" fmla="val 7407"/>
            </a:avLst>
          </a:prstGeom>
          <a:solidFill>
            <a:srgbClr val="DDECEF"/>
          </a:solidFill>
          <a:ln w="12700">
            <a:solidFill>
              <a:srgbClr val="DDEC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4251960" y="5742432"/>
            <a:ext cx="69494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B3C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TAKEAWAY  ·  Explain what changed, why it matters, and what the program is doing about it.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94360" y="6510528"/>
            <a:ext cx="11018520" cy="0"/>
          </a:xfrm>
          <a:prstGeom prst="line">
            <a:avLst/>
          </a:prstGeom>
          <a:noFill/>
          <a:ln w="7620">
            <a:solidFill>
              <a:srgbClr val="A69E8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 txBox="1"/>
          <p:nvPr/>
        </p:nvSpPr>
        <p:spPr>
          <a:xfrm>
            <a:off x="621792" y="6556248"/>
            <a:ext cx="43891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6374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SPRINGFLOW PROTECTION</a:t>
            </a:r>
            <a:endParaRPr lang="en-US" sz="850" dirty="0"/>
          </a:p>
        </p:txBody>
      </p:sp>
      <p:sp>
        <p:nvSpPr>
          <p:cNvPr id="24" name="Text 22"/>
          <p:cNvSpPr txBox="1"/>
          <p:nvPr/>
        </p:nvSpPr>
        <p:spPr>
          <a:xfrm>
            <a:off x="10972800" y="6537960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6374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47472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D7F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HYDROLOGIC UPDATE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94944"/>
            <a:ext cx="10515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3C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Hydrologic conditions set the operating context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426464"/>
            <a:ext cx="10424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50" dirty="0">
                <a:solidFill>
                  <a:srgbClr val="6374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Lead with the condition, then connect it directly to implementation.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85800" y="1719072"/>
            <a:ext cx="7635240" cy="4343400"/>
          </a:xfrm>
          <a:prstGeom prst="roundRect">
            <a:avLst>
              <a:gd name="adj" fmla="val 1684"/>
            </a:avLst>
          </a:prstGeom>
          <a:solidFill>
            <a:srgbClr val="FFFFFF"/>
          </a:solidFill>
          <a:ln w="12700">
            <a:solidFill>
              <a:srgbClr val="D5CF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941832" y="1883664"/>
            <a:ext cx="7123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B3C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SPRINGFLOW THROUGH THE IMPLEMENTATION YEAR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941832" y="2130552"/>
            <a:ext cx="7123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6374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Illustrative styling: observed flow, threshold band, and implementation annotation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188720" y="2560320"/>
            <a:ext cx="6858000" cy="0"/>
          </a:xfrm>
          <a:prstGeom prst="line">
            <a:avLst/>
          </a:prstGeom>
          <a:noFill/>
          <a:ln w="6350">
            <a:solidFill>
              <a:srgbClr val="D8DE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188720" y="3337560"/>
            <a:ext cx="6858000" cy="0"/>
          </a:xfrm>
          <a:prstGeom prst="line">
            <a:avLst/>
          </a:prstGeom>
          <a:noFill/>
          <a:ln w="6350">
            <a:solidFill>
              <a:srgbClr val="D8DE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188720" y="4114800"/>
            <a:ext cx="6858000" cy="0"/>
          </a:xfrm>
          <a:prstGeom prst="line">
            <a:avLst/>
          </a:prstGeom>
          <a:noFill/>
          <a:ln w="6350">
            <a:solidFill>
              <a:srgbClr val="D8DE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188720" y="4892040"/>
            <a:ext cx="6858000" cy="0"/>
          </a:xfrm>
          <a:prstGeom prst="line">
            <a:avLst/>
          </a:prstGeom>
          <a:noFill/>
          <a:ln w="6350">
            <a:solidFill>
              <a:srgbClr val="D8DE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188720" y="5669280"/>
            <a:ext cx="6858000" cy="0"/>
          </a:xfrm>
          <a:prstGeom prst="line">
            <a:avLst/>
          </a:prstGeom>
          <a:noFill/>
          <a:ln w="6350">
            <a:solidFill>
              <a:srgbClr val="D8DE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1188720" y="4332427"/>
            <a:ext cx="6858000" cy="559613"/>
          </a:xfrm>
          <a:prstGeom prst="rect">
            <a:avLst/>
          </a:prstGeom>
          <a:solidFill>
            <a:srgbClr val="F2E1DC">
              <a:alpha val="82000"/>
            </a:srgbClr>
          </a:solidFill>
          <a:ln w="12700">
            <a:solidFill>
              <a:srgbClr val="F2E1D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1261872" y="4394606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C65D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IMPLEMENTATION RANGE</a:t>
            </a:r>
            <a:endParaRPr lang="en-US" sz="720" dirty="0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88720" y="2560320"/>
            <a:ext cx="6858000" cy="3108960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1188720" y="5669280"/>
            <a:ext cx="6858000" cy="0"/>
          </a:xfrm>
          <a:prstGeom prst="line">
            <a:avLst/>
          </a:prstGeom>
          <a:noFill/>
          <a:ln w="10160">
            <a:solidFill>
              <a:srgbClr val="6374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1188720" y="2560320"/>
            <a:ext cx="0" cy="3108960"/>
          </a:xfrm>
          <a:prstGeom prst="line">
            <a:avLst/>
          </a:prstGeom>
          <a:noFill/>
          <a:ln w="10160">
            <a:solidFill>
              <a:srgbClr val="6374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 txBox="1"/>
          <p:nvPr/>
        </p:nvSpPr>
        <p:spPr>
          <a:xfrm>
            <a:off x="1188720" y="5742432"/>
            <a:ext cx="548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6374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JAN</a:t>
            </a:r>
            <a:endParaRPr lang="en-US" sz="700" dirty="0"/>
          </a:p>
        </p:txBody>
      </p:sp>
      <p:sp>
        <p:nvSpPr>
          <p:cNvPr id="19" name="Text 16"/>
          <p:cNvSpPr txBox="1"/>
          <p:nvPr/>
        </p:nvSpPr>
        <p:spPr>
          <a:xfrm>
            <a:off x="7498080" y="5742432"/>
            <a:ext cx="548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700" dirty="0">
                <a:solidFill>
                  <a:srgbClr val="6374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</a:t>
            </a:r>
            <a:endParaRPr lang="en-US" sz="700" dirty="0"/>
          </a:p>
        </p:txBody>
      </p:sp>
      <p:sp>
        <p:nvSpPr>
          <p:cNvPr id="20" name="Shape 17"/>
          <p:cNvSpPr/>
          <p:nvPr/>
        </p:nvSpPr>
        <p:spPr>
          <a:xfrm>
            <a:off x="8558784" y="1719072"/>
            <a:ext cx="2944368" cy="4343400"/>
          </a:xfrm>
          <a:prstGeom prst="roundRect">
            <a:avLst>
              <a:gd name="adj" fmla="val 2484"/>
            </a:avLst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 txBox="1"/>
          <p:nvPr/>
        </p:nvSpPr>
        <p:spPr>
          <a:xfrm>
            <a:off x="8869680" y="205740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6DB6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8869680" y="239572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Current condition</a:t>
            </a:r>
            <a:endParaRPr lang="en-US" sz="2200" dirty="0"/>
          </a:p>
        </p:txBody>
      </p:sp>
      <p:sp>
        <p:nvSpPr>
          <p:cNvPr id="23" name="Text 20"/>
          <p:cNvSpPr txBox="1"/>
          <p:nvPr/>
        </p:nvSpPr>
        <p:spPr>
          <a:xfrm>
            <a:off x="8869680" y="2843784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DDE8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Replace with the springflow percentile, trend, or operational category most relevant to the meeting.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8869680" y="4041648"/>
            <a:ext cx="2011680" cy="0"/>
          </a:xfrm>
          <a:prstGeom prst="line">
            <a:avLst/>
          </a:prstGeom>
          <a:noFill/>
          <a:ln w="12700">
            <a:solidFill>
              <a:srgbClr val="547C8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 txBox="1"/>
          <p:nvPr/>
        </p:nvSpPr>
        <p:spPr>
          <a:xfrm>
            <a:off x="8869680" y="429768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6DB6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IMPLEMENTATION LINK</a:t>
            </a:r>
            <a:endParaRPr lang="en-US" sz="950" dirty="0"/>
          </a:p>
        </p:txBody>
      </p:sp>
      <p:sp>
        <p:nvSpPr>
          <p:cNvPr id="26" name="Text 23"/>
          <p:cNvSpPr txBox="1"/>
          <p:nvPr/>
        </p:nvSpPr>
        <p:spPr>
          <a:xfrm>
            <a:off x="8869680" y="4626864"/>
            <a:ext cx="2148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State the specific program implication in one or two sentences.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8869680" y="5559552"/>
            <a:ext cx="941832" cy="283464"/>
          </a:xfrm>
          <a:prstGeom prst="roundRect">
            <a:avLst>
              <a:gd name="adj" fmla="val 25806"/>
            </a:avLst>
          </a:prstGeom>
          <a:solidFill>
            <a:srgbClr val="2D7F83"/>
          </a:solidFill>
          <a:ln w="12700">
            <a:solidFill>
              <a:srgbClr val="2D7F8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 txBox="1"/>
          <p:nvPr/>
        </p:nvSpPr>
        <p:spPr>
          <a:xfrm>
            <a:off x="8961120" y="5568696"/>
            <a:ext cx="7589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OBSERVED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9902952" y="5559552"/>
            <a:ext cx="1078992" cy="283464"/>
          </a:xfrm>
          <a:prstGeom prst="roundRect">
            <a:avLst>
              <a:gd name="adj" fmla="val 25806"/>
            </a:avLst>
          </a:prstGeom>
          <a:solidFill>
            <a:srgbClr val="C65D4A"/>
          </a:solidFill>
          <a:ln w="12700">
            <a:solidFill>
              <a:srgbClr val="C65D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 txBox="1"/>
          <p:nvPr/>
        </p:nvSpPr>
        <p:spPr>
          <a:xfrm>
            <a:off x="9994392" y="5568696"/>
            <a:ext cx="8961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THRESHOLD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594360" y="6510528"/>
            <a:ext cx="11018520" cy="0"/>
          </a:xfrm>
          <a:prstGeom prst="line">
            <a:avLst/>
          </a:prstGeom>
          <a:noFill/>
          <a:ln w="7620">
            <a:solidFill>
              <a:srgbClr val="A69E8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 txBox="1"/>
          <p:nvPr/>
        </p:nvSpPr>
        <p:spPr>
          <a:xfrm>
            <a:off x="621792" y="6556248"/>
            <a:ext cx="43891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6374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HYDROLOGIC UPDATE</a:t>
            </a:r>
            <a:endParaRPr lang="en-US" sz="850" dirty="0"/>
          </a:p>
        </p:txBody>
      </p:sp>
      <p:sp>
        <p:nvSpPr>
          <p:cNvPr id="33" name="Text 30"/>
          <p:cNvSpPr txBox="1"/>
          <p:nvPr/>
        </p:nvSpPr>
        <p:spPr>
          <a:xfrm>
            <a:off x="10972800" y="6537960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6374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47472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D7F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 STATUS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94944"/>
            <a:ext cx="10515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3C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Program components are best reviewed by purpose and status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426464"/>
            <a:ext cx="10424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50" dirty="0">
                <a:solidFill>
                  <a:srgbClr val="6374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format works for ASR, VISPO, irrigation suspension, regional conservation, or other measures.</a:t>
            </a:r>
            <a:endParaRPr lang="en-US" sz="1450" dirty="0"/>
          </a:p>
        </p:txBody>
      </p:sp>
      <p:sp>
        <p:nvSpPr>
          <p:cNvPr id="5" name="Text 3"/>
          <p:cNvSpPr txBox="1"/>
          <p:nvPr/>
        </p:nvSpPr>
        <p:spPr>
          <a:xfrm>
            <a:off x="713232" y="1783080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2D7F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COMPONENT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4078224" y="178308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2D7F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ROLE IN SPRINGFLOW PROTECTION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9857232" y="178308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D7F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STATUS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3232" y="2688336"/>
            <a:ext cx="10744200" cy="0"/>
          </a:xfrm>
          <a:prstGeom prst="line">
            <a:avLst/>
          </a:prstGeom>
          <a:noFill/>
          <a:ln w="8890">
            <a:solidFill>
              <a:srgbClr val="D5CF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713232" y="2139696"/>
            <a:ext cx="32232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B3C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 component A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043934" y="2139696"/>
            <a:ext cx="52646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243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Describe the mechanism and the operational value it provides.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523476" y="2258568"/>
            <a:ext cx="1719072" cy="283464"/>
          </a:xfrm>
          <a:prstGeom prst="roundRect">
            <a:avLst>
              <a:gd name="adj" fmla="val 25806"/>
            </a:avLst>
          </a:prstGeom>
          <a:solidFill>
            <a:srgbClr val="E5ECE6"/>
          </a:solidFill>
          <a:ln w="12700">
            <a:solidFill>
              <a:srgbClr val="E5EC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9614916" y="2267712"/>
            <a:ext cx="15361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43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 TRACK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713232" y="3383280"/>
            <a:ext cx="10744200" cy="0"/>
          </a:xfrm>
          <a:prstGeom prst="line">
            <a:avLst/>
          </a:prstGeom>
          <a:noFill/>
          <a:ln w="8890">
            <a:solidFill>
              <a:srgbClr val="D5CF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713232" y="2834640"/>
            <a:ext cx="32232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B3C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 component B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043934" y="2834640"/>
            <a:ext cx="52646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243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Describe the mechanism and the operational value it provides.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523476" y="2953512"/>
            <a:ext cx="1719072" cy="283464"/>
          </a:xfrm>
          <a:prstGeom prst="roundRect">
            <a:avLst>
              <a:gd name="adj" fmla="val 25806"/>
            </a:avLst>
          </a:prstGeom>
          <a:solidFill>
            <a:srgbClr val="F2E1DC"/>
          </a:solidFill>
          <a:ln w="12700">
            <a:solidFill>
              <a:srgbClr val="F2E1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9614916" y="2962656"/>
            <a:ext cx="15361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43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WATCH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713232" y="4078224"/>
            <a:ext cx="10744200" cy="0"/>
          </a:xfrm>
          <a:prstGeom prst="line">
            <a:avLst/>
          </a:prstGeom>
          <a:noFill/>
          <a:ln w="8890">
            <a:solidFill>
              <a:srgbClr val="D5CF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713232" y="3529584"/>
            <a:ext cx="32232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B3C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 component C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4043934" y="3529584"/>
            <a:ext cx="52646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243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Describe the mechanism and the operational value it provides.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523476" y="3648456"/>
            <a:ext cx="1719072" cy="283464"/>
          </a:xfrm>
          <a:prstGeom prst="roundRect">
            <a:avLst>
              <a:gd name="adj" fmla="val 25806"/>
            </a:avLst>
          </a:prstGeom>
          <a:solidFill>
            <a:srgbClr val="DDECEF"/>
          </a:solidFill>
          <a:ln w="12700">
            <a:solidFill>
              <a:srgbClr val="DDEC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9614916" y="3657600"/>
            <a:ext cx="15361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43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ACTIVE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713232" y="4773168"/>
            <a:ext cx="10744200" cy="0"/>
          </a:xfrm>
          <a:prstGeom prst="line">
            <a:avLst/>
          </a:prstGeom>
          <a:noFill/>
          <a:ln w="8890">
            <a:solidFill>
              <a:srgbClr val="D5CF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 txBox="1"/>
          <p:nvPr/>
        </p:nvSpPr>
        <p:spPr>
          <a:xfrm>
            <a:off x="713232" y="4224528"/>
            <a:ext cx="32232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B3C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 component D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4043934" y="4224528"/>
            <a:ext cx="52646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243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Describe the mechanism and the operational value it provides.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9523476" y="4343400"/>
            <a:ext cx="1719072" cy="283464"/>
          </a:xfrm>
          <a:prstGeom prst="roundRect">
            <a:avLst>
              <a:gd name="adj" fmla="val 25806"/>
            </a:avLst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 txBox="1"/>
          <p:nvPr/>
        </p:nvSpPr>
        <p:spPr>
          <a:xfrm>
            <a:off x="9614916" y="4352544"/>
            <a:ext cx="15361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COMPLETE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713232" y="5138928"/>
            <a:ext cx="10744200" cy="768096"/>
          </a:xfrm>
          <a:prstGeom prst="roundRect">
            <a:avLst>
              <a:gd name="adj" fmla="val 5952"/>
            </a:avLst>
          </a:prstGeom>
          <a:solidFill>
            <a:srgbClr val="EEEAE2"/>
          </a:solidFill>
          <a:ln w="12700">
            <a:solidFill>
              <a:srgbClr val="EEEA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 txBox="1"/>
          <p:nvPr/>
        </p:nvSpPr>
        <p:spPr>
          <a:xfrm>
            <a:off x="950976" y="536752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2D7F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DISCUSSION PROMPT</a:t>
            </a:r>
            <a:endParaRPr lang="en-US" sz="950" dirty="0"/>
          </a:p>
        </p:txBody>
      </p:sp>
      <p:sp>
        <p:nvSpPr>
          <p:cNvPr id="30" name="Text 28"/>
          <p:cNvSpPr txBox="1"/>
          <p:nvPr/>
        </p:nvSpPr>
        <p:spPr>
          <a:xfrm>
            <a:off x="2523744" y="5257800"/>
            <a:ext cx="8549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B3C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Where is implementation functioning as designed, and where does the committee need additional evidence or context?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594360" y="6510528"/>
            <a:ext cx="11018520" cy="0"/>
          </a:xfrm>
          <a:prstGeom prst="line">
            <a:avLst/>
          </a:prstGeom>
          <a:noFill/>
          <a:ln w="7620">
            <a:solidFill>
              <a:srgbClr val="A69E8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 txBox="1"/>
          <p:nvPr/>
        </p:nvSpPr>
        <p:spPr>
          <a:xfrm>
            <a:off x="621792" y="6556248"/>
            <a:ext cx="43891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6374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 STATUS</a:t>
            </a:r>
            <a:endParaRPr lang="en-US" sz="850" dirty="0"/>
          </a:p>
        </p:txBody>
      </p:sp>
      <p:sp>
        <p:nvSpPr>
          <p:cNvPr id="33" name="Text 31"/>
          <p:cNvSpPr txBox="1"/>
          <p:nvPr/>
        </p:nvSpPr>
        <p:spPr>
          <a:xfrm>
            <a:off x="10972800" y="6537960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6374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47472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D7F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MAP + EVIDENCE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94944"/>
            <a:ext cx="10515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3C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Place-based evidence keeps the program grounded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426464"/>
            <a:ext cx="10424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50" dirty="0">
                <a:solidFill>
                  <a:srgbClr val="6374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this layout for wells, service areas, springs, reaches, refugia, or implementation geography.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85800" y="1673352"/>
            <a:ext cx="7516368" cy="4462272"/>
          </a:xfrm>
          <a:prstGeom prst="roundRect">
            <a:avLst>
              <a:gd name="adj" fmla="val 1639"/>
            </a:avLst>
          </a:prstGeom>
          <a:solidFill>
            <a:srgbClr val="E8ECEA"/>
          </a:solidFill>
          <a:ln w="12700">
            <a:solidFill>
              <a:srgbClr val="D5CF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alphaModFix amt="60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69264" y="1938528"/>
            <a:ext cx="6931152" cy="381304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 rot="480000">
            <a:off x="1965960" y="2779776"/>
            <a:ext cx="4434840" cy="1965960"/>
          </a:xfrm>
          <a:prstGeom prst="arc">
            <a:avLst/>
          </a:prstGeom>
          <a:solidFill>
            <a:srgbClr val="E8ECEA">
              <a:alpha val="0"/>
            </a:srgbClr>
          </a:solidFill>
          <a:ln w="63500">
            <a:solidFill>
              <a:srgbClr val="2D7F8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2880360" y="2971800"/>
            <a:ext cx="182880" cy="182880"/>
          </a:xfrm>
          <a:prstGeom prst="ellipse">
            <a:avLst/>
          </a:prstGeom>
          <a:solidFill>
            <a:srgbClr val="0B3C5D"/>
          </a:solidFill>
          <a:ln w="1524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4773168" y="3694176"/>
            <a:ext cx="182880" cy="182880"/>
          </a:xfrm>
          <a:prstGeom prst="ellipse">
            <a:avLst/>
          </a:prstGeom>
          <a:solidFill>
            <a:srgbClr val="C65D4A"/>
          </a:solidFill>
          <a:ln w="1524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6199632" y="3081528"/>
            <a:ext cx="182880" cy="182880"/>
          </a:xfrm>
          <a:prstGeom prst="ellipse">
            <a:avLst/>
          </a:prstGeom>
          <a:solidFill>
            <a:srgbClr val="0B3C5D"/>
          </a:solidFill>
          <a:ln w="1524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987552" y="5632704"/>
            <a:ext cx="1399032" cy="283464"/>
          </a:xfrm>
          <a:prstGeom prst="roundRect">
            <a:avLst>
              <a:gd name="adj" fmla="val 25806"/>
            </a:avLst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 txBox="1"/>
          <p:nvPr/>
        </p:nvSpPr>
        <p:spPr>
          <a:xfrm>
            <a:off x="1078992" y="5641848"/>
            <a:ext cx="12161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MAP / GIS FIGURE</a:t>
            </a:r>
            <a:endParaRPr lang="en-US" sz="950" dirty="0"/>
          </a:p>
        </p:txBody>
      </p:sp>
      <p:sp>
        <p:nvSpPr>
          <p:cNvPr id="13" name="Text 10"/>
          <p:cNvSpPr txBox="1"/>
          <p:nvPr/>
        </p:nvSpPr>
        <p:spPr>
          <a:xfrm>
            <a:off x="2532888" y="5632704"/>
            <a:ext cx="5257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6374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Replace this placeholder with an exported map. Preserve generous margins and keep legends compact.</a:t>
            </a: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8549640" y="184708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2D7F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THE MAP SHOWS</a:t>
            </a:r>
            <a:endParaRPr lang="en-US" sz="950" dirty="0"/>
          </a:p>
        </p:txBody>
      </p:sp>
      <p:sp>
        <p:nvSpPr>
          <p:cNvPr id="15" name="Text 12"/>
          <p:cNvSpPr txBox="1"/>
          <p:nvPr/>
        </p:nvSpPr>
        <p:spPr>
          <a:xfrm>
            <a:off x="8549640" y="22219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B3C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lang="en-US" sz="2400" dirty="0"/>
          </a:p>
        </p:txBody>
      </p:sp>
      <p:sp>
        <p:nvSpPr>
          <p:cNvPr id="16" name="Text 13"/>
          <p:cNvSpPr txBox="1"/>
          <p:nvPr/>
        </p:nvSpPr>
        <p:spPr>
          <a:xfrm>
            <a:off x="9052560" y="221284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B3C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Location-specific finding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9052560" y="2587752"/>
            <a:ext cx="20116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374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sentence interpreting the first feature or spatial pattern.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8549640" y="34472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B3C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endParaRPr lang="en-US" sz="2400" dirty="0"/>
          </a:p>
        </p:txBody>
      </p:sp>
      <p:sp>
        <p:nvSpPr>
          <p:cNvPr id="19" name="Text 16"/>
          <p:cNvSpPr txBox="1"/>
          <p:nvPr/>
        </p:nvSpPr>
        <p:spPr>
          <a:xfrm>
            <a:off x="9052560" y="3438144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B3C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Implementation connection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9052560" y="3813048"/>
            <a:ext cx="20116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374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sentence connecting geography to program operations or risk.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8549640" y="467258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C65D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lang="en-US" sz="2400" dirty="0"/>
          </a:p>
        </p:txBody>
      </p:sp>
      <p:sp>
        <p:nvSpPr>
          <p:cNvPr id="22" name="Text 19"/>
          <p:cNvSpPr txBox="1"/>
          <p:nvPr/>
        </p:nvSpPr>
        <p:spPr>
          <a:xfrm>
            <a:off x="9052560" y="466344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B3C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Point requiring attention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9052560" y="5038344"/>
            <a:ext cx="2011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374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coral only for an exception, threshold, or discussion item.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594360" y="6510528"/>
            <a:ext cx="11018520" cy="0"/>
          </a:xfrm>
          <a:prstGeom prst="line">
            <a:avLst/>
          </a:prstGeom>
          <a:noFill/>
          <a:ln w="7620">
            <a:solidFill>
              <a:srgbClr val="A69E8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 txBox="1"/>
          <p:nvPr/>
        </p:nvSpPr>
        <p:spPr>
          <a:xfrm>
            <a:off x="621792" y="6556248"/>
            <a:ext cx="43891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6374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SPATIAL EVIDENCE</a:t>
            </a:r>
            <a:endParaRPr lang="en-US" sz="850" dirty="0"/>
          </a:p>
        </p:txBody>
      </p:sp>
      <p:sp>
        <p:nvSpPr>
          <p:cNvPr id="26" name="Text 23"/>
          <p:cNvSpPr txBox="1"/>
          <p:nvPr/>
        </p:nvSpPr>
        <p:spPr>
          <a:xfrm>
            <a:off x="10972800" y="6537960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6374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47472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D7F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IMPLEMENTATION PATHWAY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94944"/>
            <a:ext cx="10515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3C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Show how evidence becomes implementation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426464"/>
            <a:ext cx="10424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50" dirty="0">
                <a:solidFill>
                  <a:srgbClr val="6374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simple pathway clarifies triggers, responsibilities, and intended outcomes.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713232" y="2057400"/>
            <a:ext cx="2240280" cy="3017520"/>
          </a:xfrm>
          <a:prstGeom prst="roundRect">
            <a:avLst>
              <a:gd name="adj" fmla="val 3265"/>
            </a:avLst>
          </a:prstGeom>
          <a:solidFill>
            <a:srgbClr val="DDECEF"/>
          </a:solidFill>
          <a:ln w="12700">
            <a:solidFill>
              <a:srgbClr val="D5CF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941832" y="2359152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2D7F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OBSERVE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941832" y="2761488"/>
            <a:ext cx="6583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B3C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941832" y="3282696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B3C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Hydrologic signal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941832" y="4005072"/>
            <a:ext cx="1783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374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Monitoring, forecasts, and operational conditions.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072384" y="3172968"/>
            <a:ext cx="301752" cy="594360"/>
          </a:xfrm>
          <a:prstGeom prst="chevron">
            <a:avLst/>
          </a:prstGeom>
          <a:solidFill>
            <a:srgbClr val="6DB6C4"/>
          </a:solidFill>
          <a:ln w="12700">
            <a:solidFill>
              <a:srgbClr val="6DB6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547872" y="2057400"/>
            <a:ext cx="2240280" cy="3017520"/>
          </a:xfrm>
          <a:prstGeom prst="roundRect">
            <a:avLst>
              <a:gd name="adj" fmla="val 3265"/>
            </a:avLst>
          </a:prstGeom>
          <a:solidFill>
            <a:srgbClr val="E5ECE6"/>
          </a:solidFill>
          <a:ln w="12700">
            <a:solidFill>
              <a:srgbClr val="D5CF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3776472" y="2359152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2D7F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3776472" y="2761488"/>
            <a:ext cx="6583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B3C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3776472" y="3282696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B3C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Program determination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3776472" y="4005072"/>
            <a:ext cx="1783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374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Apply thresholds, rules, and professional judgment.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907024" y="3172968"/>
            <a:ext cx="301752" cy="594360"/>
          </a:xfrm>
          <a:prstGeom prst="chevron">
            <a:avLst/>
          </a:prstGeom>
          <a:solidFill>
            <a:srgbClr val="6DB6C4"/>
          </a:solidFill>
          <a:ln w="12700">
            <a:solidFill>
              <a:srgbClr val="6DB6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382512" y="2057400"/>
            <a:ext cx="2240280" cy="3017520"/>
          </a:xfrm>
          <a:prstGeom prst="roundRect">
            <a:avLst>
              <a:gd name="adj" fmla="val 3265"/>
            </a:avLst>
          </a:prstGeom>
          <a:solidFill>
            <a:srgbClr val="EEEAE2"/>
          </a:solidFill>
          <a:ln w="12700">
            <a:solidFill>
              <a:srgbClr val="D5CF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6611112" y="2359152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2D7F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6611112" y="2761488"/>
            <a:ext cx="6583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B3C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2400" dirty="0"/>
          </a:p>
        </p:txBody>
      </p:sp>
      <p:sp>
        <p:nvSpPr>
          <p:cNvPr id="20" name="Text 18"/>
          <p:cNvSpPr txBox="1"/>
          <p:nvPr/>
        </p:nvSpPr>
        <p:spPr>
          <a:xfrm>
            <a:off x="6611112" y="3282696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B3C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Implementation action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6611112" y="4005072"/>
            <a:ext cx="1783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374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Activate, sustain, adjust, or conclude the measure.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741664" y="3172968"/>
            <a:ext cx="301752" cy="594360"/>
          </a:xfrm>
          <a:prstGeom prst="chevron">
            <a:avLst/>
          </a:prstGeom>
          <a:solidFill>
            <a:srgbClr val="6DB6C4"/>
          </a:solidFill>
          <a:ln w="12700">
            <a:solidFill>
              <a:srgbClr val="6DB6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9217152" y="2057400"/>
            <a:ext cx="2240280" cy="3017520"/>
          </a:xfrm>
          <a:prstGeom prst="roundRect">
            <a:avLst>
              <a:gd name="adj" fmla="val 3265"/>
            </a:avLst>
          </a:prstGeom>
          <a:solidFill>
            <a:srgbClr val="F2E1DC"/>
          </a:solidFill>
          <a:ln w="12700">
            <a:solidFill>
              <a:srgbClr val="C65D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 txBox="1"/>
          <p:nvPr/>
        </p:nvSpPr>
        <p:spPr>
          <a:xfrm>
            <a:off x="9445752" y="2359152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C65D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EVALUATE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9445752" y="2761488"/>
            <a:ext cx="6583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B3C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04</a:t>
            </a:r>
            <a:endParaRPr lang="en-US" sz="2400" dirty="0"/>
          </a:p>
        </p:txBody>
      </p:sp>
      <p:sp>
        <p:nvSpPr>
          <p:cNvPr id="26" name="Text 24"/>
          <p:cNvSpPr txBox="1"/>
          <p:nvPr/>
        </p:nvSpPr>
        <p:spPr>
          <a:xfrm>
            <a:off x="9445752" y="3282696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B3C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Outcome and learning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9445752" y="4005072"/>
            <a:ext cx="1783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374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Assess hydrologic and biological response.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13232" y="5422392"/>
            <a:ext cx="10744200" cy="512064"/>
          </a:xfrm>
          <a:prstGeom prst="roundRect">
            <a:avLst>
              <a:gd name="adj" fmla="val 7143"/>
            </a:avLst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 txBox="1"/>
          <p:nvPr/>
        </p:nvSpPr>
        <p:spPr>
          <a:xfrm>
            <a:off x="969264" y="5522976"/>
            <a:ext cx="10241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QUESTION  ·  Is each handoff clear, documented, and supported by the right evidence?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594360" y="6510528"/>
            <a:ext cx="11018520" cy="0"/>
          </a:xfrm>
          <a:prstGeom prst="line">
            <a:avLst/>
          </a:prstGeom>
          <a:noFill/>
          <a:ln w="7620">
            <a:solidFill>
              <a:srgbClr val="A69E8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 txBox="1"/>
          <p:nvPr/>
        </p:nvSpPr>
        <p:spPr>
          <a:xfrm>
            <a:off x="621792" y="6556248"/>
            <a:ext cx="43891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6374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IMPLEMENTATION PATHWAY</a:t>
            </a:r>
            <a:endParaRPr lang="en-US" sz="850" dirty="0"/>
          </a:p>
        </p:txBody>
      </p:sp>
      <p:sp>
        <p:nvSpPr>
          <p:cNvPr id="32" name="Text 30"/>
          <p:cNvSpPr txBox="1"/>
          <p:nvPr/>
        </p:nvSpPr>
        <p:spPr>
          <a:xfrm>
            <a:off x="10972800" y="6537960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6374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47472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D7F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MONITORING FINDINGS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94944"/>
            <a:ext cx="10515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3C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Pair the condition with the response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426464"/>
            <a:ext cx="10424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50" dirty="0">
                <a:solidFill>
                  <a:srgbClr val="6374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aligned figures when the comparison—not either figure alone—is the message.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85800" y="1737360"/>
            <a:ext cx="5358384" cy="4187952"/>
          </a:xfrm>
          <a:prstGeom prst="roundRect">
            <a:avLst>
              <a:gd name="adj" fmla="val 1747"/>
            </a:avLst>
          </a:prstGeom>
          <a:solidFill>
            <a:srgbClr val="FFFFFF"/>
          </a:solidFill>
          <a:ln w="12700">
            <a:solidFill>
              <a:srgbClr val="D5CF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923544" y="1911096"/>
            <a:ext cx="48828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B3C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· HYDROLOGIC CONDITION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923544" y="2167128"/>
            <a:ext cx="4882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6374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Examples: springflow, index well, pumping, recharge, or climate signal.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124712" y="2606040"/>
            <a:ext cx="4645152" cy="0"/>
          </a:xfrm>
          <a:prstGeom prst="line">
            <a:avLst/>
          </a:prstGeom>
          <a:noFill/>
          <a:ln w="6350">
            <a:solidFill>
              <a:srgbClr val="D8DEDD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124712" y="3351276"/>
            <a:ext cx="4645152" cy="0"/>
          </a:xfrm>
          <a:prstGeom prst="line">
            <a:avLst/>
          </a:prstGeom>
          <a:noFill/>
          <a:ln w="6350">
            <a:solidFill>
              <a:srgbClr val="D8DEDD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124712" y="4096512"/>
            <a:ext cx="4645152" cy="0"/>
          </a:xfrm>
          <a:prstGeom prst="line">
            <a:avLst/>
          </a:prstGeom>
          <a:noFill/>
          <a:ln w="6350">
            <a:solidFill>
              <a:srgbClr val="D8DEDD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124712" y="4841748"/>
            <a:ext cx="4645152" cy="0"/>
          </a:xfrm>
          <a:prstGeom prst="line">
            <a:avLst/>
          </a:prstGeom>
          <a:noFill/>
          <a:ln w="6350">
            <a:solidFill>
              <a:srgbClr val="D8DEDD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124712" y="5586984"/>
            <a:ext cx="4645152" cy="0"/>
          </a:xfrm>
          <a:prstGeom prst="line">
            <a:avLst/>
          </a:prstGeom>
          <a:noFill/>
          <a:ln w="6350">
            <a:solidFill>
              <a:srgbClr val="D8DEDD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1124712" y="5586984"/>
            <a:ext cx="4645152" cy="0"/>
          </a:xfrm>
          <a:prstGeom prst="line">
            <a:avLst/>
          </a:prstGeom>
          <a:noFill/>
          <a:ln w="10160">
            <a:solidFill>
              <a:srgbClr val="6374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1124712" y="2606040"/>
            <a:ext cx="0" cy="2980944"/>
          </a:xfrm>
          <a:prstGeom prst="line">
            <a:avLst/>
          </a:prstGeom>
          <a:noFill/>
          <a:ln w="10160">
            <a:solidFill>
              <a:srgbClr val="6374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2532888" y="5696712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6374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 / SITE / CATEGORY</a:t>
            </a:r>
            <a:endParaRPr lang="en-US" sz="750" dirty="0"/>
          </a:p>
        </p:txBody>
      </p:sp>
      <p:sp>
        <p:nvSpPr>
          <p:cNvPr id="16" name="Text 14"/>
          <p:cNvSpPr txBox="1"/>
          <p:nvPr/>
        </p:nvSpPr>
        <p:spPr>
          <a:xfrm>
            <a:off x="731520" y="39319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6374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MEASURE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6153912" y="1737360"/>
            <a:ext cx="5358384" cy="4187952"/>
          </a:xfrm>
          <a:prstGeom prst="roundRect">
            <a:avLst>
              <a:gd name="adj" fmla="val 1747"/>
            </a:avLst>
          </a:prstGeom>
          <a:solidFill>
            <a:srgbClr val="FFFFFF"/>
          </a:solidFill>
          <a:ln w="12700">
            <a:solidFill>
              <a:srgbClr val="D5CF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6391656" y="1911096"/>
            <a:ext cx="48828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B3C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 · PROGRAM RESPONSE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6391656" y="2167128"/>
            <a:ext cx="4882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6374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Examples: volume conserved, action timing, participation, or biological indicator.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592824" y="2606040"/>
            <a:ext cx="4645152" cy="0"/>
          </a:xfrm>
          <a:prstGeom prst="line">
            <a:avLst/>
          </a:prstGeom>
          <a:noFill/>
          <a:ln w="6350">
            <a:solidFill>
              <a:srgbClr val="D8DEDD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592824" y="3351276"/>
            <a:ext cx="4645152" cy="0"/>
          </a:xfrm>
          <a:prstGeom prst="line">
            <a:avLst/>
          </a:prstGeom>
          <a:noFill/>
          <a:ln w="6350">
            <a:solidFill>
              <a:srgbClr val="D8DEDD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592824" y="4096512"/>
            <a:ext cx="4645152" cy="0"/>
          </a:xfrm>
          <a:prstGeom prst="line">
            <a:avLst/>
          </a:prstGeom>
          <a:noFill/>
          <a:ln w="6350">
            <a:solidFill>
              <a:srgbClr val="D8DEDD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592824" y="4841748"/>
            <a:ext cx="4645152" cy="0"/>
          </a:xfrm>
          <a:prstGeom prst="line">
            <a:avLst/>
          </a:prstGeom>
          <a:noFill/>
          <a:ln w="6350">
            <a:solidFill>
              <a:srgbClr val="D8DEDD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592824" y="5586984"/>
            <a:ext cx="4645152" cy="0"/>
          </a:xfrm>
          <a:prstGeom prst="line">
            <a:avLst/>
          </a:prstGeom>
          <a:noFill/>
          <a:ln w="6350">
            <a:solidFill>
              <a:srgbClr val="D8DEDD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592824" y="5586984"/>
            <a:ext cx="4645152" cy="0"/>
          </a:xfrm>
          <a:prstGeom prst="line">
            <a:avLst/>
          </a:prstGeom>
          <a:noFill/>
          <a:ln w="10160">
            <a:solidFill>
              <a:srgbClr val="6374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6592824" y="2606040"/>
            <a:ext cx="0" cy="2980944"/>
          </a:xfrm>
          <a:prstGeom prst="line">
            <a:avLst/>
          </a:prstGeom>
          <a:noFill/>
          <a:ln w="10160">
            <a:solidFill>
              <a:srgbClr val="6374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 txBox="1"/>
          <p:nvPr/>
        </p:nvSpPr>
        <p:spPr>
          <a:xfrm>
            <a:off x="8001000" y="5696712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6374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 / SITE / CATEGORY</a:t>
            </a:r>
            <a:endParaRPr lang="en-US" sz="750" dirty="0"/>
          </a:p>
        </p:txBody>
      </p:sp>
      <p:sp>
        <p:nvSpPr>
          <p:cNvPr id="28" name="Text 26"/>
          <p:cNvSpPr txBox="1"/>
          <p:nvPr/>
        </p:nvSpPr>
        <p:spPr>
          <a:xfrm>
            <a:off x="6199632" y="39319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6374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MEASURE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5285232" y="3520440"/>
            <a:ext cx="1563624" cy="283464"/>
          </a:xfrm>
          <a:prstGeom prst="roundRect">
            <a:avLst>
              <a:gd name="adj" fmla="val 25806"/>
            </a:avLst>
          </a:prstGeom>
          <a:solidFill>
            <a:srgbClr val="2D7F83"/>
          </a:solidFill>
          <a:ln w="12700">
            <a:solidFill>
              <a:srgbClr val="2D7F8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 txBox="1"/>
          <p:nvPr/>
        </p:nvSpPr>
        <p:spPr>
          <a:xfrm>
            <a:off x="5376672" y="3529584"/>
            <a:ext cx="13807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94360" y="6510528"/>
            <a:ext cx="11018520" cy="0"/>
          </a:xfrm>
          <a:prstGeom prst="line">
            <a:avLst/>
          </a:prstGeom>
          <a:noFill/>
          <a:ln w="7620">
            <a:solidFill>
              <a:srgbClr val="A69E8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 txBox="1"/>
          <p:nvPr/>
        </p:nvSpPr>
        <p:spPr>
          <a:xfrm>
            <a:off x="621792" y="6556248"/>
            <a:ext cx="43891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6374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MONITORING FINDINGS</a:t>
            </a:r>
            <a:endParaRPr lang="en-US" sz="850" dirty="0"/>
          </a:p>
        </p:txBody>
      </p:sp>
      <p:sp>
        <p:nvSpPr>
          <p:cNvPr id="33" name="Text 31"/>
          <p:cNvSpPr txBox="1"/>
          <p:nvPr/>
        </p:nvSpPr>
        <p:spPr>
          <a:xfrm>
            <a:off x="10972800" y="6537960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6374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3C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47472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DB6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DISCUSSION / DECISION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94944"/>
            <a:ext cx="10515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should the committee discuss?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426464"/>
            <a:ext cx="10424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50" dirty="0">
                <a:solidFill>
                  <a:srgbClr val="D7E4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this slide to convert information into focused scientific dialogue.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713232" y="1874520"/>
            <a:ext cx="10771632" cy="987552"/>
          </a:xfrm>
          <a:prstGeom prst="roundRect">
            <a:avLst>
              <a:gd name="adj" fmla="val 5556"/>
            </a:avLst>
          </a:prstGeom>
          <a:solidFill>
            <a:srgbClr val="123F5B"/>
          </a:solidFill>
          <a:ln w="10160">
            <a:solidFill>
              <a:srgbClr val="416B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960120" y="2075688"/>
            <a:ext cx="5303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94BBC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627632" y="2020824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Is the evidence sufficient?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5870448" y="2020824"/>
            <a:ext cx="5074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D6E4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Identify gaps in monitoring, interpretation, or communication.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13232" y="3108960"/>
            <a:ext cx="10771632" cy="987552"/>
          </a:xfrm>
          <a:prstGeom prst="roundRect">
            <a:avLst>
              <a:gd name="adj" fmla="val 5556"/>
            </a:avLst>
          </a:prstGeom>
          <a:solidFill>
            <a:srgbClr val="123F5B"/>
          </a:solidFill>
          <a:ln w="10160">
            <a:solidFill>
              <a:srgbClr val="416B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960120" y="3310128"/>
            <a:ext cx="5303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94BBC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1627632" y="3255264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Is implementation performing as intended?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5870448" y="3255264"/>
            <a:ext cx="5074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D6E4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Separate operational execution from environmental outcome.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13232" y="4343400"/>
            <a:ext cx="10771632" cy="987552"/>
          </a:xfrm>
          <a:prstGeom prst="roundRect">
            <a:avLst>
              <a:gd name="adj" fmla="val 5556"/>
            </a:avLst>
          </a:prstGeom>
          <a:solidFill>
            <a:srgbClr val="174C68"/>
          </a:solidFill>
          <a:ln w="10160">
            <a:solidFill>
              <a:srgbClr val="416B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960120" y="4544568"/>
            <a:ext cx="5303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6DB6C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1627632" y="4489704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should change before the next cycle?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5870448" y="4489704"/>
            <a:ext cx="5074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D6E4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Name a specific analysis, action, or decision owner.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94360" y="6510528"/>
            <a:ext cx="11018520" cy="0"/>
          </a:xfrm>
          <a:prstGeom prst="line">
            <a:avLst/>
          </a:prstGeom>
          <a:noFill/>
          <a:ln w="7620">
            <a:solidFill>
              <a:srgbClr val="5D7E8D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621792" y="6556248"/>
            <a:ext cx="43891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DDE8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COMMITTEE DISCUSSION</a:t>
            </a:r>
            <a:endParaRPr lang="en-US" sz="850" dirty="0"/>
          </a:p>
        </p:txBody>
      </p:sp>
      <p:sp>
        <p:nvSpPr>
          <p:cNvPr id="19" name="Text 17"/>
          <p:cNvSpPr txBox="1"/>
          <p:nvPr/>
        </p:nvSpPr>
        <p:spPr>
          <a:xfrm>
            <a:off x="10972800" y="6537960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DDE8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EEA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3794760"/>
            <a:ext cx="12188952" cy="278892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>
            <a:alphaModFix amt="18000"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95160" y="-1051560"/>
            <a:ext cx="5760720" cy="57607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758952" y="658368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D7F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EAHCP · SPRINGFLOW PROTECTION</a:t>
            </a:r>
            <a:endParaRPr lang="en-US" sz="1000" dirty="0"/>
          </a:p>
        </p:txBody>
      </p:sp>
      <p:sp>
        <p:nvSpPr>
          <p:cNvPr id="5" name="Text 1"/>
          <p:cNvSpPr txBox="1"/>
          <p:nvPr/>
        </p:nvSpPr>
        <p:spPr>
          <a:xfrm>
            <a:off x="758952" y="1225296"/>
            <a:ext cx="6126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0B3C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Questions and</a:t>
            </a:r>
            <a:endParaRPr lang="en-US" sz="4000" dirty="0"/>
          </a:p>
          <a:p>
            <a:pPr marL="0" indent="0" algn="l">
              <a:buNone/>
            </a:pPr>
            <a:r>
              <a:rPr lang="en-US" sz="4000" b="1" dirty="0">
                <a:solidFill>
                  <a:srgbClr val="0B3C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discussion</a:t>
            </a:r>
            <a:endParaRPr lang="en-US" sz="4000" dirty="0"/>
          </a:p>
        </p:txBody>
      </p:sp>
      <p:sp>
        <p:nvSpPr>
          <p:cNvPr id="6" name="Text 2"/>
          <p:cNvSpPr txBox="1"/>
          <p:nvPr/>
        </p:nvSpPr>
        <p:spPr>
          <a:xfrm>
            <a:off x="786384" y="283464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6374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Appendix slides may follow using the same figure and status layouts.</a:t>
            </a:r>
            <a:endParaRPr lang="en-US" sz="1500" dirty="0"/>
          </a:p>
        </p:txBody>
      </p:sp>
      <p:sp>
        <p:nvSpPr>
          <p:cNvPr id="7" name="Text 3"/>
          <p:cNvSpPr txBox="1"/>
          <p:nvPr/>
        </p:nvSpPr>
        <p:spPr>
          <a:xfrm>
            <a:off x="786384" y="5779008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2D7F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PRESENTER  ·  TITLE  ·  CONTACT</a:t>
            </a:r>
            <a:endParaRPr lang="en-US" sz="950" dirty="0"/>
          </a:p>
        </p:txBody>
      </p:sp>
      <p:sp>
        <p:nvSpPr>
          <p:cNvPr id="8" name="Text 4"/>
          <p:cNvSpPr txBox="1"/>
          <p:nvPr/>
        </p:nvSpPr>
        <p:spPr>
          <a:xfrm>
            <a:off x="786384" y="6108192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0B3C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Edwards Aquifer Habitat Conservation Plan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856</Words>
  <Application>Microsoft Office PowerPoint</Application>
  <PresentationFormat>Widescreen</PresentationFormat>
  <Paragraphs>191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Edwards Aquifer Authority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EAHCP Springflow Protection Programs — Scientific Presentation Template</dc:title>
  <dc:subject>EAHCP Springflow Protection Programs presentation template</dc:subject>
  <dc:creator>OpenAI</dc:creator>
  <cp:lastModifiedBy>Chad Furl</cp:lastModifiedBy>
  <cp:revision>1</cp:revision>
  <dcterms:created xsi:type="dcterms:W3CDTF">2026-07-21T14:31:18Z</dcterms:created>
  <dcterms:modified xsi:type="dcterms:W3CDTF">2026-08-27T16:35:43Z</dcterms:modified>
</cp:coreProperties>
</file>