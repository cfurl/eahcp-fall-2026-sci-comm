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3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CB7AF"/>
                </a:solidFill>
              </a:rPr>
              <a:t>EAHCP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1143000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300" dirty="0"/>
          </a:p>
        </p:txBody>
      </p:sp>
      <p:sp>
        <p:nvSpPr>
          <p:cNvPr id="9" name="Text 7"/>
          <p:cNvSpPr/>
          <p:nvPr/>
        </p:nvSpPr>
        <p:spPr>
          <a:xfrm>
            <a:off x="676656" y="1975104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Habitat &amp; aquatic vegetation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briefing template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6CB7AF"/>
                </a:solidFill>
              </a:rPr>
              <a:t>SCIENCE COMMITTEE IMPLEMENTATION MEETING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CFBA"/>
                </a:solidFill>
              </a:rPr>
              <a:t>Meeting date  ·  Location  ·  Presenter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635508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F4E9CF"/>
                </a:solidFill>
              </a:rPr>
              <a:t>CLEAR WATER / VEGETATION MOSAIC / HABITAT STEWARDSHIP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11265408" y="63093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b="1" dirty="0">
                <a:solidFill>
                  <a:srgbClr val="F4E9CF"/>
                </a:solidFill>
              </a:rPr>
              <a:t>01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this deck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DESIGN SYSTEM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5836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PALETTE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764792"/>
            <a:ext cx="713232" cy="29260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 dirty="0">
                <a:solidFill>
                  <a:srgbClr val="65737A"/>
                </a:solidFill>
              </a:rPr>
              <a:t>LAKE DEEP</a:t>
            </a:r>
            <a:endParaRPr lang="en-US" sz="620" dirty="0"/>
          </a:p>
        </p:txBody>
      </p:sp>
      <p:sp>
        <p:nvSpPr>
          <p:cNvPr id="13" name="Shape 11"/>
          <p:cNvSpPr/>
          <p:nvPr/>
        </p:nvSpPr>
        <p:spPr>
          <a:xfrm>
            <a:off x="1737360" y="1764792"/>
            <a:ext cx="713232" cy="292608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37360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 dirty="0">
                <a:solidFill>
                  <a:srgbClr val="65737A"/>
                </a:solidFill>
              </a:rPr>
              <a:t>LAKE</a:t>
            </a:r>
            <a:endParaRPr lang="en-US" sz="620" dirty="0"/>
          </a:p>
        </p:txBody>
      </p:sp>
      <p:sp>
        <p:nvSpPr>
          <p:cNvPr id="15" name="Shape 13"/>
          <p:cNvSpPr/>
          <p:nvPr/>
        </p:nvSpPr>
        <p:spPr>
          <a:xfrm>
            <a:off x="2816352" y="1764792"/>
            <a:ext cx="713232" cy="292608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16352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 dirty="0">
                <a:solidFill>
                  <a:srgbClr val="65737A"/>
                </a:solidFill>
              </a:rPr>
              <a:t>SHALLOW</a:t>
            </a:r>
            <a:endParaRPr lang="en-US" sz="620" dirty="0"/>
          </a:p>
        </p:txBody>
      </p:sp>
      <p:sp>
        <p:nvSpPr>
          <p:cNvPr id="17" name="Shape 15"/>
          <p:cNvSpPr/>
          <p:nvPr/>
        </p:nvSpPr>
        <p:spPr>
          <a:xfrm>
            <a:off x="3895344" y="1764792"/>
            <a:ext cx="713232" cy="292608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95344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 dirty="0">
                <a:solidFill>
                  <a:srgbClr val="65737A"/>
                </a:solidFill>
              </a:rPr>
              <a:t>AQUATIC</a:t>
            </a:r>
            <a:endParaRPr lang="en-US" sz="620" dirty="0"/>
          </a:p>
        </p:txBody>
      </p:sp>
      <p:sp>
        <p:nvSpPr>
          <p:cNvPr id="19" name="Shape 17"/>
          <p:cNvSpPr/>
          <p:nvPr/>
        </p:nvSpPr>
        <p:spPr>
          <a:xfrm>
            <a:off x="658368" y="2423160"/>
            <a:ext cx="713232" cy="292608"/>
          </a:xfrm>
          <a:prstGeom prst="rect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 dirty="0">
                <a:solidFill>
                  <a:srgbClr val="65737A"/>
                </a:solidFill>
              </a:rPr>
              <a:t>CYPRESS</a:t>
            </a:r>
            <a:endParaRPr lang="en-US" sz="620" dirty="0"/>
          </a:p>
        </p:txBody>
      </p:sp>
      <p:sp>
        <p:nvSpPr>
          <p:cNvPr id="21" name="Shape 19"/>
          <p:cNvSpPr/>
          <p:nvPr/>
        </p:nvSpPr>
        <p:spPr>
          <a:xfrm>
            <a:off x="1737360" y="2423160"/>
            <a:ext cx="713232" cy="292608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 dirty="0">
                <a:solidFill>
                  <a:srgbClr val="65737A"/>
                </a:solidFill>
              </a:rPr>
              <a:t>LIMESTONE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816352" y="2423160"/>
            <a:ext cx="713232" cy="292608"/>
          </a:xfrm>
          <a:prstGeom prst="rect">
            <a:avLst/>
          </a:prstGeom>
          <a:solidFill>
            <a:srgbClr val="D6A13A"/>
          </a:solidFill>
          <a:ln w="12700">
            <a:solidFill>
              <a:srgbClr val="D6A1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16352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 dirty="0">
                <a:solidFill>
                  <a:srgbClr val="65737A"/>
                </a:solidFill>
              </a:rPr>
              <a:t>GOLD</a:t>
            </a:r>
            <a:endParaRPr lang="en-US" sz="620" dirty="0"/>
          </a:p>
        </p:txBody>
      </p:sp>
      <p:sp>
        <p:nvSpPr>
          <p:cNvPr id="25" name="Shape 23"/>
          <p:cNvSpPr/>
          <p:nvPr/>
        </p:nvSpPr>
        <p:spPr>
          <a:xfrm>
            <a:off x="3895344" y="2423160"/>
            <a:ext cx="713232" cy="292608"/>
          </a:xfrm>
          <a:prstGeom prst="rect">
            <a:avLst/>
          </a:prstGeom>
          <a:solidFill>
            <a:srgbClr val="B86156"/>
          </a:solidFill>
          <a:ln w="12700">
            <a:solidFill>
              <a:srgbClr val="B8615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 dirty="0">
                <a:solidFill>
                  <a:srgbClr val="65737A"/>
                </a:solidFill>
              </a:rPr>
              <a:t>CORAL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658368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TYPE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658368" y="37216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43036"/>
                </a:solidFill>
              </a:rPr>
              <a:t>Scientific headings; compact enough for maps, monitoring figures, and annotated tables.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806440" y="1417320"/>
            <a:ext cx="0" cy="0"/>
          </a:xfrm>
          <a:prstGeom prst="line">
            <a:avLst/>
          </a:prstGeom>
          <a:noFill/>
          <a:ln w="11430">
            <a:solidFill>
              <a:srgbClr val="A99B8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26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SLIDE RULE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72200" y="17556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036"/>
                </a:solidFill>
              </a:rPr>
              <a:t>One Landa Lake message per slide.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172200" y="21305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65737A"/>
                </a:solidFill>
              </a:rPr>
              <a:t>Use the headline to state the ecological or implementation finding—not merely name the dataset.</a:t>
            </a:r>
            <a:endParaRPr lang="en-US" sz="1220" dirty="0"/>
          </a:p>
        </p:txBody>
      </p:sp>
      <p:sp>
        <p:nvSpPr>
          <p:cNvPr id="34" name="Text 32"/>
          <p:cNvSpPr/>
          <p:nvPr/>
        </p:nvSpPr>
        <p:spPr>
          <a:xfrm>
            <a:off x="6172200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FIGURE RULE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72200" y="3236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036"/>
                </a:solidFill>
              </a:rPr>
              <a:t>Direct attention with one accent.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17220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65737A"/>
                </a:solidFill>
              </a:rPr>
              <a:t>Most data stay lake blue, aquatic green, or gray. Use coral only for thresholds, stressors, exceptions, or decisions.</a:t>
            </a:r>
            <a:endParaRPr lang="en-US" sz="1220" dirty="0"/>
          </a:p>
        </p:txBody>
      </p:sp>
      <p:sp>
        <p:nvSpPr>
          <p:cNvPr id="37" name="Text 35"/>
          <p:cNvSpPr/>
          <p:nvPr/>
        </p:nvSpPr>
        <p:spPr>
          <a:xfrm>
            <a:off x="9656064" y="63916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</a:rPr>
              <a:t>TEMPLATE GUIDANCE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418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B7AF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44752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DEC"/>
                </a:solidFill>
              </a:rPr>
              <a:t>Section subtitle or implementation question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61722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123240"/>
                </a:solidFill>
              </a:rPr>
              <a:t>Use section dividers to reset the room and frame the lake-specific question that the next slides answer.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10012680" y="633679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4E9CF"/>
                </a:solidFill>
              </a:rPr>
              <a:t>SECTION DIVIDER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475720" y="633679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4E9CF"/>
                </a:solidFill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is a habitat mosaic—not a single monitoring unit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declarative headline to frame the evidence on the slide.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CONNECTED FUNCTIONS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1792224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Springflow, water clarity, aquatic vegetation, recreation, and covered-species habitat should read as one connected story.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93208" y="1618488"/>
            <a:ext cx="5952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240"/>
                </a:solidFill>
              </a:rPr>
              <a:t>EVIDENCE FIGURE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Drop in the primary map, vegetation figure, photo transect, or monitoring result supporting the headline.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dirty="0">
                <a:solidFill>
                  <a:srgbClr val="65737A"/>
                </a:solidFill>
              </a:rPr>
              <a:t>TIME / REACH / VEGETATION TYPE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65737A"/>
                </a:solidFill>
              </a:rPr>
              <a:t>MEASURE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658368" y="441655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04672" y="453542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Lake context sets the interpretation for every result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240"/>
                </a:solidFill>
              </a:rPr>
              <a:t>MAP / PHOTO / SITE FIGURE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Replace with Landa Lake reach map, drone image, transect photo, or monitoring station map.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WHAT THE FIGURE SHOWS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AF4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3240"/>
                </a:solidFill>
              </a:rPr>
              <a:t>Habitat setting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243036"/>
                </a:solidFill>
              </a:rPr>
              <a:t>Location-specific finding: reach, shoreline condition, vegetation patch, or flow path.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AF4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3240"/>
                </a:solidFill>
              </a:rPr>
              <a:t>Interpretation context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243036"/>
                </a:solidFill>
              </a:rPr>
              <a:t>Why season, springflow, clarity, or survey design matters for this result.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AF4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3240"/>
                </a:solidFill>
              </a:rPr>
              <a:t>Point requiring attention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243036"/>
                </a:solidFill>
              </a:rPr>
              <a:t>Use coral only for a stressor, threshold, management issue, or discussion item.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Vegetation condition should connect trend, composition, and habitat value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for annual area, percent cover, or mapped vegetation classes.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MONITORING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754380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7141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240"/>
                </a:solidFill>
              </a:rPr>
              <a:t>PRIMARY VEGETATION FIGURE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Line, stacked area, or faceted figure. Keep the legend compact and put the finding in the headline.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708660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1627632"/>
            <a:ext cx="2514600" cy="457200"/>
          </a:xfrm>
          <a:prstGeom prst="rect">
            <a:avLst/>
          </a:prstGeom>
          <a:solidFill>
            <a:srgbClr val="DDEDEC"/>
          </a:solidFill>
          <a:ln w="12700">
            <a:solidFill>
              <a:srgbClr val="DDED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823960" y="17556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23240"/>
                </a:solidFill>
              </a:rPr>
              <a:t>CONDITION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823960" y="22677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43036"/>
                </a:solidFill>
              </a:rPr>
              <a:t>Replace with current-year status, direction of change, or monitoring category.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41080" y="3273552"/>
            <a:ext cx="2514600" cy="45720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23960" y="34015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B5B45"/>
                </a:solidFill>
              </a:rPr>
              <a:t>HABITAT LINK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823960" y="3913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43036"/>
                </a:solidFill>
              </a:rPr>
              <a:t>State how the vegetation condition supports habitat, refugia, or covered-species needs.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Major vegetation types tell the habitat story better than total area alone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when composition is the key message.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COMPOSITION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53212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240"/>
                </a:solidFill>
              </a:rPr>
              <a:t>A · COMPOSITION FIGURE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5129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Example: stacked area by dominant vegetation type, grouped bars by survey date, or mosaic summary.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507492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417320"/>
            <a:ext cx="475488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618488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240"/>
                </a:solidFill>
              </a:rPr>
              <a:t>B · KEY COMPARISON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675120" y="194767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Example: specific species/class, pre/post management interval, or reach comparison.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02552" y="5257800"/>
            <a:ext cx="42976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58978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5737A"/>
                </a:solidFill>
              </a:rPr>
              <a:t>COMPARE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lake evidence becomes implementation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6F73"/>
                </a:solidFill>
              </a:rPr>
              <a:t>OBSERVE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FAF4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23240"/>
                </a:solidFill>
              </a:rPr>
              <a:t>Vegetation + habitat signal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036"/>
                </a:solidFill>
              </a:rPr>
              <a:t>Mapped vegetation, photo points, field notes, water clarity, springflow context.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B7AF"/>
                </a:solidFill>
              </a:rPr>
              <a:t>INTERPRET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FAF4"/>
                </a:solidFill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23240"/>
                </a:solidFill>
              </a:rPr>
              <a:t>Ecological meaning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036"/>
                </a:solidFill>
              </a:rPr>
              <a:t>Separate normal seasonal movement from persistent habitat change.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7D4F"/>
                </a:solidFill>
              </a:rPr>
              <a:t>MANAGE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FAF4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23240"/>
                </a:solidFill>
              </a:rPr>
              <a:t>Implementation action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036"/>
                </a:solidFill>
              </a:rPr>
              <a:t>Coordinate mowing, recreation management, restoration, or monitoring adjustment.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B5B45"/>
                </a:solidFill>
              </a:rPr>
              <a:t>EVALUATE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FAF4"/>
                </a:solidFill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23240"/>
                </a:solidFill>
              </a:rPr>
              <a:t>Outcome and learning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036"/>
                </a:solidFill>
              </a:rPr>
              <a:t>Assess vegetation response, habitat quality, and what to change next cycle.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240"/>
                </a:solidFill>
              </a:rPr>
              <a:t>KEY QUESTION  ·  Is each handoff clear, documented, and supported by the right monitoring evidence?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is easiest to review by purpose and status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table for vegetation mapping, photo points, water quality, recreation observations, or targeted surveys.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FAF4"/>
                </a:solidFill>
              </a:rPr>
              <a:t>COMPONENT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FAF4"/>
                </a:solidFill>
              </a:rPr>
              <a:t>PURPOSE IN LANDA LAKE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FAF4"/>
                </a:solidFill>
              </a:rPr>
              <a:t>CURRENT STATUS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BFAF4"/>
                </a:solidFill>
              </a:rPr>
              <a:t>NEXT USE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Vegetation mapping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BFAF4"/>
                </a:solidFill>
              </a:rPr>
              <a:t>ON TRACK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243036"/>
                </a:solidFill>
              </a:rPr>
              <a:t>Briefing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Photo points / field notes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BFAF4"/>
                </a:solidFill>
              </a:rPr>
              <a:t>WATCH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243036"/>
                </a:solidFill>
              </a:rPr>
              <a:t>QA/QC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Water-quality context</a:t>
            </a:r>
            <a:endParaRPr lang="en-US" sz="1220" dirty="0"/>
          </a:p>
        </p:txBody>
      </p:sp>
      <p:sp>
        <p:nvSpPr>
          <p:cNvPr id="27" name="Text 25"/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BFAF4"/>
                </a:solidFill>
              </a:rPr>
              <a:t>ACTIVE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243036"/>
                </a:solidFill>
              </a:rPr>
              <a:t>Context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Management action record</a:t>
            </a:r>
            <a:endParaRPr lang="en-US" sz="1220" dirty="0"/>
          </a:p>
        </p:txBody>
      </p:sp>
      <p:sp>
        <p:nvSpPr>
          <p:cNvPr id="32" name="Text 30"/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BFAF4"/>
                </a:solidFill>
              </a:rPr>
              <a:t>UPDATE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243036"/>
                </a:solidFill>
              </a:rPr>
              <a:t>Decision</a:t>
            </a:r>
            <a:endParaRPr lang="en-US" sz="1120" dirty="0"/>
          </a:p>
        </p:txBody>
      </p:sp>
      <p:sp>
        <p:nvSpPr>
          <p:cNvPr id="35" name="Text 33"/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lake condition with program response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+ RESPONSE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240"/>
                </a:solidFill>
              </a:rPr>
              <a:t>A · LAKE CONDITION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Examples: vegetation extent, percent cover, mapped habitat, water clarity, or springflow context.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240"/>
                </a:solidFill>
              </a:rPr>
              <a:t>B · PROGRAM RESPONSE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27648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Examples: maintenance, restoration, recreation management, monitoring adjustment, or adaptive response.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55080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23560" y="58978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5737A"/>
                </a:solidFill>
              </a:rPr>
              <a:t>COMPARE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A13A"/>
                </a:solidFill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72768" y="15819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240"/>
                </a:solidFill>
              </a:rPr>
              <a:t>Is the evidence sufficient?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72768" y="2039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Identify gaps in mapping, field interpretation, or communication.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84378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A13A"/>
                </a:solidFill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72768" y="2825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240"/>
                </a:solidFill>
              </a:rPr>
              <a:t>Is implementation performing as intended?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72768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Separate operational execution from ecological outcome.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0873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A13A"/>
                </a:solidFill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72768" y="406908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240"/>
                </a:solidFill>
              </a:rPr>
              <a:t>What should change before the next cycle?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72768" y="4526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Name a specific analysis, action, or decision owner.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351008" y="1417320"/>
            <a:ext cx="594360" cy="402336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42448" y="290779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5B45"/>
                </a:solidFill>
              </a:rPr>
              <a:t>COMMITTEE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3B5B45"/>
                </a:solidFill>
              </a:rPr>
              <a:t>DISCUSSION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lake monitoring cycle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04672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6F73"/>
                </a:solidFill>
              </a:rPr>
              <a:t>NOW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65737A"/>
                </a:solidFill>
              </a:rPr>
              <a:t>Before the next operational milestone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679192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Confirm current status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3191256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Close immediate data gaps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Document decisions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97680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7D4F"/>
                </a:solidFill>
              </a:rPr>
              <a:t>NEXT CYCLE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97680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65737A"/>
                </a:solidFill>
              </a:rPr>
              <a:t>Before the next committee meeting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15968" y="2679192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Complete targeted analyses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15968" y="3191256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26280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Refine habitat indicators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315968" y="3703320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Track agreed actions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90688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5B45"/>
                </a:solidFill>
              </a:rPr>
              <a:t>LONGER TERM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790688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65737A"/>
                </a:solidFill>
              </a:rPr>
              <a:t>Program learning agenda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08976" y="2679192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9288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Improve integration across measures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808976" y="3191256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9288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Evaluate performance over time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808976" y="3703320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019288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036"/>
                </a:solidFill>
              </a:rPr>
              <a:t>Identify adaptive changes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86384" y="5212080"/>
            <a:ext cx="10058400" cy="475488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60120" y="5358384"/>
            <a:ext cx="9555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240"/>
                </a:solidFill>
              </a:rPr>
              <a:t>CLOSE WITH OWNERSHIP  ·  Who will do what, by when, and what evidence will show completion?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6CB7AF"/>
                </a:solidFill>
              </a:rPr>
              <a:t>EAHCP · LANDA LAKE HABITAT</a:t>
            </a:r>
            <a:endParaRPr lang="en-US" sz="880" dirty="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 dirty="0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 dirty="0"/>
          </a:p>
          <a:p>
            <a:pPr marL="0" indent="0">
              <a:buNone/>
            </a:pPr>
            <a:r>
              <a:rPr lang="en-US" sz="4300" b="1" dirty="0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 dirty="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4E9CF"/>
                </a:solidFill>
              </a:rPr>
              <a:t>PRESENTER  ·  TITLE  ·  CONTACT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4E9CF"/>
                </a:solidFill>
              </a:rPr>
              <a:t>Edwards Aquifer Habitat Conservation Plan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4E9CF"/>
                </a:solidFill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1051</Words>
  <Application>Microsoft Office PowerPoint</Application>
  <PresentationFormat>Widescreen</PresentationFormat>
  <Paragraphs>194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2026-08-07T14:28:55Z</dcterms:modified>
</cp:coreProperties>
</file>