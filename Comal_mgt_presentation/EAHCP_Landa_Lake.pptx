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9" r:id="rId3"/>
    <p:sldId id="271" r:id="rId4"/>
    <p:sldId id="269" r:id="rId5"/>
    <p:sldId id="272" r:id="rId6"/>
    <p:sldId id="270" r:id="rId7"/>
    <p:sldId id="257" r:id="rId8"/>
    <p:sldId id="258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28171EA-319E-4BBB-A466-E93BA5C6BAEF}" v="687" dt="2026-08-07T20:33:45.90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had Furl" userId="e1f063c0-f891-481e-b162-0b825299f031" providerId="ADAL" clId="{3E978C21-B3D0-4285-96BE-5AD851B5E1C0}"/>
    <pc:docChg chg="undo custSel addSld delSld modSld sldOrd">
      <pc:chgData name="Chad Furl" userId="e1f063c0-f891-481e-b162-0b825299f031" providerId="ADAL" clId="{3E978C21-B3D0-4285-96BE-5AD851B5E1C0}" dt="2026-08-07T20:59:48.992" v="1096" actId="20577"/>
      <pc:docMkLst>
        <pc:docMk/>
      </pc:docMkLst>
      <pc:sldChg chg="modSp mod">
        <pc:chgData name="Chad Furl" userId="e1f063c0-f891-481e-b162-0b825299f031" providerId="ADAL" clId="{3E978C21-B3D0-4285-96BE-5AD851B5E1C0}" dt="2026-08-07T18:47:03.034" v="111" actId="14100"/>
        <pc:sldMkLst>
          <pc:docMk/>
          <pc:sldMk cId="0" sldId="256"/>
        </pc:sldMkLst>
        <pc:spChg chg="mod">
          <ac:chgData name="Chad Furl" userId="e1f063c0-f891-481e-b162-0b825299f031" providerId="ADAL" clId="{3E978C21-B3D0-4285-96BE-5AD851B5E1C0}" dt="2026-08-07T18:46:18.485" v="47" actId="6549"/>
          <ac:spMkLst>
            <pc:docMk/>
            <pc:sldMk cId="0" sldId="256"/>
            <ac:spMk id="8" creationId="{00000000-0000-0000-0000-000000000000}"/>
          </ac:spMkLst>
        </pc:spChg>
        <pc:spChg chg="mod">
          <ac:chgData name="Chad Furl" userId="e1f063c0-f891-481e-b162-0b825299f031" providerId="ADAL" clId="{3E978C21-B3D0-4285-96BE-5AD851B5E1C0}" dt="2026-08-07T18:47:03.034" v="111" actId="14100"/>
          <ac:spMkLst>
            <pc:docMk/>
            <pc:sldMk cId="0" sldId="256"/>
            <ac:spMk id="9" creationId="{00000000-0000-0000-0000-000000000000}"/>
          </ac:spMkLst>
        </pc:spChg>
      </pc:sldChg>
      <pc:sldChg chg="addSp delSp modSp mod ord">
        <pc:chgData name="Chad Furl" userId="e1f063c0-f891-481e-b162-0b825299f031" providerId="ADAL" clId="{3E978C21-B3D0-4285-96BE-5AD851B5E1C0}" dt="2026-08-07T20:39:37.266" v="717" actId="171"/>
        <pc:sldMkLst>
          <pc:docMk/>
          <pc:sldMk cId="0" sldId="259"/>
        </pc:sldMkLst>
        <pc:spChg chg="mod">
          <ac:chgData name="Chad Furl" userId="e1f063c0-f891-481e-b162-0b825299f031" providerId="ADAL" clId="{3E978C21-B3D0-4285-96BE-5AD851B5E1C0}" dt="2026-08-07T20:33:40.805" v="686" actId="1076"/>
          <ac:spMkLst>
            <pc:docMk/>
            <pc:sldMk cId="0" sldId="259"/>
            <ac:spMk id="2" creationId="{00000000-0000-0000-0000-000000000000}"/>
          </ac:spMkLst>
        </pc:spChg>
        <pc:spChg chg="mod">
          <ac:chgData name="Chad Furl" userId="e1f063c0-f891-481e-b162-0b825299f031" providerId="ADAL" clId="{3E978C21-B3D0-4285-96BE-5AD851B5E1C0}" dt="2026-08-07T19:59:03.861" v="155" actId="20577"/>
          <ac:spMkLst>
            <pc:docMk/>
            <pc:sldMk cId="0" sldId="259"/>
            <ac:spMk id="6" creationId="{00000000-0000-0000-0000-000000000000}"/>
          </ac:spMkLst>
        </pc:spChg>
        <pc:spChg chg="del">
          <ac:chgData name="Chad Furl" userId="e1f063c0-f891-481e-b162-0b825299f031" providerId="ADAL" clId="{3E978C21-B3D0-4285-96BE-5AD851B5E1C0}" dt="2026-08-07T19:59:08.734" v="156" actId="478"/>
          <ac:spMkLst>
            <pc:docMk/>
            <pc:sldMk cId="0" sldId="259"/>
            <ac:spMk id="7" creationId="{00000000-0000-0000-0000-000000000000}"/>
          </ac:spMkLst>
        </pc:spChg>
        <pc:spChg chg="del">
          <ac:chgData name="Chad Furl" userId="e1f063c0-f891-481e-b162-0b825299f031" providerId="ADAL" clId="{3E978C21-B3D0-4285-96BE-5AD851B5E1C0}" dt="2026-08-07T20:03:46.734" v="265" actId="478"/>
          <ac:spMkLst>
            <pc:docMk/>
            <pc:sldMk cId="0" sldId="259"/>
            <ac:spMk id="8" creationId="{00000000-0000-0000-0000-000000000000}"/>
          </ac:spMkLst>
        </pc:spChg>
        <pc:spChg chg="mod">
          <ac:chgData name="Chad Furl" userId="e1f063c0-f891-481e-b162-0b825299f031" providerId="ADAL" clId="{3E978C21-B3D0-4285-96BE-5AD851B5E1C0}" dt="2026-08-07T20:02:37.553" v="183" actId="14100"/>
          <ac:spMkLst>
            <pc:docMk/>
            <pc:sldMk cId="0" sldId="259"/>
            <ac:spMk id="9" creationId="{00000000-0000-0000-0000-000000000000}"/>
          </ac:spMkLst>
        </pc:spChg>
        <pc:spChg chg="mod">
          <ac:chgData name="Chad Furl" userId="e1f063c0-f891-481e-b162-0b825299f031" providerId="ADAL" clId="{3E978C21-B3D0-4285-96BE-5AD851B5E1C0}" dt="2026-08-07T20:33:45.902" v="687" actId="1076"/>
          <ac:spMkLst>
            <pc:docMk/>
            <pc:sldMk cId="0" sldId="259"/>
            <ac:spMk id="10" creationId="{00000000-0000-0000-0000-000000000000}"/>
          </ac:spMkLst>
        </pc:spChg>
        <pc:spChg chg="mod">
          <ac:chgData name="Chad Furl" userId="e1f063c0-f891-481e-b162-0b825299f031" providerId="ADAL" clId="{3E978C21-B3D0-4285-96BE-5AD851B5E1C0}" dt="2026-08-07T20:31:02.018" v="443" actId="404"/>
          <ac:spMkLst>
            <pc:docMk/>
            <pc:sldMk cId="0" sldId="259"/>
            <ac:spMk id="11" creationId="{00000000-0000-0000-0000-000000000000}"/>
          </ac:spMkLst>
        </pc:spChg>
        <pc:spChg chg="del mod">
          <ac:chgData name="Chad Furl" userId="e1f063c0-f891-481e-b162-0b825299f031" providerId="ADAL" clId="{3E978C21-B3D0-4285-96BE-5AD851B5E1C0}" dt="2026-08-07T20:19:03.722" v="277" actId="478"/>
          <ac:spMkLst>
            <pc:docMk/>
            <pc:sldMk cId="0" sldId="259"/>
            <ac:spMk id="12" creationId="{00000000-0000-0000-0000-000000000000}"/>
          </ac:spMkLst>
        </pc:spChg>
        <pc:spChg chg="del">
          <ac:chgData name="Chad Furl" userId="e1f063c0-f891-481e-b162-0b825299f031" providerId="ADAL" clId="{3E978C21-B3D0-4285-96BE-5AD851B5E1C0}" dt="2026-08-07T19:59:18.468" v="158" actId="478"/>
          <ac:spMkLst>
            <pc:docMk/>
            <pc:sldMk cId="0" sldId="259"/>
            <ac:spMk id="13" creationId="{00000000-0000-0000-0000-000000000000}"/>
          </ac:spMkLst>
        </pc:spChg>
        <pc:spChg chg="del">
          <ac:chgData name="Chad Furl" userId="e1f063c0-f891-481e-b162-0b825299f031" providerId="ADAL" clId="{3E978C21-B3D0-4285-96BE-5AD851B5E1C0}" dt="2026-08-07T19:59:18.468" v="158" actId="478"/>
          <ac:spMkLst>
            <pc:docMk/>
            <pc:sldMk cId="0" sldId="259"/>
            <ac:spMk id="14" creationId="{00000000-0000-0000-0000-000000000000}"/>
          </ac:spMkLst>
        </pc:spChg>
        <pc:spChg chg="del">
          <ac:chgData name="Chad Furl" userId="e1f063c0-f891-481e-b162-0b825299f031" providerId="ADAL" clId="{3E978C21-B3D0-4285-96BE-5AD851B5E1C0}" dt="2026-08-07T19:59:18.468" v="158" actId="478"/>
          <ac:spMkLst>
            <pc:docMk/>
            <pc:sldMk cId="0" sldId="259"/>
            <ac:spMk id="15" creationId="{00000000-0000-0000-0000-000000000000}"/>
          </ac:spMkLst>
        </pc:spChg>
        <pc:spChg chg="del">
          <ac:chgData name="Chad Furl" userId="e1f063c0-f891-481e-b162-0b825299f031" providerId="ADAL" clId="{3E978C21-B3D0-4285-96BE-5AD851B5E1C0}" dt="2026-08-07T19:59:23.091" v="159" actId="478"/>
          <ac:spMkLst>
            <pc:docMk/>
            <pc:sldMk cId="0" sldId="259"/>
            <ac:spMk id="16" creationId="{00000000-0000-0000-0000-000000000000}"/>
          </ac:spMkLst>
        </pc:spChg>
        <pc:spChg chg="del">
          <ac:chgData name="Chad Furl" userId="e1f063c0-f891-481e-b162-0b825299f031" providerId="ADAL" clId="{3E978C21-B3D0-4285-96BE-5AD851B5E1C0}" dt="2026-08-07T19:59:23.091" v="159" actId="478"/>
          <ac:spMkLst>
            <pc:docMk/>
            <pc:sldMk cId="0" sldId="259"/>
            <ac:spMk id="17" creationId="{00000000-0000-0000-0000-000000000000}"/>
          </ac:spMkLst>
        </pc:spChg>
        <pc:spChg chg="mod ord">
          <ac:chgData name="Chad Furl" userId="e1f063c0-f891-481e-b162-0b825299f031" providerId="ADAL" clId="{3E978C21-B3D0-4285-96BE-5AD851B5E1C0}" dt="2026-08-07T20:39:37.266" v="717" actId="171"/>
          <ac:spMkLst>
            <pc:docMk/>
            <pc:sldMk cId="0" sldId="259"/>
            <ac:spMk id="18" creationId="{00000000-0000-0000-0000-000000000000}"/>
          </ac:spMkLst>
        </pc:spChg>
        <pc:spChg chg="mod">
          <ac:chgData name="Chad Furl" userId="e1f063c0-f891-481e-b162-0b825299f031" providerId="ADAL" clId="{3E978C21-B3D0-4285-96BE-5AD851B5E1C0}" dt="2026-08-07T20:33:29.014" v="684" actId="1076"/>
          <ac:spMkLst>
            <pc:docMk/>
            <pc:sldMk cId="0" sldId="259"/>
            <ac:spMk id="19" creationId="{00000000-0000-0000-0000-000000000000}"/>
          </ac:spMkLst>
        </pc:spChg>
        <pc:picChg chg="add del mod">
          <ac:chgData name="Chad Furl" userId="e1f063c0-f891-481e-b162-0b825299f031" providerId="ADAL" clId="{3E978C21-B3D0-4285-96BE-5AD851B5E1C0}" dt="2026-08-07T20:11:24.612" v="270" actId="478"/>
          <ac:picMkLst>
            <pc:docMk/>
            <pc:sldMk cId="0" sldId="259"/>
            <ac:picMk id="21" creationId="{E48D7F9F-3285-AAD5-C9E6-154FFE378847}"/>
          </ac:picMkLst>
        </pc:picChg>
        <pc:picChg chg="add del mod">
          <ac:chgData name="Chad Furl" userId="e1f063c0-f891-481e-b162-0b825299f031" providerId="ADAL" clId="{3E978C21-B3D0-4285-96BE-5AD851B5E1C0}" dt="2026-08-07T20:19:01.018" v="276" actId="478"/>
          <ac:picMkLst>
            <pc:docMk/>
            <pc:sldMk cId="0" sldId="259"/>
            <ac:picMk id="23" creationId="{E5E9FFC8-8592-3C72-5671-7EFE0C007AD2}"/>
          </ac:picMkLst>
        </pc:picChg>
        <pc:picChg chg="add del mod">
          <ac:chgData name="Chad Furl" userId="e1f063c0-f891-481e-b162-0b825299f031" providerId="ADAL" clId="{3E978C21-B3D0-4285-96BE-5AD851B5E1C0}" dt="2026-08-07T20:28:06.401" v="441" actId="478"/>
          <ac:picMkLst>
            <pc:docMk/>
            <pc:sldMk cId="0" sldId="259"/>
            <ac:picMk id="25" creationId="{5E46B866-ED86-1C70-8CD5-B15817468B3B}"/>
          </ac:picMkLst>
        </pc:picChg>
        <pc:picChg chg="add mod">
          <ac:chgData name="Chad Furl" userId="e1f063c0-f891-481e-b162-0b825299f031" providerId="ADAL" clId="{3E978C21-B3D0-4285-96BE-5AD851B5E1C0}" dt="2026-08-07T20:28:15.517" v="442" actId="1076"/>
          <ac:picMkLst>
            <pc:docMk/>
            <pc:sldMk cId="0" sldId="259"/>
            <ac:picMk id="27" creationId="{5CE0C189-EFD5-914D-132E-BF643B42DF5F}"/>
          </ac:picMkLst>
        </pc:picChg>
      </pc:sldChg>
      <pc:sldChg chg="modSp mod">
        <pc:chgData name="Chad Furl" userId="e1f063c0-f891-481e-b162-0b825299f031" providerId="ADAL" clId="{3E978C21-B3D0-4285-96BE-5AD851B5E1C0}" dt="2026-08-07T18:47:16.763" v="117" actId="27636"/>
        <pc:sldMkLst>
          <pc:docMk/>
          <pc:sldMk cId="0" sldId="261"/>
        </pc:sldMkLst>
        <pc:spChg chg="mod">
          <ac:chgData name="Chad Furl" userId="e1f063c0-f891-481e-b162-0b825299f031" providerId="ADAL" clId="{3E978C21-B3D0-4285-96BE-5AD851B5E1C0}" dt="2026-08-07T18:47:16.763" v="117" actId="27636"/>
          <ac:spMkLst>
            <pc:docMk/>
            <pc:sldMk cId="0" sldId="261"/>
            <ac:spMk id="19" creationId="{00000000-0000-0000-0000-000000000000}"/>
          </ac:spMkLst>
        </pc:spChg>
      </pc:sldChg>
      <pc:sldChg chg="modSp mod">
        <pc:chgData name="Chad Furl" userId="e1f063c0-f891-481e-b162-0b825299f031" providerId="ADAL" clId="{3E978C21-B3D0-4285-96BE-5AD851B5E1C0}" dt="2026-08-07T18:47:16.766" v="118" actId="27636"/>
        <pc:sldMkLst>
          <pc:docMk/>
          <pc:sldMk cId="0" sldId="263"/>
        </pc:sldMkLst>
        <pc:spChg chg="mod">
          <ac:chgData name="Chad Furl" userId="e1f063c0-f891-481e-b162-0b825299f031" providerId="ADAL" clId="{3E978C21-B3D0-4285-96BE-5AD851B5E1C0}" dt="2026-08-07T18:47:16.766" v="118" actId="27636"/>
          <ac:spMkLst>
            <pc:docMk/>
            <pc:sldMk cId="0" sldId="263"/>
            <ac:spMk id="12" creationId="{00000000-0000-0000-0000-000000000000}"/>
          </ac:spMkLst>
        </pc:spChg>
      </pc:sldChg>
      <pc:sldChg chg="modSp mod">
        <pc:chgData name="Chad Furl" userId="e1f063c0-f891-481e-b162-0b825299f031" providerId="ADAL" clId="{3E978C21-B3D0-4285-96BE-5AD851B5E1C0}" dt="2026-08-07T18:47:16.769" v="119" actId="27636"/>
        <pc:sldMkLst>
          <pc:docMk/>
          <pc:sldMk cId="0" sldId="267"/>
        </pc:sldMkLst>
        <pc:spChg chg="mod">
          <ac:chgData name="Chad Furl" userId="e1f063c0-f891-481e-b162-0b825299f031" providerId="ADAL" clId="{3E978C21-B3D0-4285-96BE-5AD851B5E1C0}" dt="2026-08-07T18:47:16.769" v="119" actId="27636"/>
          <ac:spMkLst>
            <pc:docMk/>
            <pc:sldMk cId="0" sldId="267"/>
            <ac:spMk id="29" creationId="{00000000-0000-0000-0000-000000000000}"/>
          </ac:spMkLst>
        </pc:spChg>
      </pc:sldChg>
      <pc:sldChg chg="delSp modSp add mod setBg">
        <pc:chgData name="Chad Furl" userId="e1f063c0-f891-481e-b162-0b825299f031" providerId="ADAL" clId="{3E978C21-B3D0-4285-96BE-5AD851B5E1C0}" dt="2026-08-07T20:59:48.992" v="1096" actId="20577"/>
        <pc:sldMkLst>
          <pc:docMk/>
          <pc:sldMk cId="2380401791" sldId="269"/>
        </pc:sldMkLst>
        <pc:spChg chg="mod">
          <ac:chgData name="Chad Furl" userId="e1f063c0-f891-481e-b162-0b825299f031" providerId="ADAL" clId="{3E978C21-B3D0-4285-96BE-5AD851B5E1C0}" dt="2026-08-07T20:42:50.787" v="763" actId="20577"/>
          <ac:spMkLst>
            <pc:docMk/>
            <pc:sldMk cId="2380401791" sldId="269"/>
            <ac:spMk id="6" creationId="{DC42AE2C-882F-5A75-1DC4-2AF844F0BAFF}"/>
          </ac:spMkLst>
        </pc:spChg>
        <pc:spChg chg="del">
          <ac:chgData name="Chad Furl" userId="e1f063c0-f891-481e-b162-0b825299f031" providerId="ADAL" clId="{3E978C21-B3D0-4285-96BE-5AD851B5E1C0}" dt="2026-08-07T20:42:56.057" v="764" actId="478"/>
          <ac:spMkLst>
            <pc:docMk/>
            <pc:sldMk cId="2380401791" sldId="269"/>
            <ac:spMk id="7" creationId="{261C4416-1906-2741-A81E-0C8603A72A5A}"/>
          </ac:spMkLst>
        </pc:spChg>
        <pc:spChg chg="mod">
          <ac:chgData name="Chad Furl" userId="e1f063c0-f891-481e-b162-0b825299f031" providerId="ADAL" clId="{3E978C21-B3D0-4285-96BE-5AD851B5E1C0}" dt="2026-08-07T20:59:48.992" v="1096" actId="20577"/>
          <ac:spMkLst>
            <pc:docMk/>
            <pc:sldMk cId="2380401791" sldId="269"/>
            <ac:spMk id="10" creationId="{E301E2B6-8BD9-A86A-B91D-C6B419F1BBC2}"/>
          </ac:spMkLst>
        </pc:spChg>
        <pc:spChg chg="mod">
          <ac:chgData name="Chad Furl" userId="e1f063c0-f891-481e-b162-0b825299f031" providerId="ADAL" clId="{3E978C21-B3D0-4285-96BE-5AD851B5E1C0}" dt="2026-08-07T20:46:03.699" v="934" actId="20577"/>
          <ac:spMkLst>
            <pc:docMk/>
            <pc:sldMk cId="2380401791" sldId="269"/>
            <ac:spMk id="11" creationId="{82639B2B-32B4-C710-4820-31EC76D09778}"/>
          </ac:spMkLst>
        </pc:spChg>
        <pc:spChg chg="del">
          <ac:chgData name="Chad Furl" userId="e1f063c0-f891-481e-b162-0b825299f031" providerId="ADAL" clId="{3E978C21-B3D0-4285-96BE-5AD851B5E1C0}" dt="2026-08-07T20:43:04.787" v="765" actId="478"/>
          <ac:spMkLst>
            <pc:docMk/>
            <pc:sldMk cId="2380401791" sldId="269"/>
            <ac:spMk id="13" creationId="{9B118B9A-D1EA-30FF-295A-6CDA47A28527}"/>
          </ac:spMkLst>
        </pc:spChg>
        <pc:spChg chg="mod">
          <ac:chgData name="Chad Furl" userId="e1f063c0-f891-481e-b162-0b825299f031" providerId="ADAL" clId="{3E978C21-B3D0-4285-96BE-5AD851B5E1C0}" dt="2026-08-07T20:43:12.344" v="792" actId="20577"/>
          <ac:spMkLst>
            <pc:docMk/>
            <pc:sldMk cId="2380401791" sldId="269"/>
            <ac:spMk id="14" creationId="{B51E6E3F-A174-E4EC-FF33-AB27B4BB7E3E}"/>
          </ac:spMkLst>
        </pc:spChg>
        <pc:spChg chg="mod">
          <ac:chgData name="Chad Furl" userId="e1f063c0-f891-481e-b162-0b825299f031" providerId="ADAL" clId="{3E978C21-B3D0-4285-96BE-5AD851B5E1C0}" dt="2026-08-07T20:55:00.841" v="1069" actId="1076"/>
          <ac:spMkLst>
            <pc:docMk/>
            <pc:sldMk cId="2380401791" sldId="269"/>
            <ac:spMk id="18" creationId="{9DC9963E-6F9E-3A41-AB59-DD6DD7FAF339}"/>
          </ac:spMkLst>
        </pc:spChg>
        <pc:spChg chg="mod">
          <ac:chgData name="Chad Furl" userId="e1f063c0-f891-481e-b162-0b825299f031" providerId="ADAL" clId="{3E978C21-B3D0-4285-96BE-5AD851B5E1C0}" dt="2026-08-07T20:55:04.623" v="1070" actId="1076"/>
          <ac:spMkLst>
            <pc:docMk/>
            <pc:sldMk cId="2380401791" sldId="269"/>
            <ac:spMk id="19" creationId="{121398A2-796C-236F-E253-81BEEECDC19C}"/>
          </ac:spMkLst>
        </pc:spChg>
      </pc:sldChg>
      <pc:sldChg chg="delSp modSp add mod setBg">
        <pc:chgData name="Chad Furl" userId="e1f063c0-f891-481e-b162-0b825299f031" providerId="ADAL" clId="{3E978C21-B3D0-4285-96BE-5AD851B5E1C0}" dt="2026-08-07T20:51:47.664" v="1068" actId="478"/>
        <pc:sldMkLst>
          <pc:docMk/>
          <pc:sldMk cId="2519128241" sldId="270"/>
        </pc:sldMkLst>
        <pc:spChg chg="mod">
          <ac:chgData name="Chad Furl" userId="e1f063c0-f891-481e-b162-0b825299f031" providerId="ADAL" clId="{3E978C21-B3D0-4285-96BE-5AD851B5E1C0}" dt="2026-08-07T20:51:41.135" v="1067" actId="20577"/>
          <ac:spMkLst>
            <pc:docMk/>
            <pc:sldMk cId="2519128241" sldId="270"/>
            <ac:spMk id="6" creationId="{E3A4842A-0791-00EB-9B64-CD8A7AC1CF26}"/>
          </ac:spMkLst>
        </pc:spChg>
        <pc:spChg chg="del">
          <ac:chgData name="Chad Furl" userId="e1f063c0-f891-481e-b162-0b825299f031" providerId="ADAL" clId="{3E978C21-B3D0-4285-96BE-5AD851B5E1C0}" dt="2026-08-07T20:51:47.664" v="1068" actId="478"/>
          <ac:spMkLst>
            <pc:docMk/>
            <pc:sldMk cId="2519128241" sldId="270"/>
            <ac:spMk id="7" creationId="{A225CE8B-2755-E952-D1FF-B180822E71F8}"/>
          </ac:spMkLst>
        </pc:spChg>
        <pc:spChg chg="mod">
          <ac:chgData name="Chad Furl" userId="e1f063c0-f891-481e-b162-0b825299f031" providerId="ADAL" clId="{3E978C21-B3D0-4285-96BE-5AD851B5E1C0}" dt="2026-08-07T18:47:17.310" v="123" actId="27636"/>
          <ac:spMkLst>
            <pc:docMk/>
            <pc:sldMk cId="2519128241" sldId="270"/>
            <ac:spMk id="11" creationId="{89DA4B83-F5F2-18D3-C5FF-4A57DD118649}"/>
          </ac:spMkLst>
        </pc:spChg>
        <pc:spChg chg="mod">
          <ac:chgData name="Chad Furl" userId="e1f063c0-f891-481e-b162-0b825299f031" providerId="ADAL" clId="{3E978C21-B3D0-4285-96BE-5AD851B5E1C0}" dt="2026-08-07T18:47:17.311" v="124" actId="27636"/>
          <ac:spMkLst>
            <pc:docMk/>
            <pc:sldMk cId="2519128241" sldId="270"/>
            <ac:spMk id="19" creationId="{F677025A-7BB2-3810-EB7F-1607DEB8941D}"/>
          </ac:spMkLst>
        </pc:spChg>
      </pc:sldChg>
      <pc:sldChg chg="addSp delSp modSp add mod setBg">
        <pc:chgData name="Chad Furl" userId="e1f063c0-f891-481e-b162-0b825299f031" providerId="ADAL" clId="{3E978C21-B3D0-4285-96BE-5AD851B5E1C0}" dt="2026-08-07T20:39:15.122" v="716" actId="14100"/>
        <pc:sldMkLst>
          <pc:docMk/>
          <pc:sldMk cId="993099284" sldId="271"/>
        </pc:sldMkLst>
        <pc:spChg chg="mod">
          <ac:chgData name="Chad Furl" userId="e1f063c0-f891-481e-b162-0b825299f031" providerId="ADAL" clId="{3E978C21-B3D0-4285-96BE-5AD851B5E1C0}" dt="2026-08-07T20:39:15.122" v="716" actId="14100"/>
          <ac:spMkLst>
            <pc:docMk/>
            <pc:sldMk cId="993099284" sldId="271"/>
            <ac:spMk id="18" creationId="{D2A6D4BB-677C-AAC4-5CCC-9AE1B97B29D6}"/>
          </ac:spMkLst>
        </pc:spChg>
        <pc:spChg chg="mod">
          <ac:chgData name="Chad Furl" userId="e1f063c0-f891-481e-b162-0b825299f031" providerId="ADAL" clId="{3E978C21-B3D0-4285-96BE-5AD851B5E1C0}" dt="2026-08-07T20:38:45.851" v="707" actId="6549"/>
          <ac:spMkLst>
            <pc:docMk/>
            <pc:sldMk cId="993099284" sldId="271"/>
            <ac:spMk id="19" creationId="{1DF7DF68-D4A2-5BBD-D879-0FD52D9EBC9A}"/>
          </ac:spMkLst>
        </pc:spChg>
        <pc:picChg chg="add mod ord">
          <ac:chgData name="Chad Furl" userId="e1f063c0-f891-481e-b162-0b825299f031" providerId="ADAL" clId="{3E978C21-B3D0-4285-96BE-5AD851B5E1C0}" dt="2026-08-07T20:36:59.959" v="705" actId="171"/>
          <ac:picMkLst>
            <pc:docMk/>
            <pc:sldMk cId="993099284" sldId="271"/>
            <ac:picMk id="8" creationId="{C4B17342-F888-7D43-68A0-1A44F5C0AA97}"/>
          </ac:picMkLst>
        </pc:picChg>
        <pc:picChg chg="add del ord">
          <ac:chgData name="Chad Furl" userId="e1f063c0-f891-481e-b162-0b825299f031" providerId="ADAL" clId="{3E978C21-B3D0-4285-96BE-5AD851B5E1C0}" dt="2026-08-07T20:37:03.545" v="706" actId="478"/>
          <ac:picMkLst>
            <pc:docMk/>
            <pc:sldMk cId="993099284" sldId="271"/>
            <ac:picMk id="27" creationId="{92EE0277-6768-67E6-4E1C-4037E55EE099}"/>
          </ac:picMkLst>
        </pc:picChg>
      </pc:sldChg>
      <pc:sldChg chg="addSp delSp modSp add del mod setBg">
        <pc:chgData name="Chad Furl" userId="e1f063c0-f891-481e-b162-0b825299f031" providerId="ADAL" clId="{3E978C21-B3D0-4285-96BE-5AD851B5E1C0}" dt="2026-08-07T20:36:06.956" v="691" actId="47"/>
        <pc:sldMkLst>
          <pc:docMk/>
          <pc:sldMk cId="2932656433" sldId="271"/>
        </pc:sldMkLst>
        <pc:picChg chg="add del mod">
          <ac:chgData name="Chad Furl" userId="e1f063c0-f891-481e-b162-0b825299f031" providerId="ADAL" clId="{3E978C21-B3D0-4285-96BE-5AD851B5E1C0}" dt="2026-08-07T20:35:36.178" v="688" actId="478"/>
          <ac:picMkLst>
            <pc:docMk/>
            <pc:sldMk cId="2932656433" sldId="271"/>
            <ac:picMk id="8" creationId="{5730F361-8FE4-0ED0-3373-E402B0A72C3F}"/>
          </ac:picMkLst>
        </pc:picChg>
        <pc:picChg chg="add mod">
          <ac:chgData name="Chad Furl" userId="e1f063c0-f891-481e-b162-0b825299f031" providerId="ADAL" clId="{3E978C21-B3D0-4285-96BE-5AD851B5E1C0}" dt="2026-08-07T20:35:53.750" v="690" actId="1076"/>
          <ac:picMkLst>
            <pc:docMk/>
            <pc:sldMk cId="2932656433" sldId="271"/>
            <ac:picMk id="13" creationId="{16CB1E95-20A2-8D39-98B3-3A008A6FCFE4}"/>
          </ac:picMkLst>
        </pc:picChg>
        <pc:picChg chg="del">
          <ac:chgData name="Chad Furl" userId="e1f063c0-f891-481e-b162-0b825299f031" providerId="ADAL" clId="{3E978C21-B3D0-4285-96BE-5AD851B5E1C0}" dt="2026-08-07T20:26:47.538" v="435" actId="478"/>
          <ac:picMkLst>
            <pc:docMk/>
            <pc:sldMk cId="2932656433" sldId="271"/>
            <ac:picMk id="25" creationId="{71909B48-2678-31E8-5B63-4FBC55AB997F}"/>
          </ac:picMkLst>
        </pc:picChg>
      </pc:sldChg>
      <pc:sldChg chg="delSp modSp add mod setBg">
        <pc:chgData name="Chad Furl" userId="e1f063c0-f891-481e-b162-0b825299f031" providerId="ADAL" clId="{3E978C21-B3D0-4285-96BE-5AD851B5E1C0}" dt="2026-08-07T20:48:43.753" v="1040" actId="20577"/>
        <pc:sldMkLst>
          <pc:docMk/>
          <pc:sldMk cId="1633223258" sldId="272"/>
        </pc:sldMkLst>
        <pc:spChg chg="mod">
          <ac:chgData name="Chad Furl" userId="e1f063c0-f891-481e-b162-0b825299f031" providerId="ADAL" clId="{3E978C21-B3D0-4285-96BE-5AD851B5E1C0}" dt="2026-08-07T20:47:07.218" v="967" actId="20577"/>
          <ac:spMkLst>
            <pc:docMk/>
            <pc:sldMk cId="1633223258" sldId="272"/>
            <ac:spMk id="6" creationId="{9F7FD2DA-89F6-E720-A3C6-9DCB7B4D81EA}"/>
          </ac:spMkLst>
        </pc:spChg>
        <pc:spChg chg="del">
          <ac:chgData name="Chad Furl" userId="e1f063c0-f891-481e-b162-0b825299f031" providerId="ADAL" clId="{3E978C21-B3D0-4285-96BE-5AD851B5E1C0}" dt="2026-08-07T20:47:11.297" v="968" actId="478"/>
          <ac:spMkLst>
            <pc:docMk/>
            <pc:sldMk cId="1633223258" sldId="272"/>
            <ac:spMk id="7" creationId="{0E9E614A-0824-52AC-46F4-493DD469C986}"/>
          </ac:spMkLst>
        </pc:spChg>
        <pc:spChg chg="mod">
          <ac:chgData name="Chad Furl" userId="e1f063c0-f891-481e-b162-0b825299f031" providerId="ADAL" clId="{3E978C21-B3D0-4285-96BE-5AD851B5E1C0}" dt="2026-08-07T20:47:29.889" v="989" actId="20577"/>
          <ac:spMkLst>
            <pc:docMk/>
            <pc:sldMk cId="1633223258" sldId="272"/>
            <ac:spMk id="16" creationId="{FB103BBE-BF79-A383-5C99-903F6D6793B8}"/>
          </ac:spMkLst>
        </pc:spChg>
        <pc:spChg chg="mod">
          <ac:chgData name="Chad Furl" userId="e1f063c0-f891-481e-b162-0b825299f031" providerId="ADAL" clId="{3E978C21-B3D0-4285-96BE-5AD851B5E1C0}" dt="2026-08-07T20:47:40.481" v="1012" actId="20577"/>
          <ac:spMkLst>
            <pc:docMk/>
            <pc:sldMk cId="1633223258" sldId="272"/>
            <ac:spMk id="21" creationId="{BFC2D504-AFEB-8A94-98A6-483373B80913}"/>
          </ac:spMkLst>
        </pc:spChg>
        <pc:spChg chg="mod">
          <ac:chgData name="Chad Furl" userId="e1f063c0-f891-481e-b162-0b825299f031" providerId="ADAL" clId="{3E978C21-B3D0-4285-96BE-5AD851B5E1C0}" dt="2026-08-07T20:48:34.588" v="1030" actId="20577"/>
          <ac:spMkLst>
            <pc:docMk/>
            <pc:sldMk cId="1633223258" sldId="272"/>
            <ac:spMk id="26" creationId="{981E0544-8AFF-3055-7986-856865CF3B19}"/>
          </ac:spMkLst>
        </pc:spChg>
        <pc:spChg chg="mod">
          <ac:chgData name="Chad Furl" userId="e1f063c0-f891-481e-b162-0b825299f031" providerId="ADAL" clId="{3E978C21-B3D0-4285-96BE-5AD851B5E1C0}" dt="2026-08-07T20:48:43.753" v="1040" actId="20577"/>
          <ac:spMkLst>
            <pc:docMk/>
            <pc:sldMk cId="1633223258" sldId="272"/>
            <ac:spMk id="31" creationId="{B3ABC28D-58F3-B0F7-9636-F2C2F8AEF9D2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524834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8BB4AE-3ED0-5EEB-1432-3A4BA7C57E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F03E5E0-F4A2-A427-D076-A895C6DEDE9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6A7C5B7-21B8-3153-B7EE-8E147D62A66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45CCCC-B59F-3678-A3B9-C456D04251F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368722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C34DEA-34A5-D072-F60A-CF7241ADE6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4A1557C-60E0-76BB-E3C3-8E2133A448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776A2FD-77A5-7855-A2C8-A5577C168D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358A90-3726-17AD-ED79-8B66B0BE80D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852599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1E419B-5978-2D62-723F-7A6E94AE83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7F2CC6B-3F00-A06B-EAFC-1259915725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9AD3E01-B5D5-6D94-518A-C2BC29931E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2C9223-97D3-B495-FE26-E16CC1BF923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311431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48EC06-7174-C9A9-DFC7-7B33E0E13A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C28DDD5-C91B-82FF-6F14-6B92494F3AB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5916229-26E8-8A1E-F367-0E124DAD8E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FC35AB-B4BE-E4C9-E1B7-CD3A6781129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989037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ANDALAKE_MASTER">
    <p:bg>
      <p:bgPr>
        <a:solidFill>
          <a:srgbClr val="F6F2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32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40"/>
          </a:solidFill>
          <a:ln w="12700">
            <a:solidFill>
              <a:srgbClr val="12324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5166360"/>
            <a:ext cx="12191695" cy="1691640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5742432"/>
            <a:ext cx="12191695" cy="1115568"/>
          </a:xfrm>
          <a:prstGeom prst="rect">
            <a:avLst/>
          </a:prstGeom>
          <a:solidFill>
            <a:srgbClr val="4F7D4F">
              <a:alpha val="91000"/>
            </a:srgbClr>
          </a:solidFill>
          <a:ln w="12700">
            <a:solidFill>
              <a:srgbClr val="4F7D4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 rot="480000">
            <a:off x="7909560" y="73152"/>
            <a:ext cx="2834640" cy="2834640"/>
          </a:xfrm>
          <a:prstGeom prst="arc">
            <a:avLst/>
          </a:prstGeom>
          <a:solidFill>
            <a:srgbClr val="123240">
              <a:alpha val="0"/>
            </a:srgbClr>
          </a:solidFill>
          <a:ln w="25400">
            <a:solidFill>
              <a:srgbClr val="6CB7AF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 rot="660000">
            <a:off x="8549640" y="411480"/>
            <a:ext cx="2834640" cy="2834640"/>
          </a:xfrm>
          <a:prstGeom prst="arc">
            <a:avLst/>
          </a:prstGeom>
          <a:solidFill>
            <a:srgbClr val="123240">
              <a:alpha val="0"/>
            </a:srgbClr>
          </a:solidFill>
          <a:ln w="17780">
            <a:solidFill>
              <a:srgbClr val="8BAE66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58368" y="51206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6CB7AF"/>
                </a:solidFill>
              </a:rPr>
              <a:t>EAHCP</a:t>
            </a:r>
            <a:endParaRPr lang="en-US" sz="1100"/>
          </a:p>
        </p:txBody>
      </p:sp>
      <p:sp>
        <p:nvSpPr>
          <p:cNvPr id="8" name="Text 6"/>
          <p:cNvSpPr/>
          <p:nvPr/>
        </p:nvSpPr>
        <p:spPr>
          <a:xfrm>
            <a:off x="658367" y="1143000"/>
            <a:ext cx="7893961" cy="767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300" b="1">
                <a:solidFill>
                  <a:srgbClr val="FBFAF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Landa Lake Drought Management</a:t>
            </a:r>
          </a:p>
        </p:txBody>
      </p:sp>
      <p:sp>
        <p:nvSpPr>
          <p:cNvPr id="9" name="Text 7"/>
          <p:cNvSpPr/>
          <p:nvPr/>
        </p:nvSpPr>
        <p:spPr>
          <a:xfrm>
            <a:off x="676656" y="2148550"/>
            <a:ext cx="681783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900">
                <a:solidFill>
                  <a:srgbClr val="DDEDE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EAHCP Conservation Measure Activities Through 2020s Drought</a:t>
            </a:r>
            <a:endParaRPr lang="en-US" sz="1900"/>
          </a:p>
        </p:txBody>
      </p:sp>
      <p:sp>
        <p:nvSpPr>
          <p:cNvPr id="10" name="Shape 8"/>
          <p:cNvSpPr/>
          <p:nvPr/>
        </p:nvSpPr>
        <p:spPr>
          <a:xfrm>
            <a:off x="676656" y="3090672"/>
            <a:ext cx="3794760" cy="0"/>
          </a:xfrm>
          <a:prstGeom prst="line">
            <a:avLst/>
          </a:prstGeom>
          <a:noFill/>
          <a:ln w="11430">
            <a:solidFill>
              <a:srgbClr val="D6A13A">
                <a:alpha val="7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85800" y="3328416"/>
            <a:ext cx="5212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b="1">
                <a:solidFill>
                  <a:srgbClr val="6CB7AF"/>
                </a:solidFill>
              </a:rPr>
              <a:t>SCIENCE COMMITTEE IMPLEMENTATION MEETING</a:t>
            </a:r>
            <a:endParaRPr lang="en-US" sz="880"/>
          </a:p>
        </p:txBody>
      </p:sp>
      <p:sp>
        <p:nvSpPr>
          <p:cNvPr id="12" name="Text 10"/>
          <p:cNvSpPr/>
          <p:nvPr/>
        </p:nvSpPr>
        <p:spPr>
          <a:xfrm>
            <a:off x="685800" y="3685032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D8CFBA"/>
                </a:solidFill>
              </a:rPr>
              <a:t>Meeting date  ·  Location  ·  Presenter</a:t>
            </a:r>
            <a:endParaRPr lang="en-US" sz="1250"/>
          </a:p>
        </p:txBody>
      </p:sp>
      <p:sp>
        <p:nvSpPr>
          <p:cNvPr id="13" name="Text 11"/>
          <p:cNvSpPr/>
          <p:nvPr/>
        </p:nvSpPr>
        <p:spPr>
          <a:xfrm>
            <a:off x="685800" y="6355080"/>
            <a:ext cx="7680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40" b="1">
                <a:solidFill>
                  <a:srgbClr val="F4E9CF"/>
                </a:solidFill>
              </a:rPr>
              <a:t>CLEAR WATER / VEGETATION MOSAIC / HABITAT STEWARDSHIP</a:t>
            </a:r>
            <a:endParaRPr lang="en-US" sz="840"/>
          </a:p>
        </p:txBody>
      </p:sp>
      <p:sp>
        <p:nvSpPr>
          <p:cNvPr id="14" name="Text 12"/>
          <p:cNvSpPr/>
          <p:nvPr/>
        </p:nvSpPr>
        <p:spPr>
          <a:xfrm>
            <a:off x="11265408" y="6309360"/>
            <a:ext cx="3840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40" b="1">
                <a:solidFill>
                  <a:srgbClr val="F4E9CF"/>
                </a:solidFill>
              </a:rPr>
              <a:t>01</a:t>
            </a:r>
            <a:endParaRPr lang="en-US" sz="84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2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0079" y="347472"/>
            <a:ext cx="990409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>
                <a:solidFill>
                  <a:srgbClr val="12324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Edwards Aquifer Region Drought</a:t>
            </a:r>
            <a:endParaRPr lang="en-US" sz="2900"/>
          </a:p>
        </p:txBody>
      </p:sp>
      <p:sp>
        <p:nvSpPr>
          <p:cNvPr id="9" name="Text 7"/>
          <p:cNvSpPr/>
          <p:nvPr/>
        </p:nvSpPr>
        <p:spPr>
          <a:xfrm rot="10800000" flipV="1">
            <a:off x="11689079" y="561784"/>
            <a:ext cx="300113" cy="3082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750"/>
          </a:p>
        </p:txBody>
      </p:sp>
      <p:sp>
        <p:nvSpPr>
          <p:cNvPr id="10" name="Text 8"/>
          <p:cNvSpPr/>
          <p:nvPr/>
        </p:nvSpPr>
        <p:spPr>
          <a:xfrm>
            <a:off x="658368" y="1839087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123240"/>
                </a:solidFill>
              </a:rPr>
              <a:t>ROLLING MONTHLY SPRINGFLOW</a:t>
            </a:r>
            <a:endParaRPr lang="en-US" sz="900"/>
          </a:p>
        </p:txBody>
      </p:sp>
      <p:sp>
        <p:nvSpPr>
          <p:cNvPr id="18" name="Shape 16"/>
          <p:cNvSpPr/>
          <p:nvPr/>
        </p:nvSpPr>
        <p:spPr>
          <a:xfrm>
            <a:off x="658368" y="4878324"/>
            <a:ext cx="2084071" cy="1554480"/>
          </a:xfrm>
          <a:prstGeom prst="rect">
            <a:avLst/>
          </a:prstGeom>
          <a:solidFill>
            <a:srgbClr val="E6ECDD"/>
          </a:solidFill>
          <a:ln w="12700">
            <a:solidFill>
              <a:srgbClr val="E6ECD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40079" y="1988820"/>
            <a:ext cx="198958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>
                <a:solidFill>
                  <a:srgbClr val="243036"/>
                </a:solidFill>
              </a:rPr>
              <a:t>Current drought has reduced </a:t>
            </a:r>
            <a:r>
              <a:rPr lang="en-US" sz="1400" err="1">
                <a:solidFill>
                  <a:srgbClr val="243036"/>
                </a:solidFill>
              </a:rPr>
              <a:t>springflows</a:t>
            </a:r>
            <a:r>
              <a:rPr lang="en-US" sz="1400">
                <a:solidFill>
                  <a:srgbClr val="243036"/>
                </a:solidFill>
              </a:rPr>
              <a:t> at Comal to levels not experienced since the drought of record in the 1950s. </a:t>
            </a:r>
            <a:endParaRPr lang="en-US" sz="1400"/>
          </a:p>
        </p:txBody>
      </p:sp>
      <p:sp>
        <p:nvSpPr>
          <p:cNvPr id="19" name="Text 17"/>
          <p:cNvSpPr/>
          <p:nvPr/>
        </p:nvSpPr>
        <p:spPr>
          <a:xfrm>
            <a:off x="826989" y="4696587"/>
            <a:ext cx="1897160" cy="188595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b="1">
                <a:solidFill>
                  <a:srgbClr val="3B5B45"/>
                </a:solidFill>
              </a:rPr>
              <a:t>Daily mean </a:t>
            </a:r>
            <a:r>
              <a:rPr lang="en-US" sz="1100" b="1" err="1">
                <a:solidFill>
                  <a:srgbClr val="3B5B45"/>
                </a:solidFill>
              </a:rPr>
              <a:t>springflow</a:t>
            </a:r>
            <a:r>
              <a:rPr lang="en-US" sz="1100" b="1">
                <a:solidFill>
                  <a:srgbClr val="3B5B45"/>
                </a:solidFill>
              </a:rPr>
              <a:t> from USGS gage </a:t>
            </a:r>
            <a:r>
              <a:rPr lang="en-US" sz="1100" b="1" err="1">
                <a:solidFill>
                  <a:srgbClr val="3B5B45"/>
                </a:solidFill>
              </a:rPr>
              <a:t>xxxx</a:t>
            </a:r>
            <a:r>
              <a:rPr lang="en-US" sz="1100" b="1">
                <a:solidFill>
                  <a:srgbClr val="3B5B45"/>
                </a:solidFill>
              </a:rPr>
              <a:t> – Comal Springs, was aggregated to monthly means. Rolling averages represent the mean of consecutive monthly </a:t>
            </a:r>
            <a:r>
              <a:rPr lang="en-US" sz="1100" b="1" err="1">
                <a:solidFill>
                  <a:srgbClr val="3B5B45"/>
                </a:solidFill>
              </a:rPr>
              <a:t>springflow</a:t>
            </a:r>
            <a:r>
              <a:rPr lang="en-US" sz="1100" b="1">
                <a:solidFill>
                  <a:srgbClr val="3B5B45"/>
                </a:solidFill>
              </a:rPr>
              <a:t> values over the indicated 1- to 60-month periods.</a:t>
            </a:r>
            <a:endParaRPr lang="en-US" sz="1100"/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5CE0C189-EFD5-914D-132E-BF643B42DF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00797" y="1078992"/>
            <a:ext cx="8714250" cy="546812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33EE9C-B67E-4ADE-7CEA-F0E3D47E92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AC296FDF-3C67-9C25-D6C7-21C60D5DA4F8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653FAF78-78FA-1556-97A1-41B6D56A8C94}"/>
              </a:ext>
            </a:extLst>
          </p:cNvPr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BEC42DB2-EAB7-02B5-F469-5A516F0025B1}"/>
              </a:ext>
            </a:extLst>
          </p:cNvPr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75579145-538C-A9D9-689D-48FCA0605CB3}"/>
              </a:ext>
            </a:extLst>
          </p:cNvPr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D3E6581E-EFA3-E246-7892-E6AA7EFBD709}"/>
              </a:ext>
            </a:extLst>
          </p:cNvPr>
          <p:cNvSpPr/>
          <p:nvPr/>
        </p:nvSpPr>
        <p:spPr>
          <a:xfrm>
            <a:off x="640079" y="347472"/>
            <a:ext cx="990409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>
                <a:solidFill>
                  <a:srgbClr val="12324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Edwards Aquifer Region Drought</a:t>
            </a:r>
            <a:endParaRPr lang="en-US" sz="290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F050A3BC-C498-7F83-CFAB-0451C477BD8B}"/>
              </a:ext>
            </a:extLst>
          </p:cNvPr>
          <p:cNvSpPr/>
          <p:nvPr/>
        </p:nvSpPr>
        <p:spPr>
          <a:xfrm rot="10800000" flipV="1">
            <a:off x="11689079" y="561784"/>
            <a:ext cx="300113" cy="3082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75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9ED5B2BB-D892-D77B-BD4F-5AC3590C5A87}"/>
              </a:ext>
            </a:extLst>
          </p:cNvPr>
          <p:cNvSpPr/>
          <p:nvPr/>
        </p:nvSpPr>
        <p:spPr>
          <a:xfrm>
            <a:off x="658368" y="1839087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123240"/>
                </a:solidFill>
              </a:rPr>
              <a:t>ROLLING MONTHLY SPRINGFLOW</a:t>
            </a:r>
            <a:endParaRPr lang="en-US" sz="90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751DAD67-597C-D75D-8739-D8421A61DCEF}"/>
              </a:ext>
            </a:extLst>
          </p:cNvPr>
          <p:cNvSpPr/>
          <p:nvPr/>
        </p:nvSpPr>
        <p:spPr>
          <a:xfrm>
            <a:off x="640079" y="1988820"/>
            <a:ext cx="198958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>
                <a:solidFill>
                  <a:srgbClr val="243036"/>
                </a:solidFill>
              </a:rPr>
              <a:t>Current drought has reduced </a:t>
            </a:r>
            <a:r>
              <a:rPr lang="en-US" sz="1400" err="1">
                <a:solidFill>
                  <a:srgbClr val="243036"/>
                </a:solidFill>
              </a:rPr>
              <a:t>springflows</a:t>
            </a:r>
            <a:r>
              <a:rPr lang="en-US" sz="1400">
                <a:solidFill>
                  <a:srgbClr val="243036"/>
                </a:solidFill>
              </a:rPr>
              <a:t> at Comal to levels not experienced since the drought of record in the 1950s. </a:t>
            </a:r>
            <a:endParaRPr lang="en-US" sz="1400"/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D2A6D4BB-677C-AAC4-5CCC-9AE1B97B29D6}"/>
              </a:ext>
            </a:extLst>
          </p:cNvPr>
          <p:cNvSpPr/>
          <p:nvPr/>
        </p:nvSpPr>
        <p:spPr>
          <a:xfrm>
            <a:off x="658368" y="4333875"/>
            <a:ext cx="2084071" cy="2098929"/>
          </a:xfrm>
          <a:prstGeom prst="rect">
            <a:avLst/>
          </a:prstGeom>
          <a:solidFill>
            <a:srgbClr val="E6ECDD"/>
          </a:solidFill>
          <a:ln w="12700">
            <a:solidFill>
              <a:srgbClr val="E6ECDD">
                <a:alpha val="0"/>
              </a:srgbClr>
            </a:solidFill>
            <a:prstDash val="solid"/>
          </a:ln>
        </p:spPr>
        <p:txBody>
          <a:bodyPr/>
          <a:lstStyle/>
          <a:p>
            <a:r>
              <a:rPr lang="en-US" sz="1050" b="1"/>
              <a:t>Points show the 50 lowest rolling-average </a:t>
            </a:r>
            <a:r>
              <a:rPr lang="en-US" sz="1050" b="1" err="1"/>
              <a:t>springflow</a:t>
            </a:r>
            <a:r>
              <a:rPr lang="en-US" sz="1050" b="1"/>
              <a:t> values for each averaging duration. Rolling periods overlap; for example, consecutive 12-month values may represent Jan–Dec 2024, Feb 2024–Jan 2025, and Mar 2024–Feb 2025. Colors identify periods ending in the 1950s and 2020s; all other periods are shown in black.</a:t>
            </a:r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1DF7DF68-D4A2-5BBD-D879-0FD52D9EBC9A}"/>
              </a:ext>
            </a:extLst>
          </p:cNvPr>
          <p:cNvSpPr/>
          <p:nvPr/>
        </p:nvSpPr>
        <p:spPr>
          <a:xfrm>
            <a:off x="826989" y="4696587"/>
            <a:ext cx="1897160" cy="188595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sz="110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4B17342-F888-7D43-68A0-1A44F5C0AA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00797" y="1078991"/>
            <a:ext cx="8714250" cy="54681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30992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AEAE7D-F3BF-BC6C-64CD-3E1666E446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0D4D27D2-6BFC-141C-9345-8E84C9920965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AE7B9C99-11D2-60C4-07FD-29BA472712CD}"/>
              </a:ext>
            </a:extLst>
          </p:cNvPr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0C40EF58-1296-F28A-D879-74B31A9DF301}"/>
              </a:ext>
            </a:extLst>
          </p:cNvPr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62FABB08-9B17-E06E-768D-19C762829D8C}"/>
              </a:ext>
            </a:extLst>
          </p:cNvPr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DC42AE2C-882F-5A75-1DC4-2AF844F0BAFF}"/>
              </a:ext>
            </a:extLst>
          </p:cNvPr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>
                <a:solidFill>
                  <a:srgbClr val="12324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Landa Lake Drought Management</a:t>
            </a:r>
            <a:endParaRPr lang="en-US" sz="290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EBB4E4E4-8678-0C63-57E9-97E82469C71D}"/>
              </a:ext>
            </a:extLst>
          </p:cNvPr>
          <p:cNvSpPr/>
          <p:nvPr/>
        </p:nvSpPr>
        <p:spPr>
          <a:xfrm>
            <a:off x="502920" y="648309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CORE MESSAGE</a:t>
            </a:r>
            <a:endParaRPr lang="en-US" sz="75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53683D44-6224-5132-57B7-7464BE398754}"/>
              </a:ext>
            </a:extLst>
          </p:cNvPr>
          <p:cNvSpPr/>
          <p:nvPr/>
        </p:nvSpPr>
        <p:spPr>
          <a:xfrm>
            <a:off x="11475720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75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E301E2B6-8BD9-A86A-B91D-C6B419F1BBC2}"/>
              </a:ext>
            </a:extLst>
          </p:cNvPr>
          <p:cNvSpPr/>
          <p:nvPr/>
        </p:nvSpPr>
        <p:spPr>
          <a:xfrm>
            <a:off x="658368" y="1463040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123240"/>
                </a:solidFill>
              </a:rPr>
              <a:t>PRESSURE POINTS</a:t>
            </a:r>
            <a:endParaRPr lang="en-US" sz="90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82639B2B-32B4-C710-4820-31EC76D09778}"/>
              </a:ext>
            </a:extLst>
          </p:cNvPr>
          <p:cNvSpPr/>
          <p:nvPr/>
        </p:nvSpPr>
        <p:spPr>
          <a:xfrm>
            <a:off x="640080" y="1830515"/>
            <a:ext cx="2789682" cy="131330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50">
                <a:solidFill>
                  <a:srgbClr val="243036"/>
                </a:solidFill>
              </a:rPr>
              <a:t>Wetted Area/Lake Level</a:t>
            </a:r>
          </a:p>
          <a:p>
            <a:pPr marL="0" indent="0">
              <a:buNone/>
            </a:pPr>
            <a:r>
              <a:rPr lang="en-US" sz="1650">
                <a:solidFill>
                  <a:srgbClr val="243036"/>
                </a:solidFill>
              </a:rPr>
              <a:t>Dissolved Oxygen</a:t>
            </a:r>
          </a:p>
          <a:p>
            <a:pPr marL="0" indent="0">
              <a:buNone/>
            </a:pPr>
            <a:r>
              <a:rPr lang="en-US" sz="1650">
                <a:solidFill>
                  <a:srgbClr val="243036"/>
                </a:solidFill>
              </a:rPr>
              <a:t>Temperature</a:t>
            </a:r>
          </a:p>
          <a:p>
            <a:pPr marL="0" indent="0">
              <a:buNone/>
            </a:pPr>
            <a:r>
              <a:rPr lang="en-US" sz="1650">
                <a:solidFill>
                  <a:srgbClr val="243036"/>
                </a:solidFill>
              </a:rPr>
              <a:t>Vegetation</a:t>
            </a:r>
          </a:p>
          <a:p>
            <a:pPr marL="0" indent="0">
              <a:buNone/>
            </a:pPr>
            <a:r>
              <a:rPr lang="en-US" sz="1650">
                <a:solidFill>
                  <a:srgbClr val="243036"/>
                </a:solidFill>
              </a:rPr>
              <a:t>Culvert Works – DS Flow</a:t>
            </a:r>
            <a:endParaRPr lang="en-US" sz="1650"/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0CA17D12-CBD6-78A5-A4EE-0BD9A1591F29}"/>
              </a:ext>
            </a:extLst>
          </p:cNvPr>
          <p:cNvSpPr/>
          <p:nvPr/>
        </p:nvSpPr>
        <p:spPr>
          <a:xfrm>
            <a:off x="4892040" y="1417320"/>
            <a:ext cx="6355080" cy="4133088"/>
          </a:xfrm>
          <a:prstGeom prst="rect">
            <a:avLst/>
          </a:prstGeom>
          <a:solidFill>
            <a:srgbClr val="FBFAF4"/>
          </a:solidFill>
          <a:ln w="12700">
            <a:solidFill>
              <a:srgbClr val="A99B80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B51E6E3F-A174-E4EC-FF33-AB27B4BB7E3E}"/>
              </a:ext>
            </a:extLst>
          </p:cNvPr>
          <p:cNvSpPr/>
          <p:nvPr/>
        </p:nvSpPr>
        <p:spPr>
          <a:xfrm>
            <a:off x="5093208" y="1947672"/>
            <a:ext cx="59527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>
                <a:solidFill>
                  <a:srgbClr val="65737A"/>
                </a:solidFill>
              </a:rPr>
              <a:t>Need a map here </a:t>
            </a:r>
            <a:r>
              <a:rPr lang="en-US" sz="1050" err="1">
                <a:solidFill>
                  <a:srgbClr val="65737A"/>
                </a:solidFill>
              </a:rPr>
              <a:t>fo</a:t>
            </a:r>
            <a:r>
              <a:rPr lang="en-US" sz="1050">
                <a:solidFill>
                  <a:srgbClr val="65737A"/>
                </a:solidFill>
              </a:rPr>
              <a:t> sure</a:t>
            </a:r>
            <a:endParaRPr lang="en-US" sz="1050"/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890D093B-9706-7693-53AC-BCEEB664754B}"/>
              </a:ext>
            </a:extLst>
          </p:cNvPr>
          <p:cNvSpPr/>
          <p:nvPr/>
        </p:nvSpPr>
        <p:spPr>
          <a:xfrm>
            <a:off x="5120640" y="5166360"/>
            <a:ext cx="5897880" cy="0"/>
          </a:xfrm>
          <a:prstGeom prst="line">
            <a:avLst/>
          </a:prstGeom>
          <a:noFill/>
          <a:ln w="17780">
            <a:solidFill>
              <a:srgbClr val="6CB7AF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BBFB4C25-9684-FFBD-F0D8-8073F7FAD0FA}"/>
              </a:ext>
            </a:extLst>
          </p:cNvPr>
          <p:cNvSpPr/>
          <p:nvPr/>
        </p:nvSpPr>
        <p:spPr>
          <a:xfrm>
            <a:off x="5102352" y="5047488"/>
            <a:ext cx="2834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>
                <a:solidFill>
                  <a:srgbClr val="65737A"/>
                </a:solidFill>
              </a:rPr>
              <a:t>TIME / REACH / VEGETATION TYPE</a:t>
            </a:r>
            <a:endParaRPr lang="en-US" sz="72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5916DA6F-4FF3-1BB7-BC21-EF7A2CCEC11B}"/>
              </a:ext>
            </a:extLst>
          </p:cNvPr>
          <p:cNvSpPr/>
          <p:nvPr/>
        </p:nvSpPr>
        <p:spPr>
          <a:xfrm>
            <a:off x="10030968" y="5047488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b="1">
                <a:solidFill>
                  <a:srgbClr val="65737A"/>
                </a:solidFill>
              </a:rPr>
              <a:t>MEASURE</a:t>
            </a:r>
            <a:endParaRPr lang="en-US" sz="720"/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9DC9963E-6F9E-3A41-AB59-DD6DD7FAF339}"/>
              </a:ext>
            </a:extLst>
          </p:cNvPr>
          <p:cNvSpPr/>
          <p:nvPr/>
        </p:nvSpPr>
        <p:spPr>
          <a:xfrm>
            <a:off x="4892040" y="5888736"/>
            <a:ext cx="4160520" cy="438912"/>
          </a:xfrm>
          <a:prstGeom prst="rect">
            <a:avLst/>
          </a:prstGeom>
          <a:solidFill>
            <a:srgbClr val="E6ECDD"/>
          </a:solidFill>
          <a:ln w="12700">
            <a:solidFill>
              <a:srgbClr val="E6ECD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121398A2-796C-236F-E253-81BEEECDC19C}"/>
              </a:ext>
            </a:extLst>
          </p:cNvPr>
          <p:cNvSpPr/>
          <p:nvPr/>
        </p:nvSpPr>
        <p:spPr>
          <a:xfrm>
            <a:off x="4983480" y="6007608"/>
            <a:ext cx="3867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20000"/>
          </a:bodyPr>
          <a:lstStyle/>
          <a:p>
            <a:pPr marL="0" indent="0">
              <a:buNone/>
            </a:pPr>
            <a:r>
              <a:rPr lang="en-US" sz="950" b="1">
                <a:solidFill>
                  <a:srgbClr val="3B5B45"/>
                </a:solidFill>
              </a:rPr>
              <a:t>TAKEAWAY  ·  Explain what changed, why it matters for habitat, and what the program is doing about it.</a:t>
            </a:r>
            <a:endParaRPr lang="en-US" sz="950"/>
          </a:p>
        </p:txBody>
      </p:sp>
    </p:spTree>
    <p:extLst>
      <p:ext uri="{BB962C8B-B14F-4D97-AF65-F5344CB8AC3E}">
        <p14:creationId xmlns:p14="http://schemas.microsoft.com/office/powerpoint/2010/main" val="23804017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19222E-5F88-045A-7A92-E439DB9954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BCBE48CA-67CA-0030-785E-7FBD16743CB6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D3BC1CC2-4CB2-DB9B-AC78-5CCCE9A1BA28}"/>
              </a:ext>
            </a:extLst>
          </p:cNvPr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A554867E-6893-8A9D-E919-746D900D621C}"/>
              </a:ext>
            </a:extLst>
          </p:cNvPr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F8819200-7EF6-03AC-266D-4BD4DB482487}"/>
              </a:ext>
            </a:extLst>
          </p:cNvPr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9F7FD2DA-89F6-E720-A3C6-9DCB7B4D81EA}"/>
              </a:ext>
            </a:extLst>
          </p:cNvPr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>
                <a:solidFill>
                  <a:srgbClr val="12324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Management Tools Available</a:t>
            </a:r>
            <a:endParaRPr lang="en-US" sz="290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5CC52B1B-8342-8A9C-13FE-9BB150539EFD}"/>
              </a:ext>
            </a:extLst>
          </p:cNvPr>
          <p:cNvSpPr/>
          <p:nvPr/>
        </p:nvSpPr>
        <p:spPr>
          <a:xfrm>
            <a:off x="502920" y="648309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MONITORING STATUS</a:t>
            </a:r>
            <a:endParaRPr lang="en-US" sz="75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0E7DCEDF-8CE8-35E7-308D-F554A5AFE79A}"/>
              </a:ext>
            </a:extLst>
          </p:cNvPr>
          <p:cNvSpPr/>
          <p:nvPr/>
        </p:nvSpPr>
        <p:spPr>
          <a:xfrm>
            <a:off x="11475720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</a:t>
            </a:r>
            <a:endParaRPr lang="en-US" sz="750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AB323CF4-7222-6591-7854-921274DAE33C}"/>
              </a:ext>
            </a:extLst>
          </p:cNvPr>
          <p:cNvSpPr/>
          <p:nvPr/>
        </p:nvSpPr>
        <p:spPr>
          <a:xfrm>
            <a:off x="658368" y="1463040"/>
            <a:ext cx="10561320" cy="384048"/>
          </a:xfrm>
          <a:prstGeom prst="rect">
            <a:avLst/>
          </a:prstGeom>
          <a:solidFill>
            <a:srgbClr val="123240"/>
          </a:solidFill>
          <a:ln w="12700">
            <a:solidFill>
              <a:srgbClr val="12324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5D40C86F-2839-041A-156D-F11FD1F8FB56}"/>
              </a:ext>
            </a:extLst>
          </p:cNvPr>
          <p:cNvSpPr/>
          <p:nvPr/>
        </p:nvSpPr>
        <p:spPr>
          <a:xfrm>
            <a:off x="768096" y="1581912"/>
            <a:ext cx="21031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FBFAF4"/>
                </a:solidFill>
              </a:rPr>
              <a:t>COMPONENT</a:t>
            </a:r>
            <a:endParaRPr lang="en-US" sz="75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982E5759-D8B9-FAD7-7C87-6BA5B46E869A}"/>
              </a:ext>
            </a:extLst>
          </p:cNvPr>
          <p:cNvSpPr/>
          <p:nvPr/>
        </p:nvSpPr>
        <p:spPr>
          <a:xfrm>
            <a:off x="3081528" y="1581912"/>
            <a:ext cx="41148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FBFAF4"/>
                </a:solidFill>
              </a:rPr>
              <a:t>PURPOSE IN LANDA LAKE</a:t>
            </a:r>
            <a:endParaRPr lang="en-US" sz="75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492A722C-7F79-1CCE-E390-74266FE59309}"/>
              </a:ext>
            </a:extLst>
          </p:cNvPr>
          <p:cNvSpPr/>
          <p:nvPr/>
        </p:nvSpPr>
        <p:spPr>
          <a:xfrm>
            <a:off x="7452360" y="1581912"/>
            <a:ext cx="18288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FBFAF4"/>
                </a:solidFill>
              </a:rPr>
              <a:t>CURRENT STATUS</a:t>
            </a:r>
            <a:endParaRPr lang="en-US" sz="75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53D5CE5F-1BC7-CC8E-7C35-6BDC5115264B}"/>
              </a:ext>
            </a:extLst>
          </p:cNvPr>
          <p:cNvSpPr/>
          <p:nvPr/>
        </p:nvSpPr>
        <p:spPr>
          <a:xfrm>
            <a:off x="9546336" y="1581912"/>
            <a:ext cx="1417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FBFAF4"/>
                </a:solidFill>
              </a:rPr>
              <a:t>NEXT USE</a:t>
            </a:r>
            <a:endParaRPr lang="en-US" sz="750"/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0BE5B2C6-9FD5-FC2A-39B3-1B8330B24E40}"/>
              </a:ext>
            </a:extLst>
          </p:cNvPr>
          <p:cNvSpPr/>
          <p:nvPr/>
        </p:nvSpPr>
        <p:spPr>
          <a:xfrm>
            <a:off x="658368" y="1883664"/>
            <a:ext cx="10561320" cy="713232"/>
          </a:xfrm>
          <a:prstGeom prst="rect">
            <a:avLst/>
          </a:prstGeom>
          <a:solidFill>
            <a:srgbClr val="FBFAF4"/>
          </a:solidFill>
          <a:ln w="5080">
            <a:solidFill>
              <a:srgbClr val="D8CFBA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FB103BBE-BF79-A383-5C99-903F6D6793B8}"/>
              </a:ext>
            </a:extLst>
          </p:cNvPr>
          <p:cNvSpPr/>
          <p:nvPr/>
        </p:nvSpPr>
        <p:spPr>
          <a:xfrm>
            <a:off x="768096" y="2048256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 b="1">
                <a:solidFill>
                  <a:srgbClr val="123240"/>
                </a:solidFill>
              </a:rPr>
              <a:t>Vegetation Management</a:t>
            </a:r>
            <a:endParaRPr lang="en-US" sz="122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8E9E3824-B257-C3E5-AF67-B08DA4A079D3}"/>
              </a:ext>
            </a:extLst>
          </p:cNvPr>
          <p:cNvSpPr/>
          <p:nvPr/>
        </p:nvSpPr>
        <p:spPr>
          <a:xfrm>
            <a:off x="3081528" y="2029968"/>
            <a:ext cx="3886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30">
                <a:solidFill>
                  <a:srgbClr val="243036"/>
                </a:solidFill>
              </a:rPr>
              <a:t>Describe the mechanism and ecological value of the survey product.</a:t>
            </a:r>
            <a:endParaRPr lang="en-US" sz="1030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860C13CF-699B-146C-A743-3ACD2C81B8C8}"/>
              </a:ext>
            </a:extLst>
          </p:cNvPr>
          <p:cNvSpPr/>
          <p:nvPr/>
        </p:nvSpPr>
        <p:spPr>
          <a:xfrm>
            <a:off x="7470648" y="2066544"/>
            <a:ext cx="1005840" cy="256032"/>
          </a:xfrm>
          <a:prstGeom prst="rect">
            <a:avLst/>
          </a:prstGeom>
          <a:solidFill>
            <a:srgbClr val="3B5B45"/>
          </a:solidFill>
          <a:ln>
            <a:solidFill>
              <a:srgbClr val="3B5B45">
                <a:alpha val="0"/>
              </a:srgbClr>
            </a:solidFill>
          </a:ln>
        </p:spPr>
        <p:txBody>
          <a:bodyPr wrap="square" lIns="381" tIns="381" rIns="381" bIns="381" rtlCol="0" anchor="ctr"/>
          <a:lstStyle/>
          <a:p>
            <a:pPr marL="0" indent="0" algn="ctr">
              <a:buNone/>
            </a:pPr>
            <a:r>
              <a:rPr lang="en-US" sz="850" b="1">
                <a:solidFill>
                  <a:srgbClr val="FBFAF4"/>
                </a:solidFill>
              </a:rPr>
              <a:t>ON TRACK</a:t>
            </a:r>
            <a:endParaRPr lang="en-US" sz="850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84C20417-99D6-E97F-6BCC-622828571F6E}"/>
              </a:ext>
            </a:extLst>
          </p:cNvPr>
          <p:cNvSpPr/>
          <p:nvPr/>
        </p:nvSpPr>
        <p:spPr>
          <a:xfrm>
            <a:off x="9573768" y="2075688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20" b="1">
                <a:solidFill>
                  <a:srgbClr val="243036"/>
                </a:solidFill>
              </a:rPr>
              <a:t>Briefing</a:t>
            </a:r>
            <a:endParaRPr lang="en-US" sz="1120"/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57E50390-417D-3CD9-B919-F246773793AE}"/>
              </a:ext>
            </a:extLst>
          </p:cNvPr>
          <p:cNvSpPr/>
          <p:nvPr/>
        </p:nvSpPr>
        <p:spPr>
          <a:xfrm>
            <a:off x="658368" y="2688336"/>
            <a:ext cx="10561320" cy="713232"/>
          </a:xfrm>
          <a:prstGeom prst="rect">
            <a:avLst/>
          </a:prstGeom>
          <a:solidFill>
            <a:srgbClr val="F2EFE4"/>
          </a:solidFill>
          <a:ln w="5080">
            <a:solidFill>
              <a:srgbClr val="D8CFBA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BFC2D504-AFEB-8A94-98A6-483373B80913}"/>
              </a:ext>
            </a:extLst>
          </p:cNvPr>
          <p:cNvSpPr/>
          <p:nvPr/>
        </p:nvSpPr>
        <p:spPr>
          <a:xfrm>
            <a:off x="768096" y="28529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 b="1">
                <a:solidFill>
                  <a:srgbClr val="123240"/>
                </a:solidFill>
              </a:rPr>
              <a:t>Flow Split Management</a:t>
            </a:r>
            <a:endParaRPr lang="en-US" sz="122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E2CE3616-86E3-64AA-F10C-F48174DFDFD5}"/>
              </a:ext>
            </a:extLst>
          </p:cNvPr>
          <p:cNvSpPr/>
          <p:nvPr/>
        </p:nvSpPr>
        <p:spPr>
          <a:xfrm>
            <a:off x="3081528" y="2834640"/>
            <a:ext cx="3886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30">
                <a:solidFill>
                  <a:srgbClr val="243036"/>
                </a:solidFill>
              </a:rPr>
              <a:t>Describe what the field observation adds to the mapped data.</a:t>
            </a:r>
            <a:endParaRPr lang="en-US" sz="1030"/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62EF4474-BCE0-77BA-877E-F6B5E558D03E}"/>
              </a:ext>
            </a:extLst>
          </p:cNvPr>
          <p:cNvSpPr/>
          <p:nvPr/>
        </p:nvSpPr>
        <p:spPr>
          <a:xfrm>
            <a:off x="7470648" y="2871216"/>
            <a:ext cx="1005840" cy="256032"/>
          </a:xfrm>
          <a:prstGeom prst="rect">
            <a:avLst/>
          </a:prstGeom>
          <a:solidFill>
            <a:srgbClr val="D6A13A"/>
          </a:solidFill>
          <a:ln>
            <a:solidFill>
              <a:srgbClr val="D6A13A">
                <a:alpha val="0"/>
              </a:srgbClr>
            </a:solidFill>
          </a:ln>
        </p:spPr>
        <p:txBody>
          <a:bodyPr wrap="square" lIns="381" tIns="381" rIns="381" bIns="381" rtlCol="0" anchor="ctr"/>
          <a:lstStyle/>
          <a:p>
            <a:pPr marL="0" indent="0" algn="ctr">
              <a:buNone/>
            </a:pPr>
            <a:r>
              <a:rPr lang="en-US" sz="850" b="1">
                <a:solidFill>
                  <a:srgbClr val="FBFAF4"/>
                </a:solidFill>
              </a:rPr>
              <a:t>WATCH</a:t>
            </a:r>
            <a:endParaRPr lang="en-US" sz="850"/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520BA96C-15AB-258D-20C4-FF1BD594A615}"/>
              </a:ext>
            </a:extLst>
          </p:cNvPr>
          <p:cNvSpPr/>
          <p:nvPr/>
        </p:nvSpPr>
        <p:spPr>
          <a:xfrm>
            <a:off x="9573768" y="2880360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20" b="1">
                <a:solidFill>
                  <a:srgbClr val="243036"/>
                </a:solidFill>
              </a:rPr>
              <a:t>QA/QC</a:t>
            </a:r>
            <a:endParaRPr lang="en-US" sz="1120"/>
          </a:p>
        </p:txBody>
      </p:sp>
      <p:sp>
        <p:nvSpPr>
          <p:cNvPr id="25" name="Shape 23">
            <a:extLst>
              <a:ext uri="{FF2B5EF4-FFF2-40B4-BE49-F238E27FC236}">
                <a16:creationId xmlns:a16="http://schemas.microsoft.com/office/drawing/2014/main" id="{AA17EFCA-B2C3-43DD-7EF4-981AA6CF01BD}"/>
              </a:ext>
            </a:extLst>
          </p:cNvPr>
          <p:cNvSpPr/>
          <p:nvPr/>
        </p:nvSpPr>
        <p:spPr>
          <a:xfrm>
            <a:off x="658368" y="3493008"/>
            <a:ext cx="10561320" cy="713232"/>
          </a:xfrm>
          <a:prstGeom prst="rect">
            <a:avLst/>
          </a:prstGeom>
          <a:solidFill>
            <a:srgbClr val="FBFAF4"/>
          </a:solidFill>
          <a:ln w="5080">
            <a:solidFill>
              <a:srgbClr val="D8CFBA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981E0544-8AFF-3055-7986-856865CF3B19}"/>
              </a:ext>
            </a:extLst>
          </p:cNvPr>
          <p:cNvSpPr/>
          <p:nvPr/>
        </p:nvSpPr>
        <p:spPr>
          <a:xfrm>
            <a:off x="768096" y="365760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 b="1">
                <a:solidFill>
                  <a:srgbClr val="123240"/>
                </a:solidFill>
              </a:rPr>
              <a:t>Riparian </a:t>
            </a:r>
            <a:r>
              <a:rPr lang="en-US" sz="1220" b="1" err="1">
                <a:solidFill>
                  <a:srgbClr val="123240"/>
                </a:solidFill>
              </a:rPr>
              <a:t>Managment</a:t>
            </a:r>
            <a:endParaRPr lang="en-US" sz="1220"/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34D7B53C-B0F4-6673-9484-DEA63CC051E6}"/>
              </a:ext>
            </a:extLst>
          </p:cNvPr>
          <p:cNvSpPr/>
          <p:nvPr/>
        </p:nvSpPr>
        <p:spPr>
          <a:xfrm>
            <a:off x="3081528" y="3639312"/>
            <a:ext cx="3886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30">
                <a:solidFill>
                  <a:srgbClr val="243036"/>
                </a:solidFill>
              </a:rPr>
              <a:t>Describe the interpretive value for clarity, flow, or habitat condition.</a:t>
            </a:r>
            <a:endParaRPr lang="en-US" sz="1030"/>
          </a:p>
        </p:txBody>
      </p:sp>
      <p:sp>
        <p:nvSpPr>
          <p:cNvPr id="28" name="Text 26">
            <a:extLst>
              <a:ext uri="{FF2B5EF4-FFF2-40B4-BE49-F238E27FC236}">
                <a16:creationId xmlns:a16="http://schemas.microsoft.com/office/drawing/2014/main" id="{0569BFCE-4FDA-03D8-CE39-CDF3B9F9B97E}"/>
              </a:ext>
            </a:extLst>
          </p:cNvPr>
          <p:cNvSpPr/>
          <p:nvPr/>
        </p:nvSpPr>
        <p:spPr>
          <a:xfrm>
            <a:off x="7470648" y="3675888"/>
            <a:ext cx="1005840" cy="256032"/>
          </a:xfrm>
          <a:prstGeom prst="rect">
            <a:avLst/>
          </a:prstGeom>
          <a:solidFill>
            <a:srgbClr val="4F7D4F"/>
          </a:solidFill>
          <a:ln>
            <a:solidFill>
              <a:srgbClr val="4F7D4F">
                <a:alpha val="0"/>
              </a:srgbClr>
            </a:solidFill>
          </a:ln>
        </p:spPr>
        <p:txBody>
          <a:bodyPr wrap="square" lIns="381" tIns="381" rIns="381" bIns="381" rtlCol="0" anchor="ctr"/>
          <a:lstStyle/>
          <a:p>
            <a:pPr marL="0" indent="0" algn="ctr">
              <a:buNone/>
            </a:pPr>
            <a:r>
              <a:rPr lang="en-US" sz="850" b="1">
                <a:solidFill>
                  <a:srgbClr val="FBFAF4"/>
                </a:solidFill>
              </a:rPr>
              <a:t>ACTIVE</a:t>
            </a:r>
            <a:endParaRPr lang="en-US" sz="850"/>
          </a:p>
        </p:txBody>
      </p:sp>
      <p:sp>
        <p:nvSpPr>
          <p:cNvPr id="29" name="Text 27">
            <a:extLst>
              <a:ext uri="{FF2B5EF4-FFF2-40B4-BE49-F238E27FC236}">
                <a16:creationId xmlns:a16="http://schemas.microsoft.com/office/drawing/2014/main" id="{380869DA-E195-C945-747F-D573FB8AC861}"/>
              </a:ext>
            </a:extLst>
          </p:cNvPr>
          <p:cNvSpPr/>
          <p:nvPr/>
        </p:nvSpPr>
        <p:spPr>
          <a:xfrm>
            <a:off x="9573768" y="3685032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20" b="1">
                <a:solidFill>
                  <a:srgbClr val="243036"/>
                </a:solidFill>
              </a:rPr>
              <a:t>Context</a:t>
            </a:r>
            <a:endParaRPr lang="en-US" sz="1120"/>
          </a:p>
        </p:txBody>
      </p:sp>
      <p:sp>
        <p:nvSpPr>
          <p:cNvPr id="30" name="Shape 28">
            <a:extLst>
              <a:ext uri="{FF2B5EF4-FFF2-40B4-BE49-F238E27FC236}">
                <a16:creationId xmlns:a16="http://schemas.microsoft.com/office/drawing/2014/main" id="{355E2535-DDB1-509D-A869-EAAF52E1E9BA}"/>
              </a:ext>
            </a:extLst>
          </p:cNvPr>
          <p:cNvSpPr/>
          <p:nvPr/>
        </p:nvSpPr>
        <p:spPr>
          <a:xfrm>
            <a:off x="658368" y="4297680"/>
            <a:ext cx="10561320" cy="713232"/>
          </a:xfrm>
          <a:prstGeom prst="rect">
            <a:avLst/>
          </a:prstGeom>
          <a:solidFill>
            <a:srgbClr val="F2EFE4"/>
          </a:solidFill>
          <a:ln w="5080">
            <a:solidFill>
              <a:srgbClr val="D8CFBA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>
            <a:extLst>
              <a:ext uri="{FF2B5EF4-FFF2-40B4-BE49-F238E27FC236}">
                <a16:creationId xmlns:a16="http://schemas.microsoft.com/office/drawing/2014/main" id="{B3ABC28D-58F3-B0F7-9636-F2C2F8AEF9D2}"/>
              </a:ext>
            </a:extLst>
          </p:cNvPr>
          <p:cNvSpPr/>
          <p:nvPr/>
        </p:nvSpPr>
        <p:spPr>
          <a:xfrm>
            <a:off x="768096" y="446227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 b="1">
                <a:solidFill>
                  <a:srgbClr val="123240"/>
                </a:solidFill>
              </a:rPr>
              <a:t>Monitoring</a:t>
            </a:r>
            <a:endParaRPr lang="en-US" sz="1220"/>
          </a:p>
        </p:txBody>
      </p:sp>
      <p:sp>
        <p:nvSpPr>
          <p:cNvPr id="32" name="Text 30">
            <a:extLst>
              <a:ext uri="{FF2B5EF4-FFF2-40B4-BE49-F238E27FC236}">
                <a16:creationId xmlns:a16="http://schemas.microsoft.com/office/drawing/2014/main" id="{A6137734-8DF4-2170-D088-2FDE590FCCA9}"/>
              </a:ext>
            </a:extLst>
          </p:cNvPr>
          <p:cNvSpPr/>
          <p:nvPr/>
        </p:nvSpPr>
        <p:spPr>
          <a:xfrm>
            <a:off x="3081528" y="4443984"/>
            <a:ext cx="3886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30">
                <a:solidFill>
                  <a:srgbClr val="243036"/>
                </a:solidFill>
              </a:rPr>
              <a:t>Describe how implementation actions are documented and connected to outcomes.</a:t>
            </a:r>
            <a:endParaRPr lang="en-US" sz="1030"/>
          </a:p>
        </p:txBody>
      </p:sp>
      <p:sp>
        <p:nvSpPr>
          <p:cNvPr id="33" name="Text 31">
            <a:extLst>
              <a:ext uri="{FF2B5EF4-FFF2-40B4-BE49-F238E27FC236}">
                <a16:creationId xmlns:a16="http://schemas.microsoft.com/office/drawing/2014/main" id="{1A8EB60A-5768-FE1B-729C-43302EE82D69}"/>
              </a:ext>
            </a:extLst>
          </p:cNvPr>
          <p:cNvSpPr/>
          <p:nvPr/>
        </p:nvSpPr>
        <p:spPr>
          <a:xfrm>
            <a:off x="7470648" y="4480560"/>
            <a:ext cx="1005840" cy="256032"/>
          </a:xfrm>
          <a:prstGeom prst="rect">
            <a:avLst/>
          </a:prstGeom>
          <a:solidFill>
            <a:srgbClr val="B86156"/>
          </a:solidFill>
          <a:ln>
            <a:solidFill>
              <a:srgbClr val="B86156">
                <a:alpha val="0"/>
              </a:srgbClr>
            </a:solidFill>
          </a:ln>
        </p:spPr>
        <p:txBody>
          <a:bodyPr wrap="square" lIns="381" tIns="381" rIns="381" bIns="381" rtlCol="0" anchor="ctr"/>
          <a:lstStyle/>
          <a:p>
            <a:pPr marL="0" indent="0" algn="ctr">
              <a:buNone/>
            </a:pPr>
            <a:r>
              <a:rPr lang="en-US" sz="850" b="1">
                <a:solidFill>
                  <a:srgbClr val="FBFAF4"/>
                </a:solidFill>
              </a:rPr>
              <a:t>UPDATE</a:t>
            </a:r>
            <a:endParaRPr lang="en-US" sz="850"/>
          </a:p>
        </p:txBody>
      </p:sp>
      <p:sp>
        <p:nvSpPr>
          <p:cNvPr id="34" name="Text 32">
            <a:extLst>
              <a:ext uri="{FF2B5EF4-FFF2-40B4-BE49-F238E27FC236}">
                <a16:creationId xmlns:a16="http://schemas.microsoft.com/office/drawing/2014/main" id="{40EBA537-9C90-A12E-7CE7-111933D87D00}"/>
              </a:ext>
            </a:extLst>
          </p:cNvPr>
          <p:cNvSpPr/>
          <p:nvPr/>
        </p:nvSpPr>
        <p:spPr>
          <a:xfrm>
            <a:off x="9573768" y="4489704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20" b="1">
                <a:solidFill>
                  <a:srgbClr val="243036"/>
                </a:solidFill>
              </a:rPr>
              <a:t>Decision</a:t>
            </a:r>
            <a:endParaRPr lang="en-US" sz="1120"/>
          </a:p>
        </p:txBody>
      </p:sp>
      <p:sp>
        <p:nvSpPr>
          <p:cNvPr id="35" name="Text 33">
            <a:extLst>
              <a:ext uri="{FF2B5EF4-FFF2-40B4-BE49-F238E27FC236}">
                <a16:creationId xmlns:a16="http://schemas.microsoft.com/office/drawing/2014/main" id="{C93E8179-3F7E-2A80-0F50-21F1C8AD387B}"/>
              </a:ext>
            </a:extLst>
          </p:cNvPr>
          <p:cNvSpPr/>
          <p:nvPr/>
        </p:nvSpPr>
        <p:spPr>
          <a:xfrm>
            <a:off x="822960" y="5559552"/>
            <a:ext cx="9875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3B5B45"/>
                </a:solidFill>
              </a:rPr>
              <a:t>DISCUSSION PROMPT  ·  Which monitoring components are ready for interpretation, and which need more field context?</a:t>
            </a:r>
            <a:endParaRPr lang="en-US" sz="1050"/>
          </a:p>
        </p:txBody>
      </p:sp>
    </p:spTree>
    <p:extLst>
      <p:ext uri="{BB962C8B-B14F-4D97-AF65-F5344CB8AC3E}">
        <p14:creationId xmlns:p14="http://schemas.microsoft.com/office/powerpoint/2010/main" val="16332232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FBC122-A12D-FBD3-1BE5-DE713F63D4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D441FBF7-E698-FC36-854B-0086614DC831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6CDB838D-F607-B4C0-D2B9-3E90AAC52207}"/>
              </a:ext>
            </a:extLst>
          </p:cNvPr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E10EA62D-421F-3075-2D09-29FBE5DE41F9}"/>
              </a:ext>
            </a:extLst>
          </p:cNvPr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E6D6E544-9025-C302-220C-DCB332A386A8}"/>
              </a:ext>
            </a:extLst>
          </p:cNvPr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E3A4842A-0791-00EB-9B64-CD8A7AC1CF26}"/>
              </a:ext>
            </a:extLst>
          </p:cNvPr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>
                <a:solidFill>
                  <a:srgbClr val="12324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Landa Lake During Drought</a:t>
            </a:r>
            <a:endParaRPr lang="en-US" sz="290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5A56295D-02A1-E526-B8E9-79ECB60406C3}"/>
              </a:ext>
            </a:extLst>
          </p:cNvPr>
          <p:cNvSpPr/>
          <p:nvPr/>
        </p:nvSpPr>
        <p:spPr>
          <a:xfrm>
            <a:off x="502920" y="648309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CORE MESSAGE</a:t>
            </a:r>
            <a:endParaRPr lang="en-US" sz="75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9839828D-8D5C-F480-E9E2-45300ABAAE59}"/>
              </a:ext>
            </a:extLst>
          </p:cNvPr>
          <p:cNvSpPr/>
          <p:nvPr/>
        </p:nvSpPr>
        <p:spPr>
          <a:xfrm>
            <a:off x="11475720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75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7DA9A809-A510-7682-D756-F1760DC6ADB8}"/>
              </a:ext>
            </a:extLst>
          </p:cNvPr>
          <p:cNvSpPr/>
          <p:nvPr/>
        </p:nvSpPr>
        <p:spPr>
          <a:xfrm>
            <a:off x="658368" y="1463040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123240"/>
                </a:solidFill>
              </a:rPr>
              <a:t>CONNECTED FUNCTIONS</a:t>
            </a:r>
            <a:endParaRPr lang="en-US" sz="90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89DA4B83-F5F2-18D3-C5FF-4A57DD118649}"/>
              </a:ext>
            </a:extLst>
          </p:cNvPr>
          <p:cNvSpPr/>
          <p:nvPr/>
        </p:nvSpPr>
        <p:spPr>
          <a:xfrm>
            <a:off x="658368" y="1792224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marL="0" indent="0">
              <a:buNone/>
            </a:pPr>
            <a:r>
              <a:rPr lang="en-US" sz="1650">
                <a:solidFill>
                  <a:srgbClr val="243036"/>
                </a:solidFill>
              </a:rPr>
              <a:t>Springflow, water clarity, aquatic vegetation, recreation, and covered-species habitat should read as one connected story.</a:t>
            </a:r>
            <a:endParaRPr lang="en-US" sz="1650"/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1DD9BB77-3C33-C925-A802-D6CD199BA9A4}"/>
              </a:ext>
            </a:extLst>
          </p:cNvPr>
          <p:cNvSpPr/>
          <p:nvPr/>
        </p:nvSpPr>
        <p:spPr>
          <a:xfrm>
            <a:off x="4892040" y="1417320"/>
            <a:ext cx="6355080" cy="4133088"/>
          </a:xfrm>
          <a:prstGeom prst="rect">
            <a:avLst/>
          </a:prstGeom>
          <a:solidFill>
            <a:srgbClr val="FBFAF4"/>
          </a:solidFill>
          <a:ln w="12700">
            <a:solidFill>
              <a:srgbClr val="A99B80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B1B40936-D873-24FA-88B7-D75835BE0AE9}"/>
              </a:ext>
            </a:extLst>
          </p:cNvPr>
          <p:cNvSpPr/>
          <p:nvPr/>
        </p:nvSpPr>
        <p:spPr>
          <a:xfrm>
            <a:off x="5093208" y="1618488"/>
            <a:ext cx="5952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>
                <a:solidFill>
                  <a:srgbClr val="123240"/>
                </a:solidFill>
              </a:rPr>
              <a:t>EVIDENCE FIGURE</a:t>
            </a:r>
            <a:endParaRPr lang="en-US" sz="95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461CAB1F-FD4B-DF98-7F54-2311A2B4FDE6}"/>
              </a:ext>
            </a:extLst>
          </p:cNvPr>
          <p:cNvSpPr/>
          <p:nvPr/>
        </p:nvSpPr>
        <p:spPr>
          <a:xfrm>
            <a:off x="5093208" y="1947672"/>
            <a:ext cx="59527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>
                <a:solidFill>
                  <a:srgbClr val="65737A"/>
                </a:solidFill>
              </a:rPr>
              <a:t>Drop in the primary map, vegetation figure, photo transect, or monitoring result supporting the headline.</a:t>
            </a:r>
            <a:endParaRPr lang="en-US" sz="1050"/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83B4BC82-4510-2924-963C-10BB46BEC086}"/>
              </a:ext>
            </a:extLst>
          </p:cNvPr>
          <p:cNvSpPr/>
          <p:nvPr/>
        </p:nvSpPr>
        <p:spPr>
          <a:xfrm>
            <a:off x="5120640" y="5166360"/>
            <a:ext cx="5897880" cy="0"/>
          </a:xfrm>
          <a:prstGeom prst="line">
            <a:avLst/>
          </a:prstGeom>
          <a:noFill/>
          <a:ln w="17780">
            <a:solidFill>
              <a:srgbClr val="6CB7AF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DE59B360-304F-08B8-55D6-2CC98959AD34}"/>
              </a:ext>
            </a:extLst>
          </p:cNvPr>
          <p:cNvSpPr/>
          <p:nvPr/>
        </p:nvSpPr>
        <p:spPr>
          <a:xfrm>
            <a:off x="5102352" y="5047488"/>
            <a:ext cx="2834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>
                <a:solidFill>
                  <a:srgbClr val="65737A"/>
                </a:solidFill>
              </a:rPr>
              <a:t>TIME / REACH / VEGETATION TYPE</a:t>
            </a:r>
            <a:endParaRPr lang="en-US" sz="72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E18E5746-16F7-517D-E4A4-C5A3447A2708}"/>
              </a:ext>
            </a:extLst>
          </p:cNvPr>
          <p:cNvSpPr/>
          <p:nvPr/>
        </p:nvSpPr>
        <p:spPr>
          <a:xfrm>
            <a:off x="10030968" y="5047488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b="1">
                <a:solidFill>
                  <a:srgbClr val="65737A"/>
                </a:solidFill>
              </a:rPr>
              <a:t>MEASURE</a:t>
            </a:r>
            <a:endParaRPr lang="en-US" sz="720"/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8528F6D0-00C9-D639-0973-0873A26FEC3A}"/>
              </a:ext>
            </a:extLst>
          </p:cNvPr>
          <p:cNvSpPr/>
          <p:nvPr/>
        </p:nvSpPr>
        <p:spPr>
          <a:xfrm>
            <a:off x="658368" y="4416552"/>
            <a:ext cx="4160520" cy="438912"/>
          </a:xfrm>
          <a:prstGeom prst="rect">
            <a:avLst/>
          </a:prstGeom>
          <a:solidFill>
            <a:srgbClr val="E6ECDD"/>
          </a:solidFill>
          <a:ln w="12700">
            <a:solidFill>
              <a:srgbClr val="E6ECD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F677025A-7BB2-3810-EB7F-1607DEB8941D}"/>
              </a:ext>
            </a:extLst>
          </p:cNvPr>
          <p:cNvSpPr/>
          <p:nvPr/>
        </p:nvSpPr>
        <p:spPr>
          <a:xfrm>
            <a:off x="804672" y="4535424"/>
            <a:ext cx="3867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20000"/>
          </a:bodyPr>
          <a:lstStyle/>
          <a:p>
            <a:pPr marL="0" indent="0">
              <a:buNone/>
            </a:pPr>
            <a:r>
              <a:rPr lang="en-US" sz="950" b="1">
                <a:solidFill>
                  <a:srgbClr val="3B5B45"/>
                </a:solidFill>
              </a:rPr>
              <a:t>TAKEAWAY  ·  Explain what changed, why it matters for habitat, and what the program is doing about it.</a:t>
            </a:r>
            <a:endParaRPr lang="en-US" sz="950"/>
          </a:p>
        </p:txBody>
      </p:sp>
    </p:spTree>
    <p:extLst>
      <p:ext uri="{BB962C8B-B14F-4D97-AF65-F5344CB8AC3E}">
        <p14:creationId xmlns:p14="http://schemas.microsoft.com/office/powerpoint/2010/main" val="251912824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2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>
                <a:solidFill>
                  <a:srgbClr val="12324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How to use this deck</a:t>
            </a:r>
            <a:endParaRPr lang="en-US" sz="2900"/>
          </a:p>
        </p:txBody>
      </p:sp>
      <p:sp>
        <p:nvSpPr>
          <p:cNvPr id="7" name="Text 5"/>
          <p:cNvSpPr/>
          <p:nvPr/>
        </p:nvSpPr>
        <p:spPr>
          <a:xfrm>
            <a:off x="640080" y="896112"/>
            <a:ext cx="9784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Keep this slide as a reference, then remove it from the final briefing.</a:t>
            </a:r>
            <a:endParaRPr lang="en-US" sz="1450"/>
          </a:p>
        </p:txBody>
      </p:sp>
      <p:sp>
        <p:nvSpPr>
          <p:cNvPr id="8" name="Text 6"/>
          <p:cNvSpPr/>
          <p:nvPr/>
        </p:nvSpPr>
        <p:spPr>
          <a:xfrm>
            <a:off x="502920" y="648309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TEMPLATE DESIGN SYSTEM</a:t>
            </a:r>
            <a:endParaRPr lang="en-US" sz="750"/>
          </a:p>
        </p:txBody>
      </p:sp>
      <p:sp>
        <p:nvSpPr>
          <p:cNvPr id="9" name="Text 7"/>
          <p:cNvSpPr/>
          <p:nvPr/>
        </p:nvSpPr>
        <p:spPr>
          <a:xfrm>
            <a:off x="11475720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750"/>
          </a:p>
        </p:txBody>
      </p:sp>
      <p:sp>
        <p:nvSpPr>
          <p:cNvPr id="10" name="Text 8"/>
          <p:cNvSpPr/>
          <p:nvPr/>
        </p:nvSpPr>
        <p:spPr>
          <a:xfrm>
            <a:off x="658368" y="1426464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123240"/>
                </a:solidFill>
              </a:rPr>
              <a:t>PALETTE</a:t>
            </a:r>
            <a:endParaRPr lang="en-US" sz="900"/>
          </a:p>
        </p:txBody>
      </p:sp>
      <p:sp>
        <p:nvSpPr>
          <p:cNvPr id="11" name="Shape 9"/>
          <p:cNvSpPr/>
          <p:nvPr/>
        </p:nvSpPr>
        <p:spPr>
          <a:xfrm>
            <a:off x="658368" y="1764792"/>
            <a:ext cx="713232" cy="292608"/>
          </a:xfrm>
          <a:prstGeom prst="rect">
            <a:avLst/>
          </a:prstGeom>
          <a:solidFill>
            <a:srgbClr val="123240"/>
          </a:solidFill>
          <a:ln w="12700">
            <a:solidFill>
              <a:srgbClr val="12324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658368" y="2112264"/>
            <a:ext cx="9326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20" b="1">
                <a:solidFill>
                  <a:srgbClr val="65737A"/>
                </a:solidFill>
              </a:rPr>
              <a:t>LAKE DEEP</a:t>
            </a:r>
            <a:endParaRPr lang="en-US" sz="620"/>
          </a:p>
        </p:txBody>
      </p:sp>
      <p:sp>
        <p:nvSpPr>
          <p:cNvPr id="13" name="Shape 11"/>
          <p:cNvSpPr/>
          <p:nvPr/>
        </p:nvSpPr>
        <p:spPr>
          <a:xfrm>
            <a:off x="1737360" y="1764792"/>
            <a:ext cx="713232" cy="292608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1737360" y="2112264"/>
            <a:ext cx="9326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20" b="1">
                <a:solidFill>
                  <a:srgbClr val="65737A"/>
                </a:solidFill>
              </a:rPr>
              <a:t>LAKE</a:t>
            </a:r>
            <a:endParaRPr lang="en-US" sz="620"/>
          </a:p>
        </p:txBody>
      </p:sp>
      <p:sp>
        <p:nvSpPr>
          <p:cNvPr id="15" name="Shape 13"/>
          <p:cNvSpPr/>
          <p:nvPr/>
        </p:nvSpPr>
        <p:spPr>
          <a:xfrm>
            <a:off x="2816352" y="1764792"/>
            <a:ext cx="713232" cy="292608"/>
          </a:xfrm>
          <a:prstGeom prst="rect">
            <a:avLst/>
          </a:prstGeom>
          <a:solidFill>
            <a:srgbClr val="6CB7AF"/>
          </a:solidFill>
          <a:ln w="12700">
            <a:solidFill>
              <a:srgbClr val="6CB7A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2816352" y="2112264"/>
            <a:ext cx="9326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20" b="1">
                <a:solidFill>
                  <a:srgbClr val="65737A"/>
                </a:solidFill>
              </a:rPr>
              <a:t>SHALLOW</a:t>
            </a:r>
            <a:endParaRPr lang="en-US" sz="620"/>
          </a:p>
        </p:txBody>
      </p:sp>
      <p:sp>
        <p:nvSpPr>
          <p:cNvPr id="17" name="Shape 15"/>
          <p:cNvSpPr/>
          <p:nvPr/>
        </p:nvSpPr>
        <p:spPr>
          <a:xfrm>
            <a:off x="3895344" y="1764792"/>
            <a:ext cx="713232" cy="292608"/>
          </a:xfrm>
          <a:prstGeom prst="rect">
            <a:avLst/>
          </a:prstGeom>
          <a:solidFill>
            <a:srgbClr val="4F7D4F"/>
          </a:solidFill>
          <a:ln w="12700">
            <a:solidFill>
              <a:srgbClr val="4F7D4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3895344" y="2112264"/>
            <a:ext cx="9326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20" b="1">
                <a:solidFill>
                  <a:srgbClr val="65737A"/>
                </a:solidFill>
              </a:rPr>
              <a:t>AQUATIC</a:t>
            </a:r>
            <a:endParaRPr lang="en-US" sz="620"/>
          </a:p>
        </p:txBody>
      </p:sp>
      <p:sp>
        <p:nvSpPr>
          <p:cNvPr id="19" name="Shape 17"/>
          <p:cNvSpPr/>
          <p:nvPr/>
        </p:nvSpPr>
        <p:spPr>
          <a:xfrm>
            <a:off x="658368" y="2423160"/>
            <a:ext cx="713232" cy="292608"/>
          </a:xfrm>
          <a:prstGeom prst="rect">
            <a:avLst/>
          </a:prstGeom>
          <a:solidFill>
            <a:srgbClr val="3B5B45"/>
          </a:solidFill>
          <a:ln w="12700">
            <a:solidFill>
              <a:srgbClr val="3B5B4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58368" y="2770632"/>
            <a:ext cx="9326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20" b="1">
                <a:solidFill>
                  <a:srgbClr val="65737A"/>
                </a:solidFill>
              </a:rPr>
              <a:t>CYPRESS</a:t>
            </a:r>
            <a:endParaRPr lang="en-US" sz="620"/>
          </a:p>
        </p:txBody>
      </p:sp>
      <p:sp>
        <p:nvSpPr>
          <p:cNvPr id="21" name="Shape 19"/>
          <p:cNvSpPr/>
          <p:nvPr/>
        </p:nvSpPr>
        <p:spPr>
          <a:xfrm>
            <a:off x="1737360" y="2423160"/>
            <a:ext cx="713232" cy="292608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1737360" y="2770632"/>
            <a:ext cx="9326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20" b="1">
                <a:solidFill>
                  <a:srgbClr val="65737A"/>
                </a:solidFill>
              </a:rPr>
              <a:t>LIMESTONE</a:t>
            </a:r>
            <a:endParaRPr lang="en-US" sz="620"/>
          </a:p>
        </p:txBody>
      </p:sp>
      <p:sp>
        <p:nvSpPr>
          <p:cNvPr id="23" name="Shape 21"/>
          <p:cNvSpPr/>
          <p:nvPr/>
        </p:nvSpPr>
        <p:spPr>
          <a:xfrm>
            <a:off x="2816352" y="2423160"/>
            <a:ext cx="713232" cy="292608"/>
          </a:xfrm>
          <a:prstGeom prst="rect">
            <a:avLst/>
          </a:prstGeom>
          <a:solidFill>
            <a:srgbClr val="D6A13A"/>
          </a:solidFill>
          <a:ln w="12700">
            <a:solidFill>
              <a:srgbClr val="D6A13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2816352" y="2770632"/>
            <a:ext cx="9326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20" b="1">
                <a:solidFill>
                  <a:srgbClr val="65737A"/>
                </a:solidFill>
              </a:rPr>
              <a:t>GOLD</a:t>
            </a:r>
            <a:endParaRPr lang="en-US" sz="620"/>
          </a:p>
        </p:txBody>
      </p:sp>
      <p:sp>
        <p:nvSpPr>
          <p:cNvPr id="25" name="Shape 23"/>
          <p:cNvSpPr/>
          <p:nvPr/>
        </p:nvSpPr>
        <p:spPr>
          <a:xfrm>
            <a:off x="3895344" y="2423160"/>
            <a:ext cx="713232" cy="292608"/>
          </a:xfrm>
          <a:prstGeom prst="rect">
            <a:avLst/>
          </a:prstGeom>
          <a:solidFill>
            <a:srgbClr val="B86156"/>
          </a:solidFill>
          <a:ln w="12700">
            <a:solidFill>
              <a:srgbClr val="B8615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3895344" y="2770632"/>
            <a:ext cx="9326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20" b="1">
                <a:solidFill>
                  <a:srgbClr val="65737A"/>
                </a:solidFill>
              </a:rPr>
              <a:t>CORAL</a:t>
            </a:r>
            <a:endParaRPr lang="en-US" sz="620"/>
          </a:p>
        </p:txBody>
      </p:sp>
      <p:sp>
        <p:nvSpPr>
          <p:cNvPr id="27" name="Text 25"/>
          <p:cNvSpPr/>
          <p:nvPr/>
        </p:nvSpPr>
        <p:spPr>
          <a:xfrm>
            <a:off x="658368" y="2971800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123240"/>
                </a:solidFill>
              </a:rPr>
              <a:t>TYPE</a:t>
            </a:r>
            <a:endParaRPr lang="en-US" sz="900"/>
          </a:p>
        </p:txBody>
      </p:sp>
      <p:sp>
        <p:nvSpPr>
          <p:cNvPr id="28" name="Text 26"/>
          <p:cNvSpPr/>
          <p:nvPr/>
        </p:nvSpPr>
        <p:spPr>
          <a:xfrm>
            <a:off x="658368" y="3273552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>
                <a:solidFill>
                  <a:srgbClr val="12324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Aptos Display</a:t>
            </a:r>
            <a:endParaRPr lang="en-US" sz="2100"/>
          </a:p>
        </p:txBody>
      </p:sp>
      <p:sp>
        <p:nvSpPr>
          <p:cNvPr id="29" name="Text 27"/>
          <p:cNvSpPr/>
          <p:nvPr/>
        </p:nvSpPr>
        <p:spPr>
          <a:xfrm>
            <a:off x="658368" y="3721608"/>
            <a:ext cx="4572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>
                <a:solidFill>
                  <a:srgbClr val="243036"/>
                </a:solidFill>
              </a:rPr>
              <a:t>Scientific headings; compact enough for maps, monitoring figures, and annotated tables.</a:t>
            </a:r>
            <a:endParaRPr lang="en-US" sz="1250"/>
          </a:p>
        </p:txBody>
      </p:sp>
      <p:sp>
        <p:nvSpPr>
          <p:cNvPr id="30" name="Shape 28"/>
          <p:cNvSpPr/>
          <p:nvPr/>
        </p:nvSpPr>
        <p:spPr>
          <a:xfrm>
            <a:off x="5806440" y="1417320"/>
            <a:ext cx="0" cy="0"/>
          </a:xfrm>
          <a:prstGeom prst="line">
            <a:avLst/>
          </a:prstGeom>
          <a:noFill/>
          <a:ln w="11430">
            <a:solidFill>
              <a:srgbClr val="A99B80">
                <a:alpha val="7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6172200" y="1426464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123240"/>
                </a:solidFill>
              </a:rPr>
              <a:t>SLIDE RULE</a:t>
            </a:r>
            <a:endParaRPr lang="en-US" sz="900"/>
          </a:p>
        </p:txBody>
      </p:sp>
      <p:sp>
        <p:nvSpPr>
          <p:cNvPr id="32" name="Text 30"/>
          <p:cNvSpPr/>
          <p:nvPr/>
        </p:nvSpPr>
        <p:spPr>
          <a:xfrm>
            <a:off x="6172200" y="1755648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>
                <a:solidFill>
                  <a:srgbClr val="243036"/>
                </a:solidFill>
              </a:rPr>
              <a:t>One Landa Lake message per slide.</a:t>
            </a:r>
            <a:endParaRPr lang="en-US" sz="1700"/>
          </a:p>
        </p:txBody>
      </p:sp>
      <p:sp>
        <p:nvSpPr>
          <p:cNvPr id="33" name="Text 31"/>
          <p:cNvSpPr/>
          <p:nvPr/>
        </p:nvSpPr>
        <p:spPr>
          <a:xfrm>
            <a:off x="6172200" y="2130552"/>
            <a:ext cx="4617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>
                <a:solidFill>
                  <a:srgbClr val="65737A"/>
                </a:solidFill>
              </a:rPr>
              <a:t>Use the headline to state the ecological or implementation finding—not merely name the dataset.</a:t>
            </a:r>
            <a:endParaRPr lang="en-US" sz="1220"/>
          </a:p>
        </p:txBody>
      </p:sp>
      <p:sp>
        <p:nvSpPr>
          <p:cNvPr id="34" name="Text 32"/>
          <p:cNvSpPr/>
          <p:nvPr/>
        </p:nvSpPr>
        <p:spPr>
          <a:xfrm>
            <a:off x="6172200" y="2907792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123240"/>
                </a:solidFill>
              </a:rPr>
              <a:t>FIGURE RULE</a:t>
            </a:r>
            <a:endParaRPr lang="en-US" sz="900"/>
          </a:p>
        </p:txBody>
      </p:sp>
      <p:sp>
        <p:nvSpPr>
          <p:cNvPr id="35" name="Text 33"/>
          <p:cNvSpPr/>
          <p:nvPr/>
        </p:nvSpPr>
        <p:spPr>
          <a:xfrm>
            <a:off x="6172200" y="3236976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>
                <a:solidFill>
                  <a:srgbClr val="243036"/>
                </a:solidFill>
              </a:rPr>
              <a:t>Direct attention with one accent.</a:t>
            </a:r>
            <a:endParaRPr lang="en-US" sz="1700"/>
          </a:p>
        </p:txBody>
      </p:sp>
      <p:sp>
        <p:nvSpPr>
          <p:cNvPr id="36" name="Text 34"/>
          <p:cNvSpPr/>
          <p:nvPr/>
        </p:nvSpPr>
        <p:spPr>
          <a:xfrm>
            <a:off x="6172200" y="361188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>
                <a:solidFill>
                  <a:srgbClr val="65737A"/>
                </a:solidFill>
              </a:rPr>
              <a:t>Most data stay lake blue, aquatic green, or gray. Use coral only for thresholds, stressors, exceptions, or decisions.</a:t>
            </a:r>
            <a:endParaRPr lang="en-US" sz="1220"/>
          </a:p>
        </p:txBody>
      </p:sp>
      <p:sp>
        <p:nvSpPr>
          <p:cNvPr id="37" name="Text 35"/>
          <p:cNvSpPr/>
          <p:nvPr/>
        </p:nvSpPr>
        <p:spPr>
          <a:xfrm>
            <a:off x="9656064" y="6391656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>
                <a:solidFill>
                  <a:srgbClr val="65737A"/>
                </a:solidFill>
              </a:rPr>
              <a:t>TEMPLATE GUIDANCE</a:t>
            </a:r>
            <a:endParaRPr lang="en-US" sz="75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232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40"/>
          </a:solidFill>
          <a:ln w="12700">
            <a:solidFill>
              <a:srgbClr val="12324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5349240"/>
            <a:ext cx="12191695" cy="1508760"/>
          </a:xfrm>
          <a:prstGeom prst="rect">
            <a:avLst/>
          </a:prstGeom>
          <a:solidFill>
            <a:srgbClr val="6CB7AF"/>
          </a:solidFill>
          <a:ln w="12700">
            <a:solidFill>
              <a:srgbClr val="6CB7A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4F7D4F"/>
          </a:solidFill>
          <a:ln w="12700">
            <a:solidFill>
              <a:srgbClr val="4F7D4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31520" y="941832"/>
            <a:ext cx="594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6CB7AF"/>
                </a:solidFill>
              </a:rPr>
              <a:t>01</a:t>
            </a:r>
            <a:endParaRPr lang="en-US" sz="1300"/>
          </a:p>
        </p:txBody>
      </p:sp>
      <p:sp>
        <p:nvSpPr>
          <p:cNvPr id="6" name="Text 4"/>
          <p:cNvSpPr/>
          <p:nvPr/>
        </p:nvSpPr>
        <p:spPr>
          <a:xfrm>
            <a:off x="731520" y="1444752"/>
            <a:ext cx="576072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4400" b="1">
                <a:solidFill>
                  <a:srgbClr val="FBFAF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Landa Lake</a:t>
            </a:r>
            <a:endParaRPr lang="en-US" sz="4400"/>
          </a:p>
          <a:p>
            <a:pPr marL="0" indent="0">
              <a:buNone/>
            </a:pPr>
            <a:r>
              <a:rPr lang="en-US" sz="4400" b="1">
                <a:solidFill>
                  <a:srgbClr val="FBFAF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Habitat</a:t>
            </a:r>
            <a:endParaRPr lang="en-US" sz="4400"/>
          </a:p>
        </p:txBody>
      </p:sp>
      <p:sp>
        <p:nvSpPr>
          <p:cNvPr id="7" name="Text 5"/>
          <p:cNvSpPr/>
          <p:nvPr/>
        </p:nvSpPr>
        <p:spPr>
          <a:xfrm>
            <a:off x="749808" y="3401568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>
                <a:solidFill>
                  <a:srgbClr val="DDEDEC"/>
                </a:solidFill>
              </a:rPr>
              <a:t>Section subtitle or implementation question</a:t>
            </a:r>
            <a:endParaRPr lang="en-US" sz="1700"/>
          </a:p>
        </p:txBody>
      </p:sp>
      <p:sp>
        <p:nvSpPr>
          <p:cNvPr id="8" name="Text 6"/>
          <p:cNvSpPr/>
          <p:nvPr/>
        </p:nvSpPr>
        <p:spPr>
          <a:xfrm>
            <a:off x="749808" y="617220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20">
                <a:solidFill>
                  <a:srgbClr val="123240"/>
                </a:solidFill>
              </a:rPr>
              <a:t>Use section dividers to reset the room and frame the lake-specific question that the next slides answer.</a:t>
            </a:r>
            <a:endParaRPr lang="en-US" sz="1220"/>
          </a:p>
        </p:txBody>
      </p:sp>
      <p:sp>
        <p:nvSpPr>
          <p:cNvPr id="9" name="Text 7"/>
          <p:cNvSpPr/>
          <p:nvPr/>
        </p:nvSpPr>
        <p:spPr>
          <a:xfrm>
            <a:off x="10012680" y="6336792"/>
            <a:ext cx="987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>
                <a:solidFill>
                  <a:srgbClr val="F4E9CF"/>
                </a:solidFill>
              </a:rPr>
              <a:t>SECTION DIVIDER</a:t>
            </a:r>
            <a:endParaRPr lang="en-US" sz="750"/>
          </a:p>
        </p:txBody>
      </p:sp>
      <p:sp>
        <p:nvSpPr>
          <p:cNvPr id="10" name="Text 8"/>
          <p:cNvSpPr/>
          <p:nvPr/>
        </p:nvSpPr>
        <p:spPr>
          <a:xfrm>
            <a:off x="11475720" y="633679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>
                <a:solidFill>
                  <a:srgbClr val="F4E9CF"/>
                </a:solidFill>
              </a:rPr>
              <a:t>03</a:t>
            </a:r>
            <a:endParaRPr lang="en-US" sz="75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2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>
                <a:solidFill>
                  <a:srgbClr val="12324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Lake context sets the interpretation for every result</a:t>
            </a:r>
            <a:endParaRPr lang="en-US" sz="2900"/>
          </a:p>
        </p:txBody>
      </p:sp>
      <p:sp>
        <p:nvSpPr>
          <p:cNvPr id="7" name="Text 5"/>
          <p:cNvSpPr/>
          <p:nvPr/>
        </p:nvSpPr>
        <p:spPr>
          <a:xfrm>
            <a:off x="640080" y="896112"/>
            <a:ext cx="9784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this layout for a map/photo paired with a compact site-specific interpretation.</a:t>
            </a:r>
            <a:endParaRPr lang="en-US" sz="1450"/>
          </a:p>
        </p:txBody>
      </p:sp>
      <p:sp>
        <p:nvSpPr>
          <p:cNvPr id="8" name="Text 6"/>
          <p:cNvSpPr/>
          <p:nvPr/>
        </p:nvSpPr>
        <p:spPr>
          <a:xfrm>
            <a:off x="502920" y="648309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LAKE CONTEXT</a:t>
            </a:r>
            <a:endParaRPr lang="en-US" sz="750"/>
          </a:p>
        </p:txBody>
      </p:sp>
      <p:sp>
        <p:nvSpPr>
          <p:cNvPr id="9" name="Text 7"/>
          <p:cNvSpPr/>
          <p:nvPr/>
        </p:nvSpPr>
        <p:spPr>
          <a:xfrm>
            <a:off x="11475720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750"/>
          </a:p>
        </p:txBody>
      </p:sp>
      <p:sp>
        <p:nvSpPr>
          <p:cNvPr id="10" name="Shape 8"/>
          <p:cNvSpPr/>
          <p:nvPr/>
        </p:nvSpPr>
        <p:spPr>
          <a:xfrm>
            <a:off x="658368" y="1417320"/>
            <a:ext cx="6720840" cy="4224528"/>
          </a:xfrm>
          <a:prstGeom prst="rect">
            <a:avLst/>
          </a:prstGeom>
          <a:solidFill>
            <a:srgbClr val="FBFAF4"/>
          </a:solidFill>
          <a:ln w="12700">
            <a:solidFill>
              <a:srgbClr val="A99B80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859536" y="1618488"/>
            <a:ext cx="63185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>
                <a:solidFill>
                  <a:srgbClr val="123240"/>
                </a:solidFill>
              </a:rPr>
              <a:t>MAP / PHOTO / SITE FIGURE</a:t>
            </a:r>
            <a:endParaRPr lang="en-US" sz="950"/>
          </a:p>
        </p:txBody>
      </p:sp>
      <p:sp>
        <p:nvSpPr>
          <p:cNvPr id="12" name="Text 10"/>
          <p:cNvSpPr/>
          <p:nvPr/>
        </p:nvSpPr>
        <p:spPr>
          <a:xfrm>
            <a:off x="859536" y="1947672"/>
            <a:ext cx="63185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>
                <a:solidFill>
                  <a:srgbClr val="65737A"/>
                </a:solidFill>
              </a:rPr>
              <a:t>Replace with Landa Lake reach map, drone image, transect photo, or monitoring station map.</a:t>
            </a:r>
            <a:endParaRPr lang="en-US" sz="1050"/>
          </a:p>
        </p:txBody>
      </p:sp>
      <p:sp>
        <p:nvSpPr>
          <p:cNvPr id="13" name="Shape 11"/>
          <p:cNvSpPr/>
          <p:nvPr/>
        </p:nvSpPr>
        <p:spPr>
          <a:xfrm>
            <a:off x="886968" y="5257800"/>
            <a:ext cx="6263640" cy="0"/>
          </a:xfrm>
          <a:prstGeom prst="line">
            <a:avLst/>
          </a:prstGeom>
          <a:noFill/>
          <a:ln w="17780">
            <a:solidFill>
              <a:srgbClr val="6CB7AF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7818120" y="1444752"/>
            <a:ext cx="2240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123240"/>
                </a:solidFill>
              </a:rPr>
              <a:t>WHAT THE FIGURE SHOWS</a:t>
            </a:r>
            <a:endParaRPr lang="en-US" sz="900"/>
          </a:p>
        </p:txBody>
      </p:sp>
      <p:sp>
        <p:nvSpPr>
          <p:cNvPr id="15" name="Text 13"/>
          <p:cNvSpPr/>
          <p:nvPr/>
        </p:nvSpPr>
        <p:spPr>
          <a:xfrm>
            <a:off x="7818120" y="1847088"/>
            <a:ext cx="256032" cy="256032"/>
          </a:xfrm>
          <a:prstGeom prst="rect">
            <a:avLst/>
          </a:prstGeom>
          <a:solidFill>
            <a:srgbClr val="1E6F73"/>
          </a:solidFill>
          <a:ln>
            <a:solidFill>
              <a:srgbClr val="1E6F73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FBFAF4"/>
                </a:solidFill>
              </a:rPr>
              <a:t>1</a:t>
            </a:r>
            <a:endParaRPr lang="en-US" sz="1000"/>
          </a:p>
        </p:txBody>
      </p:sp>
      <p:sp>
        <p:nvSpPr>
          <p:cNvPr id="16" name="Text 14"/>
          <p:cNvSpPr/>
          <p:nvPr/>
        </p:nvSpPr>
        <p:spPr>
          <a:xfrm>
            <a:off x="8211312" y="1837944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>
                <a:solidFill>
                  <a:srgbClr val="123240"/>
                </a:solidFill>
              </a:rPr>
              <a:t>Habitat setting</a:t>
            </a:r>
            <a:endParaRPr lang="en-US" sz="1350"/>
          </a:p>
        </p:txBody>
      </p:sp>
      <p:sp>
        <p:nvSpPr>
          <p:cNvPr id="17" name="Text 15"/>
          <p:cNvSpPr/>
          <p:nvPr/>
        </p:nvSpPr>
        <p:spPr>
          <a:xfrm>
            <a:off x="8211312" y="2130552"/>
            <a:ext cx="3474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>
                <a:solidFill>
                  <a:srgbClr val="243036"/>
                </a:solidFill>
              </a:rPr>
              <a:t>Location-specific finding: reach, shoreline condition, vegetation patch, or flow path.</a:t>
            </a:r>
            <a:endParaRPr lang="en-US" sz="1050"/>
          </a:p>
        </p:txBody>
      </p:sp>
      <p:sp>
        <p:nvSpPr>
          <p:cNvPr id="18" name="Text 16"/>
          <p:cNvSpPr/>
          <p:nvPr/>
        </p:nvSpPr>
        <p:spPr>
          <a:xfrm>
            <a:off x="7818120" y="2889504"/>
            <a:ext cx="256032" cy="256032"/>
          </a:xfrm>
          <a:prstGeom prst="rect">
            <a:avLst/>
          </a:prstGeom>
          <a:solidFill>
            <a:srgbClr val="4F7D4F"/>
          </a:solidFill>
          <a:ln>
            <a:solidFill>
              <a:srgbClr val="4F7D4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FBFAF4"/>
                </a:solidFill>
              </a:rPr>
              <a:t>2</a:t>
            </a:r>
            <a:endParaRPr lang="en-US" sz="1000"/>
          </a:p>
        </p:txBody>
      </p:sp>
      <p:sp>
        <p:nvSpPr>
          <p:cNvPr id="19" name="Text 17"/>
          <p:cNvSpPr/>
          <p:nvPr/>
        </p:nvSpPr>
        <p:spPr>
          <a:xfrm>
            <a:off x="8211312" y="2880360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>
                <a:solidFill>
                  <a:srgbClr val="123240"/>
                </a:solidFill>
              </a:rPr>
              <a:t>Interpretation context</a:t>
            </a:r>
            <a:endParaRPr lang="en-US" sz="1350"/>
          </a:p>
        </p:txBody>
      </p:sp>
      <p:sp>
        <p:nvSpPr>
          <p:cNvPr id="20" name="Text 18"/>
          <p:cNvSpPr/>
          <p:nvPr/>
        </p:nvSpPr>
        <p:spPr>
          <a:xfrm>
            <a:off x="8211312" y="3172968"/>
            <a:ext cx="3474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>
                <a:solidFill>
                  <a:srgbClr val="243036"/>
                </a:solidFill>
              </a:rPr>
              <a:t>Why season, springflow, clarity, or survey design matters for this result.</a:t>
            </a:r>
            <a:endParaRPr lang="en-US" sz="1050"/>
          </a:p>
        </p:txBody>
      </p:sp>
      <p:sp>
        <p:nvSpPr>
          <p:cNvPr id="21" name="Text 19"/>
          <p:cNvSpPr/>
          <p:nvPr/>
        </p:nvSpPr>
        <p:spPr>
          <a:xfrm>
            <a:off x="7818120" y="3931920"/>
            <a:ext cx="256032" cy="256032"/>
          </a:xfrm>
          <a:prstGeom prst="rect">
            <a:avLst/>
          </a:prstGeom>
          <a:solidFill>
            <a:srgbClr val="B86156"/>
          </a:solidFill>
          <a:ln>
            <a:solidFill>
              <a:srgbClr val="B86156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FBFAF4"/>
                </a:solidFill>
              </a:rPr>
              <a:t>3</a:t>
            </a:r>
            <a:endParaRPr lang="en-US" sz="1000"/>
          </a:p>
        </p:txBody>
      </p:sp>
      <p:sp>
        <p:nvSpPr>
          <p:cNvPr id="22" name="Text 20"/>
          <p:cNvSpPr/>
          <p:nvPr/>
        </p:nvSpPr>
        <p:spPr>
          <a:xfrm>
            <a:off x="8211312" y="3922776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>
                <a:solidFill>
                  <a:srgbClr val="123240"/>
                </a:solidFill>
              </a:rPr>
              <a:t>Point requiring attention</a:t>
            </a:r>
            <a:endParaRPr lang="en-US" sz="1350"/>
          </a:p>
        </p:txBody>
      </p:sp>
      <p:sp>
        <p:nvSpPr>
          <p:cNvPr id="23" name="Text 21"/>
          <p:cNvSpPr/>
          <p:nvPr/>
        </p:nvSpPr>
        <p:spPr>
          <a:xfrm>
            <a:off x="8211312" y="4215384"/>
            <a:ext cx="3474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>
                <a:solidFill>
                  <a:srgbClr val="243036"/>
                </a:solidFill>
              </a:rPr>
              <a:t>Use coral only for a stressor, threshold, management issue, or discussion item.</a:t>
            </a:r>
            <a:endParaRPr lang="en-US" sz="105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2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>
                <a:solidFill>
                  <a:srgbClr val="12324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Vegetation condition should connect trend, composition, and habitat value</a:t>
            </a:r>
            <a:endParaRPr lang="en-US" sz="2900"/>
          </a:p>
        </p:txBody>
      </p:sp>
      <p:sp>
        <p:nvSpPr>
          <p:cNvPr id="7" name="Text 5"/>
          <p:cNvSpPr/>
          <p:nvPr/>
        </p:nvSpPr>
        <p:spPr>
          <a:xfrm>
            <a:off x="640080" y="896112"/>
            <a:ext cx="9784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this for annual area, percent cover, or mapped vegetation classes.</a:t>
            </a:r>
            <a:endParaRPr lang="en-US" sz="1450"/>
          </a:p>
        </p:txBody>
      </p:sp>
      <p:sp>
        <p:nvSpPr>
          <p:cNvPr id="8" name="Text 6"/>
          <p:cNvSpPr/>
          <p:nvPr/>
        </p:nvSpPr>
        <p:spPr>
          <a:xfrm>
            <a:off x="502920" y="648309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VEGETATION MONITORING</a:t>
            </a:r>
            <a:endParaRPr lang="en-US" sz="750"/>
          </a:p>
        </p:txBody>
      </p:sp>
      <p:sp>
        <p:nvSpPr>
          <p:cNvPr id="9" name="Text 7"/>
          <p:cNvSpPr/>
          <p:nvPr/>
        </p:nvSpPr>
        <p:spPr>
          <a:xfrm>
            <a:off x="11475720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</a:t>
            </a:r>
            <a:endParaRPr lang="en-US" sz="750"/>
          </a:p>
        </p:txBody>
      </p:sp>
      <p:sp>
        <p:nvSpPr>
          <p:cNvPr id="10" name="Shape 8"/>
          <p:cNvSpPr/>
          <p:nvPr/>
        </p:nvSpPr>
        <p:spPr>
          <a:xfrm>
            <a:off x="658368" y="1417320"/>
            <a:ext cx="7543800" cy="4224528"/>
          </a:xfrm>
          <a:prstGeom prst="rect">
            <a:avLst/>
          </a:prstGeom>
          <a:solidFill>
            <a:srgbClr val="FBFAF4"/>
          </a:solidFill>
          <a:ln w="12700">
            <a:solidFill>
              <a:srgbClr val="A99B80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859536" y="1618488"/>
            <a:ext cx="71414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>
                <a:solidFill>
                  <a:srgbClr val="123240"/>
                </a:solidFill>
              </a:rPr>
              <a:t>PRIMARY VEGETATION FIGURE</a:t>
            </a:r>
            <a:endParaRPr lang="en-US" sz="950"/>
          </a:p>
        </p:txBody>
      </p:sp>
      <p:sp>
        <p:nvSpPr>
          <p:cNvPr id="12" name="Text 10"/>
          <p:cNvSpPr/>
          <p:nvPr/>
        </p:nvSpPr>
        <p:spPr>
          <a:xfrm>
            <a:off x="859536" y="1947672"/>
            <a:ext cx="71414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>
                <a:solidFill>
                  <a:srgbClr val="65737A"/>
                </a:solidFill>
              </a:rPr>
              <a:t>Line, stacked area, or faceted figure. Keep the legend compact and put the finding in the headline.</a:t>
            </a:r>
            <a:endParaRPr lang="en-US" sz="1050"/>
          </a:p>
        </p:txBody>
      </p:sp>
      <p:sp>
        <p:nvSpPr>
          <p:cNvPr id="13" name="Shape 11"/>
          <p:cNvSpPr/>
          <p:nvPr/>
        </p:nvSpPr>
        <p:spPr>
          <a:xfrm>
            <a:off x="886968" y="5257800"/>
            <a:ext cx="7086600" cy="0"/>
          </a:xfrm>
          <a:prstGeom prst="line">
            <a:avLst/>
          </a:prstGeom>
          <a:noFill/>
          <a:ln w="17780">
            <a:solidFill>
              <a:srgbClr val="6CB7AF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8641080" y="1627632"/>
            <a:ext cx="2514600" cy="457200"/>
          </a:xfrm>
          <a:prstGeom prst="rect">
            <a:avLst/>
          </a:prstGeom>
          <a:solidFill>
            <a:srgbClr val="DDEDEC"/>
          </a:solidFill>
          <a:ln w="12700">
            <a:solidFill>
              <a:srgbClr val="DDEDE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8823960" y="1755648"/>
            <a:ext cx="1005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123240"/>
                </a:solidFill>
              </a:rPr>
              <a:t>CONDITION</a:t>
            </a:r>
            <a:endParaRPr lang="en-US" sz="750"/>
          </a:p>
        </p:txBody>
      </p:sp>
      <p:sp>
        <p:nvSpPr>
          <p:cNvPr id="16" name="Text 14"/>
          <p:cNvSpPr/>
          <p:nvPr/>
        </p:nvSpPr>
        <p:spPr>
          <a:xfrm>
            <a:off x="8823960" y="2267712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>
                <a:solidFill>
                  <a:srgbClr val="243036"/>
                </a:solidFill>
              </a:rPr>
              <a:t>Replace with current-year status, direction of change, or monitoring category.</a:t>
            </a:r>
            <a:endParaRPr lang="en-US" sz="1250"/>
          </a:p>
        </p:txBody>
      </p:sp>
      <p:sp>
        <p:nvSpPr>
          <p:cNvPr id="17" name="Shape 15"/>
          <p:cNvSpPr/>
          <p:nvPr/>
        </p:nvSpPr>
        <p:spPr>
          <a:xfrm>
            <a:off x="8641080" y="3273552"/>
            <a:ext cx="2514600" cy="457200"/>
          </a:xfrm>
          <a:prstGeom prst="rect">
            <a:avLst/>
          </a:prstGeom>
          <a:solidFill>
            <a:srgbClr val="E6ECDD"/>
          </a:solidFill>
          <a:ln w="12700">
            <a:solidFill>
              <a:srgbClr val="E6ECD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8823960" y="3401568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3B5B45"/>
                </a:solidFill>
              </a:rPr>
              <a:t>HABITAT LINK</a:t>
            </a:r>
            <a:endParaRPr lang="en-US" sz="750"/>
          </a:p>
        </p:txBody>
      </p:sp>
      <p:sp>
        <p:nvSpPr>
          <p:cNvPr id="19" name="Text 17"/>
          <p:cNvSpPr/>
          <p:nvPr/>
        </p:nvSpPr>
        <p:spPr>
          <a:xfrm>
            <a:off x="8823960" y="3913632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>
              <a:buNone/>
            </a:pPr>
            <a:r>
              <a:rPr lang="en-US" sz="1250">
                <a:solidFill>
                  <a:srgbClr val="243036"/>
                </a:solidFill>
              </a:rPr>
              <a:t>State how the vegetation condition supports habitat, refugia, or covered-species needs.</a:t>
            </a:r>
            <a:endParaRPr lang="en-US" sz="125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2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>
                <a:solidFill>
                  <a:srgbClr val="12324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Major vegetation types tell the habitat story better than total area alone</a:t>
            </a:r>
            <a:endParaRPr lang="en-US" sz="2900"/>
          </a:p>
        </p:txBody>
      </p:sp>
      <p:sp>
        <p:nvSpPr>
          <p:cNvPr id="7" name="Text 5"/>
          <p:cNvSpPr/>
          <p:nvPr/>
        </p:nvSpPr>
        <p:spPr>
          <a:xfrm>
            <a:off x="640080" y="896112"/>
            <a:ext cx="9784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this layout when composition is the key message.</a:t>
            </a:r>
            <a:endParaRPr lang="en-US" sz="1450"/>
          </a:p>
        </p:txBody>
      </p:sp>
      <p:sp>
        <p:nvSpPr>
          <p:cNvPr id="8" name="Text 6"/>
          <p:cNvSpPr/>
          <p:nvPr/>
        </p:nvSpPr>
        <p:spPr>
          <a:xfrm>
            <a:off x="502920" y="648309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VEGETATION COMPOSITION</a:t>
            </a:r>
            <a:endParaRPr lang="en-US" sz="750"/>
          </a:p>
        </p:txBody>
      </p:sp>
      <p:sp>
        <p:nvSpPr>
          <p:cNvPr id="9" name="Text 7"/>
          <p:cNvSpPr/>
          <p:nvPr/>
        </p:nvSpPr>
        <p:spPr>
          <a:xfrm>
            <a:off x="11475720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</a:t>
            </a:r>
            <a:endParaRPr lang="en-US" sz="750"/>
          </a:p>
        </p:txBody>
      </p:sp>
      <p:sp>
        <p:nvSpPr>
          <p:cNvPr id="10" name="Shape 8"/>
          <p:cNvSpPr/>
          <p:nvPr/>
        </p:nvSpPr>
        <p:spPr>
          <a:xfrm>
            <a:off x="658368" y="1417320"/>
            <a:ext cx="5532120" cy="4224528"/>
          </a:xfrm>
          <a:prstGeom prst="rect">
            <a:avLst/>
          </a:prstGeom>
          <a:solidFill>
            <a:srgbClr val="FBFAF4"/>
          </a:solidFill>
          <a:ln w="12700">
            <a:solidFill>
              <a:srgbClr val="A99B80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859536" y="1618488"/>
            <a:ext cx="51297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>
                <a:solidFill>
                  <a:srgbClr val="123240"/>
                </a:solidFill>
              </a:rPr>
              <a:t>A · COMPOSITION FIGURE</a:t>
            </a:r>
            <a:endParaRPr lang="en-US" sz="950"/>
          </a:p>
        </p:txBody>
      </p:sp>
      <p:sp>
        <p:nvSpPr>
          <p:cNvPr id="12" name="Text 10"/>
          <p:cNvSpPr/>
          <p:nvPr/>
        </p:nvSpPr>
        <p:spPr>
          <a:xfrm>
            <a:off x="859536" y="1947672"/>
            <a:ext cx="51297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>
                <a:solidFill>
                  <a:srgbClr val="65737A"/>
                </a:solidFill>
              </a:rPr>
              <a:t>Example: stacked area by dominant vegetation type, grouped bars by survey date, or mosaic summary.</a:t>
            </a:r>
            <a:endParaRPr lang="en-US" sz="1050"/>
          </a:p>
        </p:txBody>
      </p:sp>
      <p:sp>
        <p:nvSpPr>
          <p:cNvPr id="13" name="Shape 11"/>
          <p:cNvSpPr/>
          <p:nvPr/>
        </p:nvSpPr>
        <p:spPr>
          <a:xfrm>
            <a:off x="886968" y="5257800"/>
            <a:ext cx="5074920" cy="0"/>
          </a:xfrm>
          <a:prstGeom prst="line">
            <a:avLst/>
          </a:prstGeom>
          <a:noFill/>
          <a:ln w="17780">
            <a:solidFill>
              <a:srgbClr val="6CB7AF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6473952" y="1417320"/>
            <a:ext cx="4754880" cy="4224528"/>
          </a:xfrm>
          <a:prstGeom prst="rect">
            <a:avLst/>
          </a:prstGeom>
          <a:solidFill>
            <a:srgbClr val="FBFAF4"/>
          </a:solidFill>
          <a:ln w="12700">
            <a:solidFill>
              <a:srgbClr val="A99B80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675120" y="1618488"/>
            <a:ext cx="43525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>
                <a:solidFill>
                  <a:srgbClr val="123240"/>
                </a:solidFill>
              </a:rPr>
              <a:t>B · KEY COMPARISON</a:t>
            </a:r>
            <a:endParaRPr lang="en-US" sz="950"/>
          </a:p>
        </p:txBody>
      </p:sp>
      <p:sp>
        <p:nvSpPr>
          <p:cNvPr id="16" name="Text 14"/>
          <p:cNvSpPr/>
          <p:nvPr/>
        </p:nvSpPr>
        <p:spPr>
          <a:xfrm>
            <a:off x="6675120" y="1947672"/>
            <a:ext cx="43525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>
                <a:solidFill>
                  <a:srgbClr val="65737A"/>
                </a:solidFill>
              </a:rPr>
              <a:t>Example: specific species/class, pre/post management interval, or reach comparison.</a:t>
            </a:r>
            <a:endParaRPr lang="en-US" sz="1050"/>
          </a:p>
        </p:txBody>
      </p:sp>
      <p:sp>
        <p:nvSpPr>
          <p:cNvPr id="17" name="Shape 15"/>
          <p:cNvSpPr/>
          <p:nvPr/>
        </p:nvSpPr>
        <p:spPr>
          <a:xfrm>
            <a:off x="6702552" y="5257800"/>
            <a:ext cx="4297680" cy="0"/>
          </a:xfrm>
          <a:prstGeom prst="line">
            <a:avLst/>
          </a:prstGeom>
          <a:noFill/>
          <a:ln w="17780">
            <a:solidFill>
              <a:srgbClr val="6CB7AF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5788152" y="5897880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>
                <a:solidFill>
                  <a:srgbClr val="65737A"/>
                </a:solidFill>
              </a:rPr>
              <a:t>COMPARE</a:t>
            </a:r>
            <a:endParaRPr lang="en-US" sz="75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2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>
                <a:solidFill>
                  <a:srgbClr val="12324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Show how lake evidence becomes implementation</a:t>
            </a:r>
            <a:endParaRPr lang="en-US" sz="2900"/>
          </a:p>
        </p:txBody>
      </p:sp>
      <p:sp>
        <p:nvSpPr>
          <p:cNvPr id="7" name="Text 5"/>
          <p:cNvSpPr/>
          <p:nvPr/>
        </p:nvSpPr>
        <p:spPr>
          <a:xfrm>
            <a:off x="640080" y="896112"/>
            <a:ext cx="9784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simple pathway clarifies triggers, responsibilities, and intended habitat outcomes.</a:t>
            </a:r>
            <a:endParaRPr lang="en-US" sz="1450"/>
          </a:p>
        </p:txBody>
      </p:sp>
      <p:sp>
        <p:nvSpPr>
          <p:cNvPr id="8" name="Text 6"/>
          <p:cNvSpPr/>
          <p:nvPr/>
        </p:nvSpPr>
        <p:spPr>
          <a:xfrm>
            <a:off x="502920" y="648309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IMPLEMENTATION PATHWAY</a:t>
            </a:r>
            <a:endParaRPr lang="en-US" sz="750"/>
          </a:p>
        </p:txBody>
      </p:sp>
      <p:sp>
        <p:nvSpPr>
          <p:cNvPr id="9" name="Text 7"/>
          <p:cNvSpPr/>
          <p:nvPr/>
        </p:nvSpPr>
        <p:spPr>
          <a:xfrm>
            <a:off x="11475720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</a:t>
            </a:r>
            <a:endParaRPr lang="en-US" sz="750"/>
          </a:p>
        </p:txBody>
      </p:sp>
      <p:sp>
        <p:nvSpPr>
          <p:cNvPr id="10" name="Text 8"/>
          <p:cNvSpPr/>
          <p:nvPr/>
        </p:nvSpPr>
        <p:spPr>
          <a:xfrm>
            <a:off x="749808" y="1627632"/>
            <a:ext cx="1508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>
                <a:solidFill>
                  <a:srgbClr val="1E6F73"/>
                </a:solidFill>
              </a:rPr>
              <a:t>OBSERVE</a:t>
            </a:r>
            <a:endParaRPr lang="en-US" sz="850"/>
          </a:p>
        </p:txBody>
      </p:sp>
      <p:sp>
        <p:nvSpPr>
          <p:cNvPr id="11" name="Text 9"/>
          <p:cNvSpPr/>
          <p:nvPr/>
        </p:nvSpPr>
        <p:spPr>
          <a:xfrm>
            <a:off x="749808" y="2011680"/>
            <a:ext cx="512064" cy="512064"/>
          </a:xfrm>
          <a:prstGeom prst="rect">
            <a:avLst/>
          </a:prstGeom>
          <a:solidFill>
            <a:srgbClr val="1E6F73"/>
          </a:solidFill>
          <a:ln>
            <a:solidFill>
              <a:srgbClr val="1E6F73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>
                <a:solidFill>
                  <a:srgbClr val="FBFAF4"/>
                </a:solidFill>
              </a:rPr>
              <a:t>01</a:t>
            </a:r>
            <a:endParaRPr lang="en-US" sz="1600"/>
          </a:p>
        </p:txBody>
      </p:sp>
      <p:sp>
        <p:nvSpPr>
          <p:cNvPr id="12" name="Text 10"/>
          <p:cNvSpPr/>
          <p:nvPr/>
        </p:nvSpPr>
        <p:spPr>
          <a:xfrm>
            <a:off x="749808" y="2761488"/>
            <a:ext cx="21945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marL="0" indent="0">
              <a:buNone/>
            </a:pPr>
            <a:r>
              <a:rPr lang="en-US" sz="1450" b="1">
                <a:solidFill>
                  <a:srgbClr val="123240"/>
                </a:solidFill>
              </a:rPr>
              <a:t>Vegetation + habitat signal</a:t>
            </a:r>
            <a:endParaRPr lang="en-US" sz="1450"/>
          </a:p>
        </p:txBody>
      </p:sp>
      <p:sp>
        <p:nvSpPr>
          <p:cNvPr id="13" name="Text 11"/>
          <p:cNvSpPr/>
          <p:nvPr/>
        </p:nvSpPr>
        <p:spPr>
          <a:xfrm>
            <a:off x="749808" y="3218688"/>
            <a:ext cx="2148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>
                <a:solidFill>
                  <a:srgbClr val="243036"/>
                </a:solidFill>
              </a:rPr>
              <a:t>Mapped vegetation, photo points, field notes, water clarity, springflow context.</a:t>
            </a:r>
            <a:endParaRPr lang="en-US" sz="1150"/>
          </a:p>
        </p:txBody>
      </p:sp>
      <p:sp>
        <p:nvSpPr>
          <p:cNvPr id="14" name="Shape 12"/>
          <p:cNvSpPr/>
          <p:nvPr/>
        </p:nvSpPr>
        <p:spPr>
          <a:xfrm>
            <a:off x="2999232" y="2267712"/>
            <a:ext cx="384048" cy="0"/>
          </a:xfrm>
          <a:prstGeom prst="line">
            <a:avLst/>
          </a:prstGeom>
          <a:noFill/>
          <a:ln w="16510">
            <a:solidFill>
              <a:srgbClr val="A99B8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3538728" y="1627632"/>
            <a:ext cx="1508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>
                <a:solidFill>
                  <a:srgbClr val="6CB7AF"/>
                </a:solidFill>
              </a:rPr>
              <a:t>INTERPRET</a:t>
            </a:r>
            <a:endParaRPr lang="en-US" sz="850"/>
          </a:p>
        </p:txBody>
      </p:sp>
      <p:sp>
        <p:nvSpPr>
          <p:cNvPr id="16" name="Text 14"/>
          <p:cNvSpPr/>
          <p:nvPr/>
        </p:nvSpPr>
        <p:spPr>
          <a:xfrm>
            <a:off x="3538728" y="2011680"/>
            <a:ext cx="512064" cy="512064"/>
          </a:xfrm>
          <a:prstGeom prst="rect">
            <a:avLst/>
          </a:prstGeom>
          <a:solidFill>
            <a:srgbClr val="6CB7AF"/>
          </a:solidFill>
          <a:ln>
            <a:solidFill>
              <a:srgbClr val="6CB7A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>
                <a:solidFill>
                  <a:srgbClr val="FBFAF4"/>
                </a:solidFill>
              </a:rPr>
              <a:t>02</a:t>
            </a:r>
            <a:endParaRPr lang="en-US" sz="1600"/>
          </a:p>
        </p:txBody>
      </p:sp>
      <p:sp>
        <p:nvSpPr>
          <p:cNvPr id="17" name="Text 15"/>
          <p:cNvSpPr/>
          <p:nvPr/>
        </p:nvSpPr>
        <p:spPr>
          <a:xfrm>
            <a:off x="3538728" y="2761488"/>
            <a:ext cx="21945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50" b="1">
                <a:solidFill>
                  <a:srgbClr val="123240"/>
                </a:solidFill>
              </a:rPr>
              <a:t>Ecological meaning</a:t>
            </a:r>
            <a:endParaRPr lang="en-US" sz="1450"/>
          </a:p>
        </p:txBody>
      </p:sp>
      <p:sp>
        <p:nvSpPr>
          <p:cNvPr id="18" name="Text 16"/>
          <p:cNvSpPr/>
          <p:nvPr/>
        </p:nvSpPr>
        <p:spPr>
          <a:xfrm>
            <a:off x="3538728" y="3218688"/>
            <a:ext cx="2148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>
                <a:solidFill>
                  <a:srgbClr val="243036"/>
                </a:solidFill>
              </a:rPr>
              <a:t>Separate normal seasonal movement from persistent habitat change.</a:t>
            </a:r>
            <a:endParaRPr lang="en-US" sz="1150"/>
          </a:p>
        </p:txBody>
      </p:sp>
      <p:sp>
        <p:nvSpPr>
          <p:cNvPr id="19" name="Shape 17"/>
          <p:cNvSpPr/>
          <p:nvPr/>
        </p:nvSpPr>
        <p:spPr>
          <a:xfrm>
            <a:off x="5788152" y="2267712"/>
            <a:ext cx="384048" cy="0"/>
          </a:xfrm>
          <a:prstGeom prst="line">
            <a:avLst/>
          </a:prstGeom>
          <a:noFill/>
          <a:ln w="16510">
            <a:solidFill>
              <a:srgbClr val="A99B8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327648" y="1627632"/>
            <a:ext cx="1508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>
                <a:solidFill>
                  <a:srgbClr val="4F7D4F"/>
                </a:solidFill>
              </a:rPr>
              <a:t>MANAGE</a:t>
            </a:r>
            <a:endParaRPr lang="en-US" sz="850"/>
          </a:p>
        </p:txBody>
      </p:sp>
      <p:sp>
        <p:nvSpPr>
          <p:cNvPr id="21" name="Text 19"/>
          <p:cNvSpPr/>
          <p:nvPr/>
        </p:nvSpPr>
        <p:spPr>
          <a:xfrm>
            <a:off x="6327648" y="2011680"/>
            <a:ext cx="512064" cy="512064"/>
          </a:xfrm>
          <a:prstGeom prst="rect">
            <a:avLst/>
          </a:prstGeom>
          <a:solidFill>
            <a:srgbClr val="4F7D4F"/>
          </a:solidFill>
          <a:ln>
            <a:solidFill>
              <a:srgbClr val="4F7D4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>
                <a:solidFill>
                  <a:srgbClr val="FBFAF4"/>
                </a:solidFill>
              </a:rPr>
              <a:t>03</a:t>
            </a:r>
            <a:endParaRPr lang="en-US" sz="1600"/>
          </a:p>
        </p:txBody>
      </p:sp>
      <p:sp>
        <p:nvSpPr>
          <p:cNvPr id="22" name="Text 20"/>
          <p:cNvSpPr/>
          <p:nvPr/>
        </p:nvSpPr>
        <p:spPr>
          <a:xfrm>
            <a:off x="6327648" y="2761488"/>
            <a:ext cx="21945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50" b="1">
                <a:solidFill>
                  <a:srgbClr val="123240"/>
                </a:solidFill>
              </a:rPr>
              <a:t>Implementation action</a:t>
            </a:r>
            <a:endParaRPr lang="en-US" sz="1450"/>
          </a:p>
        </p:txBody>
      </p:sp>
      <p:sp>
        <p:nvSpPr>
          <p:cNvPr id="23" name="Text 21"/>
          <p:cNvSpPr/>
          <p:nvPr/>
        </p:nvSpPr>
        <p:spPr>
          <a:xfrm>
            <a:off x="6327648" y="3218688"/>
            <a:ext cx="2148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>
                <a:solidFill>
                  <a:srgbClr val="243036"/>
                </a:solidFill>
              </a:rPr>
              <a:t>Coordinate mowing, recreation management, restoration, or monitoring adjustment.</a:t>
            </a:r>
            <a:endParaRPr lang="en-US" sz="1150"/>
          </a:p>
        </p:txBody>
      </p:sp>
      <p:sp>
        <p:nvSpPr>
          <p:cNvPr id="24" name="Shape 22"/>
          <p:cNvSpPr/>
          <p:nvPr/>
        </p:nvSpPr>
        <p:spPr>
          <a:xfrm>
            <a:off x="8577072" y="2267712"/>
            <a:ext cx="384048" cy="0"/>
          </a:xfrm>
          <a:prstGeom prst="line">
            <a:avLst/>
          </a:prstGeom>
          <a:noFill/>
          <a:ln w="16510">
            <a:solidFill>
              <a:srgbClr val="A99B8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9116568" y="1627632"/>
            <a:ext cx="1508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>
                <a:solidFill>
                  <a:srgbClr val="3B5B45"/>
                </a:solidFill>
              </a:rPr>
              <a:t>EVALUATE</a:t>
            </a:r>
            <a:endParaRPr lang="en-US" sz="850"/>
          </a:p>
        </p:txBody>
      </p:sp>
      <p:sp>
        <p:nvSpPr>
          <p:cNvPr id="26" name="Text 24"/>
          <p:cNvSpPr/>
          <p:nvPr/>
        </p:nvSpPr>
        <p:spPr>
          <a:xfrm>
            <a:off x="9116568" y="2011680"/>
            <a:ext cx="512064" cy="512064"/>
          </a:xfrm>
          <a:prstGeom prst="rect">
            <a:avLst/>
          </a:prstGeom>
          <a:solidFill>
            <a:srgbClr val="3B5B45"/>
          </a:solidFill>
          <a:ln>
            <a:solidFill>
              <a:srgbClr val="3B5B45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>
                <a:solidFill>
                  <a:srgbClr val="FBFAF4"/>
                </a:solidFill>
              </a:rPr>
              <a:t>04</a:t>
            </a:r>
            <a:endParaRPr lang="en-US" sz="1600"/>
          </a:p>
        </p:txBody>
      </p:sp>
      <p:sp>
        <p:nvSpPr>
          <p:cNvPr id="27" name="Text 25"/>
          <p:cNvSpPr/>
          <p:nvPr/>
        </p:nvSpPr>
        <p:spPr>
          <a:xfrm>
            <a:off x="9116568" y="2761488"/>
            <a:ext cx="21945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50" b="1">
                <a:solidFill>
                  <a:srgbClr val="123240"/>
                </a:solidFill>
              </a:rPr>
              <a:t>Outcome and learning</a:t>
            </a:r>
            <a:endParaRPr lang="en-US" sz="1450"/>
          </a:p>
        </p:txBody>
      </p:sp>
      <p:sp>
        <p:nvSpPr>
          <p:cNvPr id="28" name="Text 26"/>
          <p:cNvSpPr/>
          <p:nvPr/>
        </p:nvSpPr>
        <p:spPr>
          <a:xfrm>
            <a:off x="9116568" y="3218688"/>
            <a:ext cx="2148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>
                <a:solidFill>
                  <a:srgbClr val="243036"/>
                </a:solidFill>
              </a:rPr>
              <a:t>Assess vegetation response, habitat quality, and what to change next cycle.</a:t>
            </a:r>
            <a:endParaRPr lang="en-US" sz="1150"/>
          </a:p>
        </p:txBody>
      </p:sp>
      <p:sp>
        <p:nvSpPr>
          <p:cNvPr id="29" name="Shape 27"/>
          <p:cNvSpPr/>
          <p:nvPr/>
        </p:nvSpPr>
        <p:spPr>
          <a:xfrm>
            <a:off x="749808" y="5193792"/>
            <a:ext cx="10195560" cy="457200"/>
          </a:xfrm>
          <a:prstGeom prst="rect">
            <a:avLst/>
          </a:prstGeom>
          <a:solidFill>
            <a:srgbClr val="F4E9CF"/>
          </a:solidFill>
          <a:ln w="12700">
            <a:solidFill>
              <a:srgbClr val="F4E9C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932688" y="5330952"/>
            <a:ext cx="9738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>
                <a:solidFill>
                  <a:srgbClr val="123240"/>
                </a:solidFill>
              </a:rPr>
              <a:t>KEY QUESTION  ·  Is each handoff clear, documented, and supported by the right monitoring evidence?</a:t>
            </a:r>
            <a:endParaRPr lang="en-US" sz="100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2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>
                <a:solidFill>
                  <a:srgbClr val="12324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Monitoring is easiest to review by purpose and status</a:t>
            </a:r>
            <a:endParaRPr lang="en-US" sz="2900"/>
          </a:p>
        </p:txBody>
      </p:sp>
      <p:sp>
        <p:nvSpPr>
          <p:cNvPr id="7" name="Text 5"/>
          <p:cNvSpPr/>
          <p:nvPr/>
        </p:nvSpPr>
        <p:spPr>
          <a:xfrm>
            <a:off x="640080" y="896112"/>
            <a:ext cx="9784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this table for vegetation mapping, photo points, water quality, recreation observations, or targeted surveys.</a:t>
            </a:r>
            <a:endParaRPr lang="en-US" sz="1450"/>
          </a:p>
        </p:txBody>
      </p:sp>
      <p:sp>
        <p:nvSpPr>
          <p:cNvPr id="8" name="Text 6"/>
          <p:cNvSpPr/>
          <p:nvPr/>
        </p:nvSpPr>
        <p:spPr>
          <a:xfrm>
            <a:off x="502920" y="648309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MONITORING STATUS</a:t>
            </a:r>
            <a:endParaRPr lang="en-US" sz="750"/>
          </a:p>
        </p:txBody>
      </p:sp>
      <p:sp>
        <p:nvSpPr>
          <p:cNvPr id="9" name="Text 7"/>
          <p:cNvSpPr/>
          <p:nvPr/>
        </p:nvSpPr>
        <p:spPr>
          <a:xfrm>
            <a:off x="11475720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</a:t>
            </a:r>
            <a:endParaRPr lang="en-US" sz="750"/>
          </a:p>
        </p:txBody>
      </p:sp>
      <p:sp>
        <p:nvSpPr>
          <p:cNvPr id="10" name="Shape 8"/>
          <p:cNvSpPr/>
          <p:nvPr/>
        </p:nvSpPr>
        <p:spPr>
          <a:xfrm>
            <a:off x="658368" y="1463040"/>
            <a:ext cx="10561320" cy="384048"/>
          </a:xfrm>
          <a:prstGeom prst="rect">
            <a:avLst/>
          </a:prstGeom>
          <a:solidFill>
            <a:srgbClr val="123240"/>
          </a:solidFill>
          <a:ln w="12700">
            <a:solidFill>
              <a:srgbClr val="12324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768096" y="1581912"/>
            <a:ext cx="21031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FBFAF4"/>
                </a:solidFill>
              </a:rPr>
              <a:t>COMPONENT</a:t>
            </a:r>
            <a:endParaRPr lang="en-US" sz="750"/>
          </a:p>
        </p:txBody>
      </p:sp>
      <p:sp>
        <p:nvSpPr>
          <p:cNvPr id="12" name="Text 10"/>
          <p:cNvSpPr/>
          <p:nvPr/>
        </p:nvSpPr>
        <p:spPr>
          <a:xfrm>
            <a:off x="3081528" y="1581912"/>
            <a:ext cx="41148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FBFAF4"/>
                </a:solidFill>
              </a:rPr>
              <a:t>PURPOSE IN LANDA LAKE</a:t>
            </a:r>
            <a:endParaRPr lang="en-US" sz="750"/>
          </a:p>
        </p:txBody>
      </p:sp>
      <p:sp>
        <p:nvSpPr>
          <p:cNvPr id="13" name="Text 11"/>
          <p:cNvSpPr/>
          <p:nvPr/>
        </p:nvSpPr>
        <p:spPr>
          <a:xfrm>
            <a:off x="7452360" y="1581912"/>
            <a:ext cx="18288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FBFAF4"/>
                </a:solidFill>
              </a:rPr>
              <a:t>CURRENT STATUS</a:t>
            </a:r>
            <a:endParaRPr lang="en-US" sz="750"/>
          </a:p>
        </p:txBody>
      </p:sp>
      <p:sp>
        <p:nvSpPr>
          <p:cNvPr id="14" name="Text 12"/>
          <p:cNvSpPr/>
          <p:nvPr/>
        </p:nvSpPr>
        <p:spPr>
          <a:xfrm>
            <a:off x="9546336" y="1581912"/>
            <a:ext cx="1417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FBFAF4"/>
                </a:solidFill>
              </a:rPr>
              <a:t>NEXT USE</a:t>
            </a:r>
            <a:endParaRPr lang="en-US" sz="750"/>
          </a:p>
        </p:txBody>
      </p:sp>
      <p:sp>
        <p:nvSpPr>
          <p:cNvPr id="15" name="Shape 13"/>
          <p:cNvSpPr/>
          <p:nvPr/>
        </p:nvSpPr>
        <p:spPr>
          <a:xfrm>
            <a:off x="658368" y="1883664"/>
            <a:ext cx="10561320" cy="713232"/>
          </a:xfrm>
          <a:prstGeom prst="rect">
            <a:avLst/>
          </a:prstGeom>
          <a:solidFill>
            <a:srgbClr val="FBFAF4"/>
          </a:solidFill>
          <a:ln w="5080">
            <a:solidFill>
              <a:srgbClr val="D8CFBA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768096" y="2048256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 b="1">
                <a:solidFill>
                  <a:srgbClr val="123240"/>
                </a:solidFill>
              </a:rPr>
              <a:t>Vegetation mapping</a:t>
            </a:r>
            <a:endParaRPr lang="en-US" sz="1220"/>
          </a:p>
        </p:txBody>
      </p:sp>
      <p:sp>
        <p:nvSpPr>
          <p:cNvPr id="17" name="Text 15"/>
          <p:cNvSpPr/>
          <p:nvPr/>
        </p:nvSpPr>
        <p:spPr>
          <a:xfrm>
            <a:off x="3081528" y="2029968"/>
            <a:ext cx="3886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30">
                <a:solidFill>
                  <a:srgbClr val="243036"/>
                </a:solidFill>
              </a:rPr>
              <a:t>Describe the mechanism and ecological value of the survey product.</a:t>
            </a:r>
            <a:endParaRPr lang="en-US" sz="1030"/>
          </a:p>
        </p:txBody>
      </p:sp>
      <p:sp>
        <p:nvSpPr>
          <p:cNvPr id="18" name="Text 16"/>
          <p:cNvSpPr/>
          <p:nvPr/>
        </p:nvSpPr>
        <p:spPr>
          <a:xfrm>
            <a:off x="7470648" y="2066544"/>
            <a:ext cx="1005840" cy="256032"/>
          </a:xfrm>
          <a:prstGeom prst="rect">
            <a:avLst/>
          </a:prstGeom>
          <a:solidFill>
            <a:srgbClr val="3B5B45"/>
          </a:solidFill>
          <a:ln>
            <a:solidFill>
              <a:srgbClr val="3B5B45">
                <a:alpha val="0"/>
              </a:srgbClr>
            </a:solidFill>
          </a:ln>
        </p:spPr>
        <p:txBody>
          <a:bodyPr wrap="square" lIns="381" tIns="381" rIns="381" bIns="381" rtlCol="0" anchor="ctr"/>
          <a:lstStyle/>
          <a:p>
            <a:pPr marL="0" indent="0" algn="ctr">
              <a:buNone/>
            </a:pPr>
            <a:r>
              <a:rPr lang="en-US" sz="850" b="1">
                <a:solidFill>
                  <a:srgbClr val="FBFAF4"/>
                </a:solidFill>
              </a:rPr>
              <a:t>ON TRACK</a:t>
            </a:r>
            <a:endParaRPr lang="en-US" sz="850"/>
          </a:p>
        </p:txBody>
      </p:sp>
      <p:sp>
        <p:nvSpPr>
          <p:cNvPr id="19" name="Text 17"/>
          <p:cNvSpPr/>
          <p:nvPr/>
        </p:nvSpPr>
        <p:spPr>
          <a:xfrm>
            <a:off x="9573768" y="2075688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20" b="1">
                <a:solidFill>
                  <a:srgbClr val="243036"/>
                </a:solidFill>
              </a:rPr>
              <a:t>Briefing</a:t>
            </a:r>
            <a:endParaRPr lang="en-US" sz="1120"/>
          </a:p>
        </p:txBody>
      </p:sp>
      <p:sp>
        <p:nvSpPr>
          <p:cNvPr id="20" name="Shape 18"/>
          <p:cNvSpPr/>
          <p:nvPr/>
        </p:nvSpPr>
        <p:spPr>
          <a:xfrm>
            <a:off x="658368" y="2688336"/>
            <a:ext cx="10561320" cy="713232"/>
          </a:xfrm>
          <a:prstGeom prst="rect">
            <a:avLst/>
          </a:prstGeom>
          <a:solidFill>
            <a:srgbClr val="F2EFE4"/>
          </a:solidFill>
          <a:ln w="5080">
            <a:solidFill>
              <a:srgbClr val="D8CFBA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768096" y="28529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 b="1">
                <a:solidFill>
                  <a:srgbClr val="123240"/>
                </a:solidFill>
              </a:rPr>
              <a:t>Photo points / field notes</a:t>
            </a:r>
            <a:endParaRPr lang="en-US" sz="1220"/>
          </a:p>
        </p:txBody>
      </p:sp>
      <p:sp>
        <p:nvSpPr>
          <p:cNvPr id="22" name="Text 20"/>
          <p:cNvSpPr/>
          <p:nvPr/>
        </p:nvSpPr>
        <p:spPr>
          <a:xfrm>
            <a:off x="3081528" y="2834640"/>
            <a:ext cx="3886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30">
                <a:solidFill>
                  <a:srgbClr val="243036"/>
                </a:solidFill>
              </a:rPr>
              <a:t>Describe what the field observation adds to the mapped data.</a:t>
            </a:r>
            <a:endParaRPr lang="en-US" sz="1030"/>
          </a:p>
        </p:txBody>
      </p:sp>
      <p:sp>
        <p:nvSpPr>
          <p:cNvPr id="23" name="Text 21"/>
          <p:cNvSpPr/>
          <p:nvPr/>
        </p:nvSpPr>
        <p:spPr>
          <a:xfrm>
            <a:off x="7470648" y="2871216"/>
            <a:ext cx="1005840" cy="256032"/>
          </a:xfrm>
          <a:prstGeom prst="rect">
            <a:avLst/>
          </a:prstGeom>
          <a:solidFill>
            <a:srgbClr val="D6A13A"/>
          </a:solidFill>
          <a:ln>
            <a:solidFill>
              <a:srgbClr val="D6A13A">
                <a:alpha val="0"/>
              </a:srgbClr>
            </a:solidFill>
          </a:ln>
        </p:spPr>
        <p:txBody>
          <a:bodyPr wrap="square" lIns="381" tIns="381" rIns="381" bIns="381" rtlCol="0" anchor="ctr"/>
          <a:lstStyle/>
          <a:p>
            <a:pPr marL="0" indent="0" algn="ctr">
              <a:buNone/>
            </a:pPr>
            <a:r>
              <a:rPr lang="en-US" sz="850" b="1">
                <a:solidFill>
                  <a:srgbClr val="FBFAF4"/>
                </a:solidFill>
              </a:rPr>
              <a:t>WATCH</a:t>
            </a:r>
            <a:endParaRPr lang="en-US" sz="850"/>
          </a:p>
        </p:txBody>
      </p:sp>
      <p:sp>
        <p:nvSpPr>
          <p:cNvPr id="24" name="Text 22"/>
          <p:cNvSpPr/>
          <p:nvPr/>
        </p:nvSpPr>
        <p:spPr>
          <a:xfrm>
            <a:off x="9573768" y="2880360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20" b="1">
                <a:solidFill>
                  <a:srgbClr val="243036"/>
                </a:solidFill>
              </a:rPr>
              <a:t>QA/QC</a:t>
            </a:r>
            <a:endParaRPr lang="en-US" sz="1120"/>
          </a:p>
        </p:txBody>
      </p:sp>
      <p:sp>
        <p:nvSpPr>
          <p:cNvPr id="25" name="Shape 23"/>
          <p:cNvSpPr/>
          <p:nvPr/>
        </p:nvSpPr>
        <p:spPr>
          <a:xfrm>
            <a:off x="658368" y="3493008"/>
            <a:ext cx="10561320" cy="713232"/>
          </a:xfrm>
          <a:prstGeom prst="rect">
            <a:avLst/>
          </a:prstGeom>
          <a:solidFill>
            <a:srgbClr val="FBFAF4"/>
          </a:solidFill>
          <a:ln w="5080">
            <a:solidFill>
              <a:srgbClr val="D8CFBA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768096" y="365760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 b="1">
                <a:solidFill>
                  <a:srgbClr val="123240"/>
                </a:solidFill>
              </a:rPr>
              <a:t>Water-quality context</a:t>
            </a:r>
            <a:endParaRPr lang="en-US" sz="1220"/>
          </a:p>
        </p:txBody>
      </p:sp>
      <p:sp>
        <p:nvSpPr>
          <p:cNvPr id="27" name="Text 25"/>
          <p:cNvSpPr/>
          <p:nvPr/>
        </p:nvSpPr>
        <p:spPr>
          <a:xfrm>
            <a:off x="3081528" y="3639312"/>
            <a:ext cx="3886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30">
                <a:solidFill>
                  <a:srgbClr val="243036"/>
                </a:solidFill>
              </a:rPr>
              <a:t>Describe the interpretive value for clarity, flow, or habitat condition.</a:t>
            </a:r>
            <a:endParaRPr lang="en-US" sz="1030"/>
          </a:p>
        </p:txBody>
      </p:sp>
      <p:sp>
        <p:nvSpPr>
          <p:cNvPr id="28" name="Text 26"/>
          <p:cNvSpPr/>
          <p:nvPr/>
        </p:nvSpPr>
        <p:spPr>
          <a:xfrm>
            <a:off x="7470648" y="3675888"/>
            <a:ext cx="1005840" cy="256032"/>
          </a:xfrm>
          <a:prstGeom prst="rect">
            <a:avLst/>
          </a:prstGeom>
          <a:solidFill>
            <a:srgbClr val="4F7D4F"/>
          </a:solidFill>
          <a:ln>
            <a:solidFill>
              <a:srgbClr val="4F7D4F">
                <a:alpha val="0"/>
              </a:srgbClr>
            </a:solidFill>
          </a:ln>
        </p:spPr>
        <p:txBody>
          <a:bodyPr wrap="square" lIns="381" tIns="381" rIns="381" bIns="381" rtlCol="0" anchor="ctr"/>
          <a:lstStyle/>
          <a:p>
            <a:pPr marL="0" indent="0" algn="ctr">
              <a:buNone/>
            </a:pPr>
            <a:r>
              <a:rPr lang="en-US" sz="850" b="1">
                <a:solidFill>
                  <a:srgbClr val="FBFAF4"/>
                </a:solidFill>
              </a:rPr>
              <a:t>ACTIVE</a:t>
            </a:r>
            <a:endParaRPr lang="en-US" sz="850"/>
          </a:p>
        </p:txBody>
      </p:sp>
      <p:sp>
        <p:nvSpPr>
          <p:cNvPr id="29" name="Text 27"/>
          <p:cNvSpPr/>
          <p:nvPr/>
        </p:nvSpPr>
        <p:spPr>
          <a:xfrm>
            <a:off x="9573768" y="3685032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20" b="1">
                <a:solidFill>
                  <a:srgbClr val="243036"/>
                </a:solidFill>
              </a:rPr>
              <a:t>Context</a:t>
            </a:r>
            <a:endParaRPr lang="en-US" sz="1120"/>
          </a:p>
        </p:txBody>
      </p:sp>
      <p:sp>
        <p:nvSpPr>
          <p:cNvPr id="30" name="Shape 28"/>
          <p:cNvSpPr/>
          <p:nvPr/>
        </p:nvSpPr>
        <p:spPr>
          <a:xfrm>
            <a:off x="658368" y="4297680"/>
            <a:ext cx="10561320" cy="713232"/>
          </a:xfrm>
          <a:prstGeom prst="rect">
            <a:avLst/>
          </a:prstGeom>
          <a:solidFill>
            <a:srgbClr val="F2EFE4"/>
          </a:solidFill>
          <a:ln w="5080">
            <a:solidFill>
              <a:srgbClr val="D8CFBA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768096" y="446227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 b="1">
                <a:solidFill>
                  <a:srgbClr val="123240"/>
                </a:solidFill>
              </a:rPr>
              <a:t>Management action record</a:t>
            </a:r>
            <a:endParaRPr lang="en-US" sz="1220"/>
          </a:p>
        </p:txBody>
      </p:sp>
      <p:sp>
        <p:nvSpPr>
          <p:cNvPr id="32" name="Text 30"/>
          <p:cNvSpPr/>
          <p:nvPr/>
        </p:nvSpPr>
        <p:spPr>
          <a:xfrm>
            <a:off x="3081528" y="4443984"/>
            <a:ext cx="3886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30">
                <a:solidFill>
                  <a:srgbClr val="243036"/>
                </a:solidFill>
              </a:rPr>
              <a:t>Describe how implementation actions are documented and connected to outcomes.</a:t>
            </a:r>
            <a:endParaRPr lang="en-US" sz="1030"/>
          </a:p>
        </p:txBody>
      </p:sp>
      <p:sp>
        <p:nvSpPr>
          <p:cNvPr id="33" name="Text 31"/>
          <p:cNvSpPr/>
          <p:nvPr/>
        </p:nvSpPr>
        <p:spPr>
          <a:xfrm>
            <a:off x="7470648" y="4480560"/>
            <a:ext cx="1005840" cy="256032"/>
          </a:xfrm>
          <a:prstGeom prst="rect">
            <a:avLst/>
          </a:prstGeom>
          <a:solidFill>
            <a:srgbClr val="B86156"/>
          </a:solidFill>
          <a:ln>
            <a:solidFill>
              <a:srgbClr val="B86156">
                <a:alpha val="0"/>
              </a:srgbClr>
            </a:solidFill>
          </a:ln>
        </p:spPr>
        <p:txBody>
          <a:bodyPr wrap="square" lIns="381" tIns="381" rIns="381" bIns="381" rtlCol="0" anchor="ctr"/>
          <a:lstStyle/>
          <a:p>
            <a:pPr marL="0" indent="0" algn="ctr">
              <a:buNone/>
            </a:pPr>
            <a:r>
              <a:rPr lang="en-US" sz="850" b="1">
                <a:solidFill>
                  <a:srgbClr val="FBFAF4"/>
                </a:solidFill>
              </a:rPr>
              <a:t>UPDATE</a:t>
            </a:r>
            <a:endParaRPr lang="en-US" sz="850"/>
          </a:p>
        </p:txBody>
      </p:sp>
      <p:sp>
        <p:nvSpPr>
          <p:cNvPr id="34" name="Text 32"/>
          <p:cNvSpPr/>
          <p:nvPr/>
        </p:nvSpPr>
        <p:spPr>
          <a:xfrm>
            <a:off x="9573768" y="4489704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20" b="1">
                <a:solidFill>
                  <a:srgbClr val="243036"/>
                </a:solidFill>
              </a:rPr>
              <a:t>Decision</a:t>
            </a:r>
            <a:endParaRPr lang="en-US" sz="1120"/>
          </a:p>
        </p:txBody>
      </p:sp>
      <p:sp>
        <p:nvSpPr>
          <p:cNvPr id="35" name="Text 33"/>
          <p:cNvSpPr/>
          <p:nvPr/>
        </p:nvSpPr>
        <p:spPr>
          <a:xfrm>
            <a:off x="822960" y="5559552"/>
            <a:ext cx="9875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3B5B45"/>
                </a:solidFill>
              </a:rPr>
              <a:t>DISCUSSION PROMPT  ·  Which monitoring components are ready for interpretation, and which need more field context?</a:t>
            </a:r>
            <a:endParaRPr lang="en-US" sz="105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2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>
                <a:solidFill>
                  <a:srgbClr val="12324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Pair lake condition with program response</a:t>
            </a:r>
            <a:endParaRPr lang="en-US" sz="2900"/>
          </a:p>
        </p:txBody>
      </p:sp>
      <p:sp>
        <p:nvSpPr>
          <p:cNvPr id="7" name="Text 5"/>
          <p:cNvSpPr/>
          <p:nvPr/>
        </p:nvSpPr>
        <p:spPr>
          <a:xfrm>
            <a:off x="640080" y="896112"/>
            <a:ext cx="9784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aligned figures when the comparison—not either figure alone—is the message.</a:t>
            </a:r>
            <a:endParaRPr lang="en-US" sz="1450"/>
          </a:p>
        </p:txBody>
      </p:sp>
      <p:sp>
        <p:nvSpPr>
          <p:cNvPr id="8" name="Text 6"/>
          <p:cNvSpPr/>
          <p:nvPr/>
        </p:nvSpPr>
        <p:spPr>
          <a:xfrm>
            <a:off x="502920" y="648309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 + RESPONSE</a:t>
            </a:r>
            <a:endParaRPr lang="en-US" sz="750"/>
          </a:p>
        </p:txBody>
      </p:sp>
      <p:sp>
        <p:nvSpPr>
          <p:cNvPr id="9" name="Text 7"/>
          <p:cNvSpPr/>
          <p:nvPr/>
        </p:nvSpPr>
        <p:spPr>
          <a:xfrm>
            <a:off x="11475720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</a:t>
            </a:r>
            <a:endParaRPr lang="en-US" sz="750"/>
          </a:p>
        </p:txBody>
      </p:sp>
      <p:sp>
        <p:nvSpPr>
          <p:cNvPr id="10" name="Shape 8"/>
          <p:cNvSpPr/>
          <p:nvPr/>
        </p:nvSpPr>
        <p:spPr>
          <a:xfrm>
            <a:off x="658368" y="1417320"/>
            <a:ext cx="5166360" cy="4224528"/>
          </a:xfrm>
          <a:prstGeom prst="rect">
            <a:avLst/>
          </a:prstGeom>
          <a:solidFill>
            <a:srgbClr val="FBFAF4"/>
          </a:solidFill>
          <a:ln w="12700">
            <a:solidFill>
              <a:srgbClr val="A99B80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859536" y="1618488"/>
            <a:ext cx="4764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>
                <a:solidFill>
                  <a:srgbClr val="123240"/>
                </a:solidFill>
              </a:rPr>
              <a:t>A · LAKE CONDITION</a:t>
            </a:r>
            <a:endParaRPr lang="en-US" sz="950"/>
          </a:p>
        </p:txBody>
      </p:sp>
      <p:sp>
        <p:nvSpPr>
          <p:cNvPr id="12" name="Text 10"/>
          <p:cNvSpPr/>
          <p:nvPr/>
        </p:nvSpPr>
        <p:spPr>
          <a:xfrm>
            <a:off x="859536" y="1947672"/>
            <a:ext cx="47640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>
                <a:solidFill>
                  <a:srgbClr val="65737A"/>
                </a:solidFill>
              </a:rPr>
              <a:t>Examples: vegetation extent, percent cover, mapped habitat, water clarity, or springflow context.</a:t>
            </a:r>
            <a:endParaRPr lang="en-US" sz="1050"/>
          </a:p>
        </p:txBody>
      </p:sp>
      <p:sp>
        <p:nvSpPr>
          <p:cNvPr id="13" name="Shape 11"/>
          <p:cNvSpPr/>
          <p:nvPr/>
        </p:nvSpPr>
        <p:spPr>
          <a:xfrm>
            <a:off x="886968" y="5257800"/>
            <a:ext cx="4709160" cy="0"/>
          </a:xfrm>
          <a:prstGeom prst="line">
            <a:avLst/>
          </a:prstGeom>
          <a:noFill/>
          <a:ln w="17780">
            <a:solidFill>
              <a:srgbClr val="6CB7AF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6126480" y="1417320"/>
            <a:ext cx="5166360" cy="4224528"/>
          </a:xfrm>
          <a:prstGeom prst="rect">
            <a:avLst/>
          </a:prstGeom>
          <a:solidFill>
            <a:srgbClr val="FBFAF4"/>
          </a:solidFill>
          <a:ln w="12700">
            <a:solidFill>
              <a:srgbClr val="A99B80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327648" y="1618488"/>
            <a:ext cx="4764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>
                <a:solidFill>
                  <a:srgbClr val="123240"/>
                </a:solidFill>
              </a:rPr>
              <a:t>B · PROGRAM RESPONSE</a:t>
            </a:r>
            <a:endParaRPr lang="en-US" sz="950"/>
          </a:p>
        </p:txBody>
      </p:sp>
      <p:sp>
        <p:nvSpPr>
          <p:cNvPr id="16" name="Text 14"/>
          <p:cNvSpPr/>
          <p:nvPr/>
        </p:nvSpPr>
        <p:spPr>
          <a:xfrm>
            <a:off x="6327648" y="1947672"/>
            <a:ext cx="47640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>
                <a:solidFill>
                  <a:srgbClr val="65737A"/>
                </a:solidFill>
              </a:rPr>
              <a:t>Examples: maintenance, restoration, recreation management, monitoring adjustment, or adaptive response.</a:t>
            </a:r>
            <a:endParaRPr lang="en-US" sz="1050"/>
          </a:p>
        </p:txBody>
      </p:sp>
      <p:sp>
        <p:nvSpPr>
          <p:cNvPr id="17" name="Shape 15"/>
          <p:cNvSpPr/>
          <p:nvPr/>
        </p:nvSpPr>
        <p:spPr>
          <a:xfrm>
            <a:off x="6355080" y="5257800"/>
            <a:ext cx="4709160" cy="0"/>
          </a:xfrm>
          <a:prstGeom prst="line">
            <a:avLst/>
          </a:prstGeom>
          <a:noFill/>
          <a:ln w="17780">
            <a:solidFill>
              <a:srgbClr val="6CB7AF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5623560" y="589788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>
                <a:solidFill>
                  <a:srgbClr val="65737A"/>
                </a:solidFill>
              </a:rPr>
              <a:t>COMPARE</a:t>
            </a:r>
            <a:endParaRPr lang="en-US" sz="75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2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>
                <a:solidFill>
                  <a:srgbClr val="12324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should the committee discuss?</a:t>
            </a:r>
            <a:endParaRPr lang="en-US" sz="2900"/>
          </a:p>
        </p:txBody>
      </p:sp>
      <p:sp>
        <p:nvSpPr>
          <p:cNvPr id="7" name="Text 5"/>
          <p:cNvSpPr/>
          <p:nvPr/>
        </p:nvSpPr>
        <p:spPr>
          <a:xfrm>
            <a:off x="640080" y="896112"/>
            <a:ext cx="9784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this slide to convert information into focused scientific dialogue.</a:t>
            </a:r>
            <a:endParaRPr lang="en-US" sz="1450"/>
          </a:p>
        </p:txBody>
      </p:sp>
      <p:sp>
        <p:nvSpPr>
          <p:cNvPr id="8" name="Text 6"/>
          <p:cNvSpPr/>
          <p:nvPr/>
        </p:nvSpPr>
        <p:spPr>
          <a:xfrm>
            <a:off x="502920" y="648309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DISCUSSION / DECISION</a:t>
            </a:r>
            <a:endParaRPr lang="en-US" sz="750"/>
          </a:p>
        </p:txBody>
      </p:sp>
      <p:sp>
        <p:nvSpPr>
          <p:cNvPr id="9" name="Text 7"/>
          <p:cNvSpPr/>
          <p:nvPr/>
        </p:nvSpPr>
        <p:spPr>
          <a:xfrm>
            <a:off x="11475720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</a:t>
            </a:r>
            <a:endParaRPr lang="en-US" sz="750"/>
          </a:p>
        </p:txBody>
      </p:sp>
      <p:sp>
        <p:nvSpPr>
          <p:cNvPr id="10" name="Text 8"/>
          <p:cNvSpPr/>
          <p:nvPr/>
        </p:nvSpPr>
        <p:spPr>
          <a:xfrm>
            <a:off x="960120" y="1600200"/>
            <a:ext cx="4389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D6A13A"/>
                </a:solidFill>
              </a:rPr>
              <a:t>01</a:t>
            </a:r>
            <a:endParaRPr lang="en-US" sz="1500"/>
          </a:p>
        </p:txBody>
      </p:sp>
      <p:sp>
        <p:nvSpPr>
          <p:cNvPr id="11" name="Text 9"/>
          <p:cNvSpPr/>
          <p:nvPr/>
        </p:nvSpPr>
        <p:spPr>
          <a:xfrm>
            <a:off x="1572768" y="1581912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123240"/>
                </a:solidFill>
              </a:rPr>
              <a:t>Is the evidence sufficient?</a:t>
            </a:r>
            <a:endParaRPr lang="en-US" sz="2000"/>
          </a:p>
        </p:txBody>
      </p:sp>
      <p:sp>
        <p:nvSpPr>
          <p:cNvPr id="12" name="Text 10"/>
          <p:cNvSpPr/>
          <p:nvPr/>
        </p:nvSpPr>
        <p:spPr>
          <a:xfrm>
            <a:off x="1572768" y="2039112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>
                <a:solidFill>
                  <a:srgbClr val="243036"/>
                </a:solidFill>
              </a:rPr>
              <a:t>Identify gaps in mapping, field interpretation, or communication.</a:t>
            </a:r>
            <a:endParaRPr lang="en-US" sz="1300"/>
          </a:p>
        </p:txBody>
      </p:sp>
      <p:sp>
        <p:nvSpPr>
          <p:cNvPr id="13" name="Text 11"/>
          <p:cNvSpPr/>
          <p:nvPr/>
        </p:nvSpPr>
        <p:spPr>
          <a:xfrm>
            <a:off x="960120" y="2843784"/>
            <a:ext cx="4389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D6A13A"/>
                </a:solidFill>
              </a:rPr>
              <a:t>02</a:t>
            </a:r>
            <a:endParaRPr lang="en-US" sz="1500"/>
          </a:p>
        </p:txBody>
      </p:sp>
      <p:sp>
        <p:nvSpPr>
          <p:cNvPr id="14" name="Text 12"/>
          <p:cNvSpPr/>
          <p:nvPr/>
        </p:nvSpPr>
        <p:spPr>
          <a:xfrm>
            <a:off x="1572768" y="2825496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123240"/>
                </a:solidFill>
              </a:rPr>
              <a:t>Is implementation performing as intended?</a:t>
            </a:r>
            <a:endParaRPr lang="en-US" sz="2000"/>
          </a:p>
        </p:txBody>
      </p:sp>
      <p:sp>
        <p:nvSpPr>
          <p:cNvPr id="15" name="Text 13"/>
          <p:cNvSpPr/>
          <p:nvPr/>
        </p:nvSpPr>
        <p:spPr>
          <a:xfrm>
            <a:off x="1572768" y="3282696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>
                <a:solidFill>
                  <a:srgbClr val="243036"/>
                </a:solidFill>
              </a:rPr>
              <a:t>Separate operational execution from ecological outcome.</a:t>
            </a:r>
            <a:endParaRPr lang="en-US" sz="1300"/>
          </a:p>
        </p:txBody>
      </p:sp>
      <p:sp>
        <p:nvSpPr>
          <p:cNvPr id="16" name="Text 14"/>
          <p:cNvSpPr/>
          <p:nvPr/>
        </p:nvSpPr>
        <p:spPr>
          <a:xfrm>
            <a:off x="960120" y="4087368"/>
            <a:ext cx="4389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D6A13A"/>
                </a:solidFill>
              </a:rPr>
              <a:t>03</a:t>
            </a:r>
            <a:endParaRPr lang="en-US" sz="1500"/>
          </a:p>
        </p:txBody>
      </p:sp>
      <p:sp>
        <p:nvSpPr>
          <p:cNvPr id="17" name="Text 15"/>
          <p:cNvSpPr/>
          <p:nvPr/>
        </p:nvSpPr>
        <p:spPr>
          <a:xfrm>
            <a:off x="1572768" y="4069080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123240"/>
                </a:solidFill>
              </a:rPr>
              <a:t>What should change before the next cycle?</a:t>
            </a:r>
            <a:endParaRPr lang="en-US" sz="2000"/>
          </a:p>
        </p:txBody>
      </p:sp>
      <p:sp>
        <p:nvSpPr>
          <p:cNvPr id="18" name="Text 16"/>
          <p:cNvSpPr/>
          <p:nvPr/>
        </p:nvSpPr>
        <p:spPr>
          <a:xfrm>
            <a:off x="1572768" y="452628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>
                <a:solidFill>
                  <a:srgbClr val="243036"/>
                </a:solidFill>
              </a:rPr>
              <a:t>Name a specific analysis, action, or decision owner.</a:t>
            </a:r>
            <a:endParaRPr lang="en-US" sz="1300"/>
          </a:p>
        </p:txBody>
      </p:sp>
      <p:sp>
        <p:nvSpPr>
          <p:cNvPr id="19" name="Shape 17"/>
          <p:cNvSpPr/>
          <p:nvPr/>
        </p:nvSpPr>
        <p:spPr>
          <a:xfrm>
            <a:off x="10351008" y="1417320"/>
            <a:ext cx="594360" cy="4023360"/>
          </a:xfrm>
          <a:prstGeom prst="rect">
            <a:avLst/>
          </a:prstGeom>
          <a:solidFill>
            <a:srgbClr val="E6ECDD"/>
          </a:solidFill>
          <a:ln w="12700">
            <a:solidFill>
              <a:srgbClr val="E6ECD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10442448" y="2907792"/>
            <a:ext cx="411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>
                <a:solidFill>
                  <a:srgbClr val="3B5B45"/>
                </a:solidFill>
              </a:rPr>
              <a:t>COMMITTEE</a:t>
            </a:r>
            <a:endParaRPr lang="en-US" sz="1000"/>
          </a:p>
          <a:p>
            <a:pPr marL="0" indent="0" algn="ctr">
              <a:buNone/>
            </a:pPr>
            <a:r>
              <a:rPr lang="en-US" sz="1000" b="1">
                <a:solidFill>
                  <a:srgbClr val="3B5B45"/>
                </a:solidFill>
              </a:rPr>
              <a:t>DISCUSSION</a:t>
            </a:r>
            <a:endParaRPr lang="en-US" sz="1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2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>
                <a:solidFill>
                  <a:srgbClr val="12324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Looking forward: protect the next lake monitoring cycle</a:t>
            </a:r>
            <a:endParaRPr lang="en-US" sz="2900"/>
          </a:p>
        </p:txBody>
      </p:sp>
      <p:sp>
        <p:nvSpPr>
          <p:cNvPr id="7" name="Text 5"/>
          <p:cNvSpPr/>
          <p:nvPr/>
        </p:nvSpPr>
        <p:spPr>
          <a:xfrm>
            <a:off x="640080" y="896112"/>
            <a:ext cx="9784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Organize the close around near-term commitments—not a generic summary.</a:t>
            </a:r>
            <a:endParaRPr lang="en-US" sz="1450"/>
          </a:p>
        </p:txBody>
      </p:sp>
      <p:sp>
        <p:nvSpPr>
          <p:cNvPr id="8" name="Text 6"/>
          <p:cNvSpPr/>
          <p:nvPr/>
        </p:nvSpPr>
        <p:spPr>
          <a:xfrm>
            <a:off x="502920" y="648309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NEXT STEPS</a:t>
            </a:r>
            <a:endParaRPr lang="en-US" sz="750"/>
          </a:p>
        </p:txBody>
      </p:sp>
      <p:sp>
        <p:nvSpPr>
          <p:cNvPr id="9" name="Text 7"/>
          <p:cNvSpPr/>
          <p:nvPr/>
        </p:nvSpPr>
        <p:spPr>
          <a:xfrm>
            <a:off x="11475720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</a:t>
            </a:r>
            <a:endParaRPr lang="en-US" sz="750"/>
          </a:p>
        </p:txBody>
      </p:sp>
      <p:sp>
        <p:nvSpPr>
          <p:cNvPr id="10" name="Text 8"/>
          <p:cNvSpPr/>
          <p:nvPr/>
        </p:nvSpPr>
        <p:spPr>
          <a:xfrm>
            <a:off x="804672" y="164592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1E6F73"/>
                </a:solidFill>
              </a:rPr>
              <a:t>NOW</a:t>
            </a:r>
            <a:endParaRPr lang="en-US" sz="1500"/>
          </a:p>
        </p:txBody>
      </p:sp>
      <p:sp>
        <p:nvSpPr>
          <p:cNvPr id="11" name="Text 9"/>
          <p:cNvSpPr/>
          <p:nvPr/>
        </p:nvSpPr>
        <p:spPr>
          <a:xfrm>
            <a:off x="804672" y="2057400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b="1">
                <a:solidFill>
                  <a:srgbClr val="65737A"/>
                </a:solidFill>
              </a:rPr>
              <a:t>Before the next operational milestone</a:t>
            </a:r>
            <a:endParaRPr lang="en-US" sz="1050"/>
          </a:p>
        </p:txBody>
      </p:sp>
      <p:sp>
        <p:nvSpPr>
          <p:cNvPr id="12" name="Shape 10"/>
          <p:cNvSpPr/>
          <p:nvPr/>
        </p:nvSpPr>
        <p:spPr>
          <a:xfrm>
            <a:off x="822960" y="2679192"/>
            <a:ext cx="91440" cy="91440"/>
          </a:xfrm>
          <a:prstGeom prst="ellipse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1033272" y="2606040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>
                <a:solidFill>
                  <a:srgbClr val="243036"/>
                </a:solidFill>
              </a:rPr>
              <a:t>Confirm current status</a:t>
            </a:r>
            <a:endParaRPr lang="en-US" sz="1300"/>
          </a:p>
        </p:txBody>
      </p:sp>
      <p:sp>
        <p:nvSpPr>
          <p:cNvPr id="14" name="Shape 12"/>
          <p:cNvSpPr/>
          <p:nvPr/>
        </p:nvSpPr>
        <p:spPr>
          <a:xfrm>
            <a:off x="822960" y="3191256"/>
            <a:ext cx="91440" cy="91440"/>
          </a:xfrm>
          <a:prstGeom prst="ellipse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1033272" y="3118104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>
                <a:solidFill>
                  <a:srgbClr val="243036"/>
                </a:solidFill>
              </a:rPr>
              <a:t>Close immediate data gaps</a:t>
            </a:r>
            <a:endParaRPr lang="en-US" sz="1300"/>
          </a:p>
        </p:txBody>
      </p:sp>
      <p:sp>
        <p:nvSpPr>
          <p:cNvPr id="16" name="Shape 14"/>
          <p:cNvSpPr/>
          <p:nvPr/>
        </p:nvSpPr>
        <p:spPr>
          <a:xfrm>
            <a:off x="822960" y="3703320"/>
            <a:ext cx="91440" cy="91440"/>
          </a:xfrm>
          <a:prstGeom prst="ellipse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1033272" y="3630168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>
                <a:solidFill>
                  <a:srgbClr val="243036"/>
                </a:solidFill>
              </a:rPr>
              <a:t>Document decisions</a:t>
            </a:r>
            <a:endParaRPr lang="en-US" sz="1300"/>
          </a:p>
        </p:txBody>
      </p:sp>
      <p:sp>
        <p:nvSpPr>
          <p:cNvPr id="18" name="Text 16"/>
          <p:cNvSpPr/>
          <p:nvPr/>
        </p:nvSpPr>
        <p:spPr>
          <a:xfrm>
            <a:off x="4297680" y="164592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4F7D4F"/>
                </a:solidFill>
              </a:rPr>
              <a:t>NEXT CYCLE</a:t>
            </a:r>
            <a:endParaRPr lang="en-US" sz="1500"/>
          </a:p>
        </p:txBody>
      </p:sp>
      <p:sp>
        <p:nvSpPr>
          <p:cNvPr id="19" name="Text 17"/>
          <p:cNvSpPr/>
          <p:nvPr/>
        </p:nvSpPr>
        <p:spPr>
          <a:xfrm>
            <a:off x="4297680" y="2057400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b="1">
                <a:solidFill>
                  <a:srgbClr val="65737A"/>
                </a:solidFill>
              </a:rPr>
              <a:t>Before the next committee meeting</a:t>
            </a:r>
            <a:endParaRPr lang="en-US" sz="1050"/>
          </a:p>
        </p:txBody>
      </p:sp>
      <p:sp>
        <p:nvSpPr>
          <p:cNvPr id="20" name="Shape 18"/>
          <p:cNvSpPr/>
          <p:nvPr/>
        </p:nvSpPr>
        <p:spPr>
          <a:xfrm>
            <a:off x="4315968" y="2679192"/>
            <a:ext cx="91440" cy="91440"/>
          </a:xfrm>
          <a:prstGeom prst="ellipse">
            <a:avLst/>
          </a:prstGeom>
          <a:solidFill>
            <a:srgbClr val="4F7D4F"/>
          </a:solidFill>
          <a:ln w="12700">
            <a:solidFill>
              <a:srgbClr val="4F7D4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526280" y="2606040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>
                <a:solidFill>
                  <a:srgbClr val="243036"/>
                </a:solidFill>
              </a:rPr>
              <a:t>Complete targeted analyses</a:t>
            </a:r>
            <a:endParaRPr lang="en-US" sz="1300"/>
          </a:p>
        </p:txBody>
      </p:sp>
      <p:sp>
        <p:nvSpPr>
          <p:cNvPr id="22" name="Shape 20"/>
          <p:cNvSpPr/>
          <p:nvPr/>
        </p:nvSpPr>
        <p:spPr>
          <a:xfrm>
            <a:off x="4315968" y="3191256"/>
            <a:ext cx="91440" cy="91440"/>
          </a:xfrm>
          <a:prstGeom prst="ellipse">
            <a:avLst/>
          </a:prstGeom>
          <a:solidFill>
            <a:srgbClr val="4F7D4F"/>
          </a:solidFill>
          <a:ln w="12700">
            <a:solidFill>
              <a:srgbClr val="4F7D4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4526280" y="3118104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>
                <a:solidFill>
                  <a:srgbClr val="243036"/>
                </a:solidFill>
              </a:rPr>
              <a:t>Refine habitat indicators</a:t>
            </a:r>
            <a:endParaRPr lang="en-US" sz="1300"/>
          </a:p>
        </p:txBody>
      </p:sp>
      <p:sp>
        <p:nvSpPr>
          <p:cNvPr id="24" name="Shape 22"/>
          <p:cNvSpPr/>
          <p:nvPr/>
        </p:nvSpPr>
        <p:spPr>
          <a:xfrm>
            <a:off x="4315968" y="3703320"/>
            <a:ext cx="91440" cy="91440"/>
          </a:xfrm>
          <a:prstGeom prst="ellipse">
            <a:avLst/>
          </a:prstGeom>
          <a:solidFill>
            <a:srgbClr val="4F7D4F"/>
          </a:solidFill>
          <a:ln w="12700">
            <a:solidFill>
              <a:srgbClr val="4F7D4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4526280" y="3630168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>
                <a:solidFill>
                  <a:srgbClr val="243036"/>
                </a:solidFill>
              </a:rPr>
              <a:t>Track agreed actions</a:t>
            </a:r>
            <a:endParaRPr lang="en-US" sz="1300"/>
          </a:p>
        </p:txBody>
      </p:sp>
      <p:sp>
        <p:nvSpPr>
          <p:cNvPr id="26" name="Text 24"/>
          <p:cNvSpPr/>
          <p:nvPr/>
        </p:nvSpPr>
        <p:spPr>
          <a:xfrm>
            <a:off x="7790688" y="164592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3B5B45"/>
                </a:solidFill>
              </a:rPr>
              <a:t>LONGER TERM</a:t>
            </a:r>
            <a:endParaRPr lang="en-US" sz="1500"/>
          </a:p>
        </p:txBody>
      </p:sp>
      <p:sp>
        <p:nvSpPr>
          <p:cNvPr id="27" name="Text 25"/>
          <p:cNvSpPr/>
          <p:nvPr/>
        </p:nvSpPr>
        <p:spPr>
          <a:xfrm>
            <a:off x="7790688" y="2057400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b="1">
                <a:solidFill>
                  <a:srgbClr val="65737A"/>
                </a:solidFill>
              </a:rPr>
              <a:t>Program learning agenda</a:t>
            </a:r>
            <a:endParaRPr lang="en-US" sz="1050"/>
          </a:p>
        </p:txBody>
      </p:sp>
      <p:sp>
        <p:nvSpPr>
          <p:cNvPr id="28" name="Shape 26"/>
          <p:cNvSpPr/>
          <p:nvPr/>
        </p:nvSpPr>
        <p:spPr>
          <a:xfrm>
            <a:off x="7808976" y="2679192"/>
            <a:ext cx="91440" cy="91440"/>
          </a:xfrm>
          <a:prstGeom prst="ellipse">
            <a:avLst/>
          </a:prstGeom>
          <a:solidFill>
            <a:srgbClr val="3B5B45"/>
          </a:solidFill>
          <a:ln w="12700">
            <a:solidFill>
              <a:srgbClr val="3B5B4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8019288" y="2606040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marL="0" indent="0">
              <a:buNone/>
            </a:pPr>
            <a:r>
              <a:rPr lang="en-US" sz="1300">
                <a:solidFill>
                  <a:srgbClr val="243036"/>
                </a:solidFill>
              </a:rPr>
              <a:t>Improve integration across measures</a:t>
            </a:r>
            <a:endParaRPr lang="en-US" sz="1300"/>
          </a:p>
        </p:txBody>
      </p:sp>
      <p:sp>
        <p:nvSpPr>
          <p:cNvPr id="30" name="Shape 28"/>
          <p:cNvSpPr/>
          <p:nvPr/>
        </p:nvSpPr>
        <p:spPr>
          <a:xfrm>
            <a:off x="7808976" y="3191256"/>
            <a:ext cx="91440" cy="91440"/>
          </a:xfrm>
          <a:prstGeom prst="ellipse">
            <a:avLst/>
          </a:prstGeom>
          <a:solidFill>
            <a:srgbClr val="3B5B45"/>
          </a:solidFill>
          <a:ln w="12700">
            <a:solidFill>
              <a:srgbClr val="3B5B4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8019288" y="3118104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>
                <a:solidFill>
                  <a:srgbClr val="243036"/>
                </a:solidFill>
              </a:rPr>
              <a:t>Evaluate performance over time</a:t>
            </a:r>
            <a:endParaRPr lang="en-US" sz="1300"/>
          </a:p>
        </p:txBody>
      </p:sp>
      <p:sp>
        <p:nvSpPr>
          <p:cNvPr id="32" name="Shape 30"/>
          <p:cNvSpPr/>
          <p:nvPr/>
        </p:nvSpPr>
        <p:spPr>
          <a:xfrm>
            <a:off x="7808976" y="3703320"/>
            <a:ext cx="91440" cy="91440"/>
          </a:xfrm>
          <a:prstGeom prst="ellipse">
            <a:avLst/>
          </a:prstGeom>
          <a:solidFill>
            <a:srgbClr val="3B5B45"/>
          </a:solidFill>
          <a:ln w="12700">
            <a:solidFill>
              <a:srgbClr val="3B5B4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8019288" y="3630168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>
                <a:solidFill>
                  <a:srgbClr val="243036"/>
                </a:solidFill>
              </a:rPr>
              <a:t>Identify adaptive changes</a:t>
            </a:r>
            <a:endParaRPr lang="en-US" sz="1300"/>
          </a:p>
        </p:txBody>
      </p:sp>
      <p:sp>
        <p:nvSpPr>
          <p:cNvPr id="34" name="Shape 32"/>
          <p:cNvSpPr/>
          <p:nvPr/>
        </p:nvSpPr>
        <p:spPr>
          <a:xfrm>
            <a:off x="786384" y="5212080"/>
            <a:ext cx="10058400" cy="475488"/>
          </a:xfrm>
          <a:prstGeom prst="rect">
            <a:avLst/>
          </a:prstGeom>
          <a:solidFill>
            <a:srgbClr val="F4E9CF"/>
          </a:solidFill>
          <a:ln w="12700">
            <a:solidFill>
              <a:srgbClr val="F4E9C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960120" y="5358384"/>
            <a:ext cx="9555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>
                <a:solidFill>
                  <a:srgbClr val="123240"/>
                </a:solidFill>
              </a:rPr>
              <a:t>CLOSE WITH OWNERSHIP  ·  Who will do what, by when, and what evidence will show completion?</a:t>
            </a:r>
            <a:endParaRPr lang="en-US" sz="10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232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40"/>
          </a:solidFill>
          <a:ln w="12700">
            <a:solidFill>
              <a:srgbClr val="12324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5349240"/>
            <a:ext cx="12191695" cy="1508760"/>
          </a:xfrm>
          <a:prstGeom prst="rect">
            <a:avLst/>
          </a:prstGeom>
          <a:solidFill>
            <a:srgbClr val="6CB7AF"/>
          </a:solidFill>
          <a:ln w="12700">
            <a:solidFill>
              <a:srgbClr val="6CB7A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4F7D4F"/>
          </a:solidFill>
          <a:ln w="12700">
            <a:solidFill>
              <a:srgbClr val="4F7D4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31520" y="841248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b="1">
                <a:solidFill>
                  <a:srgbClr val="6CB7AF"/>
                </a:solidFill>
              </a:rPr>
              <a:t>EAHCP · LANDA LAKE HABITAT</a:t>
            </a:r>
            <a:endParaRPr lang="en-US" sz="880"/>
          </a:p>
        </p:txBody>
      </p:sp>
      <p:sp>
        <p:nvSpPr>
          <p:cNvPr id="6" name="Text 4"/>
          <p:cNvSpPr/>
          <p:nvPr/>
        </p:nvSpPr>
        <p:spPr>
          <a:xfrm>
            <a:off x="731520" y="1572768"/>
            <a:ext cx="6217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4300" b="1">
                <a:solidFill>
                  <a:srgbClr val="FBFAF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Questions and</a:t>
            </a:r>
            <a:endParaRPr lang="en-US" sz="4300"/>
          </a:p>
          <a:p>
            <a:pPr marL="0" indent="0">
              <a:buNone/>
            </a:pPr>
            <a:r>
              <a:rPr lang="en-US" sz="4300" b="1">
                <a:solidFill>
                  <a:srgbClr val="FBFAF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discussion</a:t>
            </a:r>
            <a:endParaRPr lang="en-US" sz="4300"/>
          </a:p>
        </p:txBody>
      </p:sp>
      <p:sp>
        <p:nvSpPr>
          <p:cNvPr id="7" name="Text 5"/>
          <p:cNvSpPr/>
          <p:nvPr/>
        </p:nvSpPr>
        <p:spPr>
          <a:xfrm>
            <a:off x="749808" y="3730752"/>
            <a:ext cx="6309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>
                <a:solidFill>
                  <a:srgbClr val="DDEDEC"/>
                </a:solidFill>
              </a:rPr>
              <a:t>Appendix slides may follow using the same figure, map, monitoring, and status layouts.</a:t>
            </a:r>
            <a:endParaRPr lang="en-US" sz="1500"/>
          </a:p>
        </p:txBody>
      </p:sp>
      <p:sp>
        <p:nvSpPr>
          <p:cNvPr id="8" name="Text 6"/>
          <p:cNvSpPr/>
          <p:nvPr/>
        </p:nvSpPr>
        <p:spPr>
          <a:xfrm>
            <a:off x="749808" y="6263640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>
                <a:solidFill>
                  <a:srgbClr val="F4E9CF"/>
                </a:solidFill>
              </a:rPr>
              <a:t>PRESENTER  ·  TITLE  ·  CONTACT</a:t>
            </a:r>
            <a:endParaRPr lang="en-US" sz="850"/>
          </a:p>
        </p:txBody>
      </p:sp>
      <p:sp>
        <p:nvSpPr>
          <p:cNvPr id="9" name="Text 7"/>
          <p:cNvSpPr/>
          <p:nvPr/>
        </p:nvSpPr>
        <p:spPr>
          <a:xfrm>
            <a:off x="7452360" y="6263640"/>
            <a:ext cx="3429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>
                <a:solidFill>
                  <a:srgbClr val="F4E9CF"/>
                </a:solidFill>
              </a:rPr>
              <a:t>Edwards Aquifer Habitat Conservation Plan</a:t>
            </a:r>
            <a:endParaRPr lang="en-US" sz="850"/>
          </a:p>
        </p:txBody>
      </p:sp>
      <p:sp>
        <p:nvSpPr>
          <p:cNvPr id="10" name="Text 8"/>
          <p:cNvSpPr/>
          <p:nvPr/>
        </p:nvSpPr>
        <p:spPr>
          <a:xfrm>
            <a:off x="11475720" y="6263640"/>
            <a:ext cx="320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>
                <a:solidFill>
                  <a:srgbClr val="F4E9CF"/>
                </a:solidFill>
              </a:rPr>
              <a:t>13</a:t>
            </a:r>
            <a:endParaRPr lang="en-US" sz="85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Widescreen</PresentationFormat>
  <Slides>17</Slides>
  <Notes>17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18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Edwards Aquifer Habitat Conservation Plan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EAHCP Landa Lake Template</dc:title>
  <dc:subject>EAHCP Landa Lake presentation template</dc:subject>
  <dc:creator>OpenAI</dc:creator>
  <cp:revision>1</cp:revision>
  <dcterms:created xsi:type="dcterms:W3CDTF">2026-08-03T20:56:09Z</dcterms:created>
  <dcterms:modified xsi:type="dcterms:W3CDTF">2026-08-07T21:00:35Z</dcterms:modified>
</cp:coreProperties>
</file>