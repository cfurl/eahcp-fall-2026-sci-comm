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9" r:id="rId3"/>
    <p:sldId id="271" r:id="rId4"/>
    <p:sldId id="300" r:id="rId5"/>
    <p:sldId id="269" r:id="rId6"/>
    <p:sldId id="275" r:id="rId7"/>
    <p:sldId id="283" r:id="rId8"/>
    <p:sldId id="284" r:id="rId9"/>
    <p:sldId id="297" r:id="rId10"/>
    <p:sldId id="298" r:id="rId11"/>
    <p:sldId id="276" r:id="rId12"/>
    <p:sldId id="299" r:id="rId13"/>
    <p:sldId id="290" r:id="rId14"/>
    <p:sldId id="274" r:id="rId15"/>
    <p:sldId id="286" r:id="rId16"/>
    <p:sldId id="287" r:id="rId17"/>
    <p:sldId id="270" r:id="rId18"/>
    <p:sldId id="289" r:id="rId19"/>
    <p:sldId id="277" r:id="rId20"/>
    <p:sldId id="278" r:id="rId21"/>
    <p:sldId id="291" r:id="rId22"/>
    <p:sldId id="292" r:id="rId23"/>
    <p:sldId id="294" r:id="rId24"/>
    <p:sldId id="295" r:id="rId25"/>
    <p:sldId id="279" r:id="rId26"/>
    <p:sldId id="268" r:id="rId27"/>
    <p:sldId id="301" r:id="rId28"/>
    <p:sldId id="266" r:id="rId29"/>
    <p:sldId id="302" r:id="rId30"/>
    <p:sldId id="303" r:id="rId31"/>
    <p:sldId id="304" r:id="rId32"/>
    <p:sldId id="305" r:id="rId33"/>
    <p:sldId id="272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6AA55A-FE04-4583-BDEF-E6CD314FB35F}" v="4" dt="2026-09-09T14:26:39.5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Furl" userId="e1f063c0-f891-481e-b162-0b825299f031" providerId="ADAL" clId="{6ADDB542-7708-4E33-BA5D-95E7728F0CE2}"/>
    <pc:docChg chg="custSel modSld">
      <pc:chgData name="Chad Furl" userId="e1f063c0-f891-481e-b162-0b825299f031" providerId="ADAL" clId="{6ADDB542-7708-4E33-BA5D-95E7728F0CE2}" dt="2026-09-09T15:12:33.855" v="299" actId="478"/>
      <pc:docMkLst>
        <pc:docMk/>
      </pc:docMkLst>
      <pc:sldChg chg="modSp mod">
        <pc:chgData name="Chad Furl" userId="e1f063c0-f891-481e-b162-0b825299f031" providerId="ADAL" clId="{6ADDB542-7708-4E33-BA5D-95E7728F0CE2}" dt="2026-09-09T14:54:02.207" v="149" actId="1035"/>
        <pc:sldMkLst>
          <pc:docMk/>
          <pc:sldMk cId="0" sldId="256"/>
        </pc:sldMkLst>
        <pc:spChg chg="mod">
          <ac:chgData name="Chad Furl" userId="e1f063c0-f891-481e-b162-0b825299f031" providerId="ADAL" clId="{6ADDB542-7708-4E33-BA5D-95E7728F0CE2}" dt="2026-09-08T17:42:29.453" v="26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Chad Furl" userId="e1f063c0-f891-481e-b162-0b825299f031" providerId="ADAL" clId="{6ADDB542-7708-4E33-BA5D-95E7728F0CE2}" dt="2026-09-09T14:54:02.207" v="149" actId="1035"/>
          <ac:spMkLst>
            <pc:docMk/>
            <pc:sldMk cId="0" sldId="256"/>
            <ac:spMk id="10" creationId="{00000000-0000-0000-0000-000000000000}"/>
          </ac:spMkLst>
        </pc:spChg>
        <pc:spChg chg="mod">
          <ac:chgData name="Chad Furl" userId="e1f063c0-f891-481e-b162-0b825299f031" providerId="ADAL" clId="{6ADDB542-7708-4E33-BA5D-95E7728F0CE2}" dt="2026-09-09T14:53:55.903" v="134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Chad Furl" userId="e1f063c0-f891-481e-b162-0b825299f031" providerId="ADAL" clId="{6ADDB542-7708-4E33-BA5D-95E7728F0CE2}" dt="2026-09-09T14:53:55.903" v="134" actId="1076"/>
          <ac:spMkLst>
            <pc:docMk/>
            <pc:sldMk cId="0" sldId="256"/>
            <ac:spMk id="12" creationId="{00000000-0000-0000-0000-000000000000}"/>
          </ac:spMkLst>
        </pc:spChg>
      </pc:sldChg>
      <pc:sldChg chg="delSp modSp mod">
        <pc:chgData name="Chad Furl" userId="e1f063c0-f891-481e-b162-0b825299f031" providerId="ADAL" clId="{6ADDB542-7708-4E33-BA5D-95E7728F0CE2}" dt="2026-09-09T15:00:36.713" v="224" actId="1076"/>
        <pc:sldMkLst>
          <pc:docMk/>
          <pc:sldMk cId="0" sldId="259"/>
        </pc:sldMkLst>
        <pc:spChg chg="del">
          <ac:chgData name="Chad Furl" userId="e1f063c0-f891-481e-b162-0b825299f031" providerId="ADAL" clId="{6ADDB542-7708-4E33-BA5D-95E7728F0CE2}" dt="2026-09-09T14:54:25.136" v="150" actId="478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had Furl" userId="e1f063c0-f891-481e-b162-0b825299f031" providerId="ADAL" clId="{6ADDB542-7708-4E33-BA5D-95E7728F0CE2}" dt="2026-09-09T14:56:29.450" v="180" actId="1036"/>
          <ac:spMkLst>
            <pc:docMk/>
            <pc:sldMk cId="0" sldId="259"/>
            <ac:spMk id="18" creationId="{00000000-0000-0000-0000-000000000000}"/>
          </ac:spMkLst>
        </pc:spChg>
        <pc:spChg chg="mod ord">
          <ac:chgData name="Chad Furl" userId="e1f063c0-f891-481e-b162-0b825299f031" providerId="ADAL" clId="{6ADDB542-7708-4E33-BA5D-95E7728F0CE2}" dt="2026-09-09T15:00:36.713" v="224" actId="1076"/>
          <ac:spMkLst>
            <pc:docMk/>
            <pc:sldMk cId="0" sldId="259"/>
            <ac:spMk id="19" creationId="{00000000-0000-0000-0000-000000000000}"/>
          </ac:spMkLst>
        </pc:spChg>
      </pc:sldChg>
      <pc:sldChg chg="addSp delSp modSp mod">
        <pc:chgData name="Chad Furl" userId="e1f063c0-f891-481e-b162-0b825299f031" providerId="ADAL" clId="{6ADDB542-7708-4E33-BA5D-95E7728F0CE2}" dt="2026-09-09T14:27:36.053" v="133" actId="478"/>
        <pc:sldMkLst>
          <pc:docMk/>
          <pc:sldMk cId="2380401791" sldId="269"/>
        </pc:sldMkLst>
        <pc:spChg chg="del">
          <ac:chgData name="Chad Furl" userId="e1f063c0-f891-481e-b162-0b825299f031" providerId="ADAL" clId="{6ADDB542-7708-4E33-BA5D-95E7728F0CE2}" dt="2026-09-09T14:26:07.789" v="57" actId="478"/>
          <ac:spMkLst>
            <pc:docMk/>
            <pc:sldMk cId="2380401791" sldId="269"/>
            <ac:spMk id="2" creationId="{0D4D27D2-6BFC-141C-9345-8E84C9920965}"/>
          </ac:spMkLst>
        </pc:spChg>
        <pc:spChg chg="mod">
          <ac:chgData name="Chad Furl" userId="e1f063c0-f891-481e-b162-0b825299f031" providerId="ADAL" clId="{6ADDB542-7708-4E33-BA5D-95E7728F0CE2}" dt="2026-09-09T14:26:47.103" v="71" actId="14100"/>
          <ac:spMkLst>
            <pc:docMk/>
            <pc:sldMk cId="2380401791" sldId="269"/>
            <ac:spMk id="6" creationId="{DC42AE2C-882F-5A75-1DC4-2AF844F0BAFF}"/>
          </ac:spMkLst>
        </pc:spChg>
        <pc:spChg chg="del">
          <ac:chgData name="Chad Furl" userId="e1f063c0-f891-481e-b162-0b825299f031" providerId="ADAL" clId="{6ADDB542-7708-4E33-BA5D-95E7728F0CE2}" dt="2026-09-09T14:27:36.053" v="133" actId="478"/>
          <ac:spMkLst>
            <pc:docMk/>
            <pc:sldMk cId="2380401791" sldId="269"/>
            <ac:spMk id="8" creationId="{EBB4E4E4-8678-0C63-57E9-97E82469C71D}"/>
          </ac:spMkLst>
        </pc:spChg>
        <pc:spChg chg="del">
          <ac:chgData name="Chad Furl" userId="e1f063c0-f891-481e-b162-0b825299f031" providerId="ADAL" clId="{6ADDB542-7708-4E33-BA5D-95E7728F0CE2}" dt="2026-09-09T14:26:25.765" v="66" actId="478"/>
          <ac:spMkLst>
            <pc:docMk/>
            <pc:sldMk cId="2380401791" sldId="269"/>
            <ac:spMk id="9" creationId="{53683D44-6224-5132-57B7-7464BE398754}"/>
          </ac:spMkLst>
        </pc:spChg>
        <pc:spChg chg="mod">
          <ac:chgData name="Chad Furl" userId="e1f063c0-f891-481e-b162-0b825299f031" providerId="ADAL" clId="{6ADDB542-7708-4E33-BA5D-95E7728F0CE2}" dt="2026-09-09T14:27:30.682" v="132" actId="403"/>
          <ac:spMkLst>
            <pc:docMk/>
            <pc:sldMk cId="2380401791" sldId="269"/>
            <ac:spMk id="10" creationId="{E301E2B6-8BD9-A86A-B91D-C6B419F1BBC2}"/>
          </ac:spMkLst>
        </pc:spChg>
        <pc:spChg chg="mod">
          <ac:chgData name="Chad Furl" userId="e1f063c0-f891-481e-b162-0b825299f031" providerId="ADAL" clId="{6ADDB542-7708-4E33-BA5D-95E7728F0CE2}" dt="2026-09-09T14:27:18.955" v="111" actId="14100"/>
          <ac:spMkLst>
            <pc:docMk/>
            <pc:sldMk cId="2380401791" sldId="269"/>
            <ac:spMk id="11" creationId="{82639B2B-32B4-C710-4820-31EC76D09778}"/>
          </ac:spMkLst>
        </pc:spChg>
        <pc:spChg chg="del">
          <ac:chgData name="Chad Furl" userId="e1f063c0-f891-481e-b162-0b825299f031" providerId="ADAL" clId="{6ADDB542-7708-4E33-BA5D-95E7728F0CE2}" dt="2026-09-09T14:26:09.396" v="58" actId="478"/>
          <ac:spMkLst>
            <pc:docMk/>
            <pc:sldMk cId="2380401791" sldId="269"/>
            <ac:spMk id="12" creationId="{0CA17D12-CBD6-78A5-A4EE-0BD9A1591F29}"/>
          </ac:spMkLst>
        </pc:spChg>
        <pc:spChg chg="del">
          <ac:chgData name="Chad Furl" userId="e1f063c0-f891-481e-b162-0b825299f031" providerId="ADAL" clId="{6ADDB542-7708-4E33-BA5D-95E7728F0CE2}" dt="2026-09-09T14:26:11.536" v="59" actId="478"/>
          <ac:spMkLst>
            <pc:docMk/>
            <pc:sldMk cId="2380401791" sldId="269"/>
            <ac:spMk id="14" creationId="{B51E6E3F-A174-E4EC-FF33-AB27B4BB7E3E}"/>
          </ac:spMkLst>
        </pc:spChg>
        <pc:spChg chg="del">
          <ac:chgData name="Chad Furl" userId="e1f063c0-f891-481e-b162-0b825299f031" providerId="ADAL" clId="{6ADDB542-7708-4E33-BA5D-95E7728F0CE2}" dt="2026-09-09T14:26:14.437" v="62" actId="478"/>
          <ac:spMkLst>
            <pc:docMk/>
            <pc:sldMk cId="2380401791" sldId="269"/>
            <ac:spMk id="15" creationId="{890D093B-9706-7693-53AC-BCEEB664754B}"/>
          </ac:spMkLst>
        </pc:spChg>
        <pc:spChg chg="del mod">
          <ac:chgData name="Chad Furl" userId="e1f063c0-f891-481e-b162-0b825299f031" providerId="ADAL" clId="{6ADDB542-7708-4E33-BA5D-95E7728F0CE2}" dt="2026-09-09T14:26:13.734" v="61" actId="478"/>
          <ac:spMkLst>
            <pc:docMk/>
            <pc:sldMk cId="2380401791" sldId="269"/>
            <ac:spMk id="16" creationId="{BBFB4C25-9684-FFBD-F0D8-8073F7FAD0FA}"/>
          </ac:spMkLst>
        </pc:spChg>
        <pc:spChg chg="del">
          <ac:chgData name="Chad Furl" userId="e1f063c0-f891-481e-b162-0b825299f031" providerId="ADAL" clId="{6ADDB542-7708-4E33-BA5D-95E7728F0CE2}" dt="2026-09-09T14:26:16.403" v="63" actId="478"/>
          <ac:spMkLst>
            <pc:docMk/>
            <pc:sldMk cId="2380401791" sldId="269"/>
            <ac:spMk id="17" creationId="{5916DA6F-4FF3-1BB7-BC21-EF7A2CCEC11B}"/>
          </ac:spMkLst>
        </pc:spChg>
        <pc:spChg chg="del">
          <ac:chgData name="Chad Furl" userId="e1f063c0-f891-481e-b162-0b825299f031" providerId="ADAL" clId="{6ADDB542-7708-4E33-BA5D-95E7728F0CE2}" dt="2026-09-09T14:26:30.339" v="67" actId="478"/>
          <ac:spMkLst>
            <pc:docMk/>
            <pc:sldMk cId="2380401791" sldId="269"/>
            <ac:spMk id="18" creationId="{9DC9963E-6F9E-3A41-AB59-DD6DD7FAF339}"/>
          </ac:spMkLst>
        </pc:spChg>
        <pc:spChg chg="del">
          <ac:chgData name="Chad Furl" userId="e1f063c0-f891-481e-b162-0b825299f031" providerId="ADAL" clId="{6ADDB542-7708-4E33-BA5D-95E7728F0CE2}" dt="2026-09-09T14:26:32.726" v="68" actId="478"/>
          <ac:spMkLst>
            <pc:docMk/>
            <pc:sldMk cId="2380401791" sldId="269"/>
            <ac:spMk id="19" creationId="{121398A2-796C-236F-E253-81BEEECDC19C}"/>
          </ac:spMkLst>
        </pc:spChg>
        <pc:picChg chg="del">
          <ac:chgData name="Chad Furl" userId="e1f063c0-f891-481e-b162-0b825299f031" providerId="ADAL" clId="{6ADDB542-7708-4E33-BA5D-95E7728F0CE2}" dt="2026-09-09T14:26:05.026" v="56" actId="478"/>
          <ac:picMkLst>
            <pc:docMk/>
            <pc:sldMk cId="2380401791" sldId="269"/>
            <ac:picMk id="13" creationId="{58350EA5-0CCA-1F47-6781-1A734DF18BBD}"/>
          </ac:picMkLst>
        </pc:picChg>
        <pc:picChg chg="add mod">
          <ac:chgData name="Chad Furl" userId="e1f063c0-f891-481e-b162-0b825299f031" providerId="ADAL" clId="{6ADDB542-7708-4E33-BA5D-95E7728F0CE2}" dt="2026-09-09T14:26:39.502" v="70" actId="14100"/>
          <ac:picMkLst>
            <pc:docMk/>
            <pc:sldMk cId="2380401791" sldId="269"/>
            <ac:picMk id="1026" creationId="{8330C23C-F98B-6ACE-47AE-77968F503CCC}"/>
          </ac:picMkLst>
        </pc:picChg>
      </pc:sldChg>
      <pc:sldChg chg="delSp modSp mod">
        <pc:chgData name="Chad Furl" userId="e1f063c0-f891-481e-b162-0b825299f031" providerId="ADAL" clId="{6ADDB542-7708-4E33-BA5D-95E7728F0CE2}" dt="2026-09-09T15:00:54.940" v="227" actId="20577"/>
        <pc:sldMkLst>
          <pc:docMk/>
          <pc:sldMk cId="993099284" sldId="271"/>
        </pc:sldMkLst>
        <pc:spChg chg="del">
          <ac:chgData name="Chad Furl" userId="e1f063c0-f891-481e-b162-0b825299f031" providerId="ADAL" clId="{6ADDB542-7708-4E33-BA5D-95E7728F0CE2}" dt="2026-09-09T14:58:41.731" v="202" actId="478"/>
          <ac:spMkLst>
            <pc:docMk/>
            <pc:sldMk cId="993099284" sldId="271"/>
            <ac:spMk id="11" creationId="{751DAD67-597C-D75D-8739-D8421A61DCEF}"/>
          </ac:spMkLst>
        </pc:spChg>
        <pc:spChg chg="mod ord">
          <ac:chgData name="Chad Furl" userId="e1f063c0-f891-481e-b162-0b825299f031" providerId="ADAL" clId="{6ADDB542-7708-4E33-BA5D-95E7728F0CE2}" dt="2026-09-09T15:00:54.940" v="227" actId="20577"/>
          <ac:spMkLst>
            <pc:docMk/>
            <pc:sldMk cId="993099284" sldId="271"/>
            <ac:spMk id="18" creationId="{D2A6D4BB-677C-AAC4-5CCC-9AE1B97B29D6}"/>
          </ac:spMkLst>
        </pc:spChg>
      </pc:sldChg>
      <pc:sldChg chg="delSp mod">
        <pc:chgData name="Chad Furl" userId="e1f063c0-f891-481e-b162-0b825299f031" providerId="ADAL" clId="{6ADDB542-7708-4E33-BA5D-95E7728F0CE2}" dt="2026-09-09T15:12:33.855" v="299" actId="478"/>
        <pc:sldMkLst>
          <pc:docMk/>
          <pc:sldMk cId="1393222068" sldId="276"/>
        </pc:sldMkLst>
        <pc:spChg chg="del">
          <ac:chgData name="Chad Furl" userId="e1f063c0-f891-481e-b162-0b825299f031" providerId="ADAL" clId="{6ADDB542-7708-4E33-BA5D-95E7728F0CE2}" dt="2026-09-09T15:12:33.855" v="299" actId="478"/>
          <ac:spMkLst>
            <pc:docMk/>
            <pc:sldMk cId="1393222068" sldId="276"/>
            <ac:spMk id="9" creationId="{119E6632-371F-6441-F042-423123C7B740}"/>
          </ac:spMkLst>
        </pc:spChg>
      </pc:sldChg>
      <pc:sldChg chg="delSp mod">
        <pc:chgData name="Chad Furl" userId="e1f063c0-f891-481e-b162-0b825299f031" providerId="ADAL" clId="{6ADDB542-7708-4E33-BA5D-95E7728F0CE2}" dt="2026-09-09T15:12:18.839" v="297" actId="478"/>
        <pc:sldMkLst>
          <pc:docMk/>
          <pc:sldMk cId="989004632" sldId="278"/>
        </pc:sldMkLst>
        <pc:spChg chg="del">
          <ac:chgData name="Chad Furl" userId="e1f063c0-f891-481e-b162-0b825299f031" providerId="ADAL" clId="{6ADDB542-7708-4E33-BA5D-95E7728F0CE2}" dt="2026-09-09T15:12:18.839" v="297" actId="478"/>
          <ac:spMkLst>
            <pc:docMk/>
            <pc:sldMk cId="989004632" sldId="278"/>
            <ac:spMk id="9" creationId="{59796CAE-8C83-F5A3-8565-9FBE071C9534}"/>
          </ac:spMkLst>
        </pc:spChg>
      </pc:sldChg>
      <pc:sldChg chg="delSp mod">
        <pc:chgData name="Chad Furl" userId="e1f063c0-f891-481e-b162-0b825299f031" providerId="ADAL" clId="{6ADDB542-7708-4E33-BA5D-95E7728F0CE2}" dt="2026-09-09T15:11:44.523" v="291" actId="478"/>
        <pc:sldMkLst>
          <pc:docMk/>
          <pc:sldMk cId="1584524781" sldId="279"/>
        </pc:sldMkLst>
        <pc:spChg chg="del">
          <ac:chgData name="Chad Furl" userId="e1f063c0-f891-481e-b162-0b825299f031" providerId="ADAL" clId="{6ADDB542-7708-4E33-BA5D-95E7728F0CE2}" dt="2026-09-09T15:11:42.676" v="290" actId="478"/>
          <ac:spMkLst>
            <pc:docMk/>
            <pc:sldMk cId="1584524781" sldId="279"/>
            <ac:spMk id="8" creationId="{0CA9996C-90EA-6666-115D-F11361B5B0D7}"/>
          </ac:spMkLst>
        </pc:spChg>
        <pc:spChg chg="del">
          <ac:chgData name="Chad Furl" userId="e1f063c0-f891-481e-b162-0b825299f031" providerId="ADAL" clId="{6ADDB542-7708-4E33-BA5D-95E7728F0CE2}" dt="2026-09-09T15:11:44.523" v="291" actId="478"/>
          <ac:spMkLst>
            <pc:docMk/>
            <pc:sldMk cId="1584524781" sldId="279"/>
            <ac:spMk id="9" creationId="{EF977C67-E773-92EF-507B-F8CCDB1EB886}"/>
          </ac:spMkLst>
        </pc:spChg>
        <pc:spChg chg="del">
          <ac:chgData name="Chad Furl" userId="e1f063c0-f891-481e-b162-0b825299f031" providerId="ADAL" clId="{6ADDB542-7708-4E33-BA5D-95E7728F0CE2}" dt="2026-09-09T15:11:40.778" v="289" actId="478"/>
          <ac:spMkLst>
            <pc:docMk/>
            <pc:sldMk cId="1584524781" sldId="279"/>
            <ac:spMk id="37" creationId="{A7C5DE3D-485C-D755-42FD-C92CFF0CD379}"/>
          </ac:spMkLst>
        </pc:spChg>
        <pc:spChg chg="del">
          <ac:chgData name="Chad Furl" userId="e1f063c0-f891-481e-b162-0b825299f031" providerId="ADAL" clId="{6ADDB542-7708-4E33-BA5D-95E7728F0CE2}" dt="2026-09-09T15:11:37.441" v="287" actId="478"/>
          <ac:spMkLst>
            <pc:docMk/>
            <pc:sldMk cId="1584524781" sldId="279"/>
            <ac:spMk id="39" creationId="{6AADF01C-4338-AAE1-25FA-32E52386A9FA}"/>
          </ac:spMkLst>
        </pc:spChg>
        <pc:spChg chg="del">
          <ac:chgData name="Chad Furl" userId="e1f063c0-f891-481e-b162-0b825299f031" providerId="ADAL" clId="{6ADDB542-7708-4E33-BA5D-95E7728F0CE2}" dt="2026-09-09T15:11:39.592" v="288" actId="478"/>
          <ac:spMkLst>
            <pc:docMk/>
            <pc:sldMk cId="1584524781" sldId="279"/>
            <ac:spMk id="41" creationId="{ACBDBBE8-15B5-ED64-F38F-B8398D705BDC}"/>
          </ac:spMkLst>
        </pc:spChg>
      </pc:sldChg>
      <pc:sldChg chg="modSp mod">
        <pc:chgData name="Chad Furl" userId="e1f063c0-f891-481e-b162-0b825299f031" providerId="ADAL" clId="{6ADDB542-7708-4E33-BA5D-95E7728F0CE2}" dt="2026-09-09T14:10:05.669" v="55" actId="20577"/>
        <pc:sldMkLst>
          <pc:docMk/>
          <pc:sldMk cId="3380891519" sldId="283"/>
        </pc:sldMkLst>
        <pc:spChg chg="mod">
          <ac:chgData name="Chad Furl" userId="e1f063c0-f891-481e-b162-0b825299f031" providerId="ADAL" clId="{6ADDB542-7708-4E33-BA5D-95E7728F0CE2}" dt="2026-09-09T14:10:05.669" v="55" actId="20577"/>
          <ac:spMkLst>
            <pc:docMk/>
            <pc:sldMk cId="3380891519" sldId="283"/>
            <ac:spMk id="8" creationId="{21F2CBF3-C9C1-EB55-12DA-9AC2701C5E65}"/>
          </ac:spMkLst>
        </pc:spChg>
      </pc:sldChg>
      <pc:sldChg chg="delSp mod">
        <pc:chgData name="Chad Furl" userId="e1f063c0-f891-481e-b162-0b825299f031" providerId="ADAL" clId="{6ADDB542-7708-4E33-BA5D-95E7728F0CE2}" dt="2026-09-09T15:12:14.448" v="296" actId="478"/>
        <pc:sldMkLst>
          <pc:docMk/>
          <pc:sldMk cId="2618440478" sldId="291"/>
        </pc:sldMkLst>
        <pc:spChg chg="del">
          <ac:chgData name="Chad Furl" userId="e1f063c0-f891-481e-b162-0b825299f031" providerId="ADAL" clId="{6ADDB542-7708-4E33-BA5D-95E7728F0CE2}" dt="2026-09-09T15:12:14.448" v="296" actId="478"/>
          <ac:spMkLst>
            <pc:docMk/>
            <pc:sldMk cId="2618440478" sldId="291"/>
            <ac:spMk id="9" creationId="{D11E5010-1508-5AA6-3796-0179AB0EB1CB}"/>
          </ac:spMkLst>
        </pc:spChg>
      </pc:sldChg>
      <pc:sldChg chg="delSp mod">
        <pc:chgData name="Chad Furl" userId="e1f063c0-f891-481e-b162-0b825299f031" providerId="ADAL" clId="{6ADDB542-7708-4E33-BA5D-95E7728F0CE2}" dt="2026-09-09T15:12:09.436" v="295" actId="478"/>
        <pc:sldMkLst>
          <pc:docMk/>
          <pc:sldMk cId="2469971430" sldId="292"/>
        </pc:sldMkLst>
        <pc:spChg chg="del">
          <ac:chgData name="Chad Furl" userId="e1f063c0-f891-481e-b162-0b825299f031" providerId="ADAL" clId="{6ADDB542-7708-4E33-BA5D-95E7728F0CE2}" dt="2026-09-09T15:12:09.436" v="295" actId="478"/>
          <ac:spMkLst>
            <pc:docMk/>
            <pc:sldMk cId="2469971430" sldId="292"/>
            <ac:spMk id="9" creationId="{1C5E2A2B-04B1-BB20-3001-4FE3FC6F0F77}"/>
          </ac:spMkLst>
        </pc:spChg>
      </pc:sldChg>
      <pc:sldChg chg="delSp modSp mod">
        <pc:chgData name="Chad Furl" userId="e1f063c0-f891-481e-b162-0b825299f031" providerId="ADAL" clId="{6ADDB542-7708-4E33-BA5D-95E7728F0CE2}" dt="2026-09-09T15:12:02.939" v="294" actId="478"/>
        <pc:sldMkLst>
          <pc:docMk/>
          <pc:sldMk cId="1374114861" sldId="294"/>
        </pc:sldMkLst>
        <pc:spChg chg="del">
          <ac:chgData name="Chad Furl" userId="e1f063c0-f891-481e-b162-0b825299f031" providerId="ADAL" clId="{6ADDB542-7708-4E33-BA5D-95E7728F0CE2}" dt="2026-09-09T15:12:01.600" v="293" actId="478"/>
          <ac:spMkLst>
            <pc:docMk/>
            <pc:sldMk cId="1374114861" sldId="294"/>
            <ac:spMk id="2" creationId="{D6245667-BB64-B754-266E-36EFA1CA5C7B}"/>
          </ac:spMkLst>
        </pc:spChg>
        <pc:spChg chg="del">
          <ac:chgData name="Chad Furl" userId="e1f063c0-f891-481e-b162-0b825299f031" providerId="ADAL" clId="{6ADDB542-7708-4E33-BA5D-95E7728F0CE2}" dt="2026-09-09T15:12:02.939" v="294" actId="478"/>
          <ac:spMkLst>
            <pc:docMk/>
            <pc:sldMk cId="1374114861" sldId="294"/>
            <ac:spMk id="9" creationId="{25F6D2B5-55D4-7A99-C346-F78EB9027BAC}"/>
          </ac:spMkLst>
        </pc:spChg>
        <pc:spChg chg="mod">
          <ac:chgData name="Chad Furl" userId="e1f063c0-f891-481e-b162-0b825299f031" providerId="ADAL" clId="{6ADDB542-7708-4E33-BA5D-95E7728F0CE2}" dt="2026-09-09T15:11:21.831" v="286" actId="1036"/>
          <ac:spMkLst>
            <pc:docMk/>
            <pc:sldMk cId="1374114861" sldId="294"/>
            <ac:spMk id="11" creationId="{D5F10504-DA5B-4C0A-EFC4-B155FAC9B941}"/>
          </ac:spMkLst>
        </pc:spChg>
      </pc:sldChg>
      <pc:sldChg chg="delSp mod">
        <pc:chgData name="Chad Furl" userId="e1f063c0-f891-481e-b162-0b825299f031" providerId="ADAL" clId="{6ADDB542-7708-4E33-BA5D-95E7728F0CE2}" dt="2026-09-09T15:11:52.763" v="292" actId="478"/>
        <pc:sldMkLst>
          <pc:docMk/>
          <pc:sldMk cId="3090401803" sldId="295"/>
        </pc:sldMkLst>
        <pc:spChg chg="del">
          <ac:chgData name="Chad Furl" userId="e1f063c0-f891-481e-b162-0b825299f031" providerId="ADAL" clId="{6ADDB542-7708-4E33-BA5D-95E7728F0CE2}" dt="2026-09-09T15:11:52.763" v="292" actId="478"/>
          <ac:spMkLst>
            <pc:docMk/>
            <pc:sldMk cId="3090401803" sldId="295"/>
            <ac:spMk id="9" creationId="{829B5D1C-8BCD-0C3D-F1C2-295E3473576C}"/>
          </ac:spMkLst>
        </pc:spChg>
      </pc:sldChg>
      <pc:sldChg chg="delSp mod">
        <pc:chgData name="Chad Furl" userId="e1f063c0-f891-481e-b162-0b825299f031" providerId="ADAL" clId="{6ADDB542-7708-4E33-BA5D-95E7728F0CE2}" dt="2026-09-09T15:12:28.966" v="298" actId="478"/>
        <pc:sldMkLst>
          <pc:docMk/>
          <pc:sldMk cId="3040716077" sldId="299"/>
        </pc:sldMkLst>
        <pc:spChg chg="del">
          <ac:chgData name="Chad Furl" userId="e1f063c0-f891-481e-b162-0b825299f031" providerId="ADAL" clId="{6ADDB542-7708-4E33-BA5D-95E7728F0CE2}" dt="2026-09-09T15:12:28.966" v="298" actId="478"/>
          <ac:spMkLst>
            <pc:docMk/>
            <pc:sldMk cId="3040716077" sldId="299"/>
            <ac:spMk id="9" creationId="{BC338F22-56F1-BC88-A386-022188AFA6E8}"/>
          </ac:spMkLst>
        </pc:spChg>
      </pc:sldChg>
      <pc:sldChg chg="delSp modSp mod">
        <pc:chgData name="Chad Furl" userId="e1f063c0-f891-481e-b162-0b825299f031" providerId="ADAL" clId="{6ADDB542-7708-4E33-BA5D-95E7728F0CE2}" dt="2026-09-09T15:03:17.139" v="269" actId="478"/>
        <pc:sldMkLst>
          <pc:docMk/>
          <pc:sldMk cId="2765222130" sldId="300"/>
        </pc:sldMkLst>
        <pc:spChg chg="del">
          <ac:chgData name="Chad Furl" userId="e1f063c0-f891-481e-b162-0b825299f031" providerId="ADAL" clId="{6ADDB542-7708-4E33-BA5D-95E7728F0CE2}" dt="2026-09-09T15:03:17.139" v="269" actId="478"/>
          <ac:spMkLst>
            <pc:docMk/>
            <pc:sldMk cId="2765222130" sldId="300"/>
            <ac:spMk id="10" creationId="{7C46EAB4-3D1E-D253-A720-B5B55055ADAA}"/>
          </ac:spMkLst>
        </pc:spChg>
        <pc:spChg chg="mod">
          <ac:chgData name="Chad Furl" userId="e1f063c0-f891-481e-b162-0b825299f031" providerId="ADAL" clId="{6ADDB542-7708-4E33-BA5D-95E7728F0CE2}" dt="2026-09-09T15:03:07.595" v="268" actId="20577"/>
          <ac:spMkLst>
            <pc:docMk/>
            <pc:sldMk cId="2765222130" sldId="300"/>
            <ac:spMk id="11" creationId="{DF0D001D-C4E0-0537-BD23-179EC6E324D5}"/>
          </ac:spMkLst>
        </pc:spChg>
      </pc:sldChg>
      <pc:sldChg chg="modSp mod">
        <pc:chgData name="Chad Furl" userId="e1f063c0-f891-481e-b162-0b825299f031" providerId="ADAL" clId="{6ADDB542-7708-4E33-BA5D-95E7728F0CE2}" dt="2026-09-08T18:41:33.573" v="52" actId="20577"/>
        <pc:sldMkLst>
          <pc:docMk/>
          <pc:sldMk cId="2371490989" sldId="304"/>
        </pc:sldMkLst>
        <pc:spChg chg="mod">
          <ac:chgData name="Chad Furl" userId="e1f063c0-f891-481e-b162-0b825299f031" providerId="ADAL" clId="{6ADDB542-7708-4E33-BA5D-95E7728F0CE2}" dt="2026-09-08T18:41:33.573" v="52" actId="20577"/>
          <ac:spMkLst>
            <pc:docMk/>
            <pc:sldMk cId="2371490989" sldId="304"/>
            <ac:spMk id="3" creationId="{2A0E60B2-BF1A-3343-BE25-9222D45BBB58}"/>
          </ac:spMkLst>
        </pc:spChg>
      </pc:sldChg>
      <pc:sldChg chg="modSp mod">
        <pc:chgData name="Chad Furl" userId="e1f063c0-f891-481e-b162-0b825299f031" providerId="ADAL" clId="{6ADDB542-7708-4E33-BA5D-95E7728F0CE2}" dt="2026-09-08T18:41:47.842" v="54" actId="20577"/>
        <pc:sldMkLst>
          <pc:docMk/>
          <pc:sldMk cId="4214966734" sldId="305"/>
        </pc:sldMkLst>
        <pc:spChg chg="mod">
          <ac:chgData name="Chad Furl" userId="e1f063c0-f891-481e-b162-0b825299f031" providerId="ADAL" clId="{6ADDB542-7708-4E33-BA5D-95E7728F0CE2}" dt="2026-09-08T18:41:47.842" v="54" actId="20577"/>
          <ac:spMkLst>
            <pc:docMk/>
            <pc:sldMk cId="4214966734" sldId="305"/>
            <ac:spMk id="3" creationId="{EDCB0ED0-73FD-DA11-4FCF-ADE2C6259C9A}"/>
          </ac:spMkLst>
        </pc:spChg>
      </pc:sldChg>
    </pc:docChg>
  </pc:docChgLst>
  <pc:docChgLst>
    <pc:chgData name="Chad Furl" userId="e1f063c0-f891-481e-b162-0b825299f031" providerId="ADAL" clId="{3E978C21-B3D0-4285-96BE-5AD851B5E1C0}"/>
    <pc:docChg chg="custSel addSld modSld">
      <pc:chgData name="Chad Furl" userId="e1f063c0-f891-481e-b162-0b825299f031" providerId="ADAL" clId="{3E978C21-B3D0-4285-96BE-5AD851B5E1C0}" dt="2026-09-04T20:21:57.904" v="6" actId="1076"/>
      <pc:docMkLst>
        <pc:docMk/>
      </pc:docMkLst>
      <pc:sldChg chg="modSp mod">
        <pc:chgData name="Chad Furl" userId="e1f063c0-f891-481e-b162-0b825299f031" providerId="ADAL" clId="{3E978C21-B3D0-4285-96BE-5AD851B5E1C0}" dt="2026-09-04T20:21:57.904" v="6" actId="1076"/>
        <pc:sldMkLst>
          <pc:docMk/>
          <pc:sldMk cId="0" sldId="259"/>
        </pc:sldMkLst>
      </pc:sldChg>
      <pc:sldChg chg="add">
        <pc:chgData name="Chad Furl" userId="e1f063c0-f891-481e-b162-0b825299f031" providerId="ADAL" clId="{3E978C21-B3D0-4285-96BE-5AD851B5E1C0}" dt="2026-09-04T19:11:05.854" v="1"/>
        <pc:sldMkLst>
          <pc:docMk/>
          <pc:sldMk cId="0" sldId="266"/>
        </pc:sldMkLst>
      </pc:sldChg>
      <pc:sldChg chg="add">
        <pc:chgData name="Chad Furl" userId="e1f063c0-f891-481e-b162-0b825299f031" providerId="ADAL" clId="{3E978C21-B3D0-4285-96BE-5AD851B5E1C0}" dt="2026-09-04T20:16:09.770" v="2"/>
        <pc:sldMkLst>
          <pc:docMk/>
          <pc:sldMk cId="3829721467" sldId="272"/>
        </pc:sldMkLst>
      </pc:sldChg>
      <pc:sldChg chg="add">
        <pc:chgData name="Chad Furl" userId="e1f063c0-f891-481e-b162-0b825299f031" providerId="ADAL" clId="{3E978C21-B3D0-4285-96BE-5AD851B5E1C0}" dt="2026-09-04T19:10:33.658" v="0"/>
        <pc:sldMkLst>
          <pc:docMk/>
          <pc:sldMk cId="3353718638" sldId="301"/>
        </pc:sldMkLst>
      </pc:sldChg>
      <pc:sldChg chg="add">
        <pc:chgData name="Chad Furl" userId="e1f063c0-f891-481e-b162-0b825299f031" providerId="ADAL" clId="{3E978C21-B3D0-4285-96BE-5AD851B5E1C0}" dt="2026-09-04T20:16:09.770" v="2"/>
        <pc:sldMkLst>
          <pc:docMk/>
          <pc:sldMk cId="0" sldId="302"/>
        </pc:sldMkLst>
      </pc:sldChg>
      <pc:sldChg chg="add">
        <pc:chgData name="Chad Furl" userId="e1f063c0-f891-481e-b162-0b825299f031" providerId="ADAL" clId="{3E978C21-B3D0-4285-96BE-5AD851B5E1C0}" dt="2026-09-04T20:16:09.770" v="2"/>
        <pc:sldMkLst>
          <pc:docMk/>
          <pc:sldMk cId="3506664462" sldId="303"/>
        </pc:sldMkLst>
      </pc:sldChg>
      <pc:sldChg chg="add">
        <pc:chgData name="Chad Furl" userId="e1f063c0-f891-481e-b162-0b825299f031" providerId="ADAL" clId="{3E978C21-B3D0-4285-96BE-5AD851B5E1C0}" dt="2026-09-04T20:16:09.770" v="2"/>
        <pc:sldMkLst>
          <pc:docMk/>
          <pc:sldMk cId="2371490989" sldId="304"/>
        </pc:sldMkLst>
      </pc:sldChg>
      <pc:sldChg chg="add">
        <pc:chgData name="Chad Furl" userId="e1f063c0-f891-481e-b162-0b825299f031" providerId="ADAL" clId="{3E978C21-B3D0-4285-96BE-5AD851B5E1C0}" dt="2026-09-04T20:16:09.770" v="2"/>
        <pc:sldMkLst>
          <pc:docMk/>
          <pc:sldMk cId="4214966734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48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B4AE-3ED0-5EEB-1432-3A4BA7C57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3E5E0-F4A2-A427-D076-A895C6DED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7C5B7-21B8-3153-B7EE-8E147D62A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5CCCC-B59F-3678-A3B9-C456D0425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87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7A725-442A-50F4-D068-AFE5C9FB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42B2B-7DFB-744B-2FC2-D69C60FD7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057F5-4D7C-EDD6-559F-22F405788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8C952-3D0D-37C6-2879-6913F1C1AF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4278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34DEA-34A5-D072-F60A-CF7241AD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1557C-60E0-76BB-E3C3-8E2133A44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6A2FD-77A5-7855-A2C8-A5577C168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58A90-3726-17AD-ED79-8B66B0BE8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25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7EDB5-A22A-8DB0-7142-832D3DE46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19734-2B46-E49C-2243-9083850F1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825FD-6C36-0DD2-CE7E-E6C05802F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2F4B2-6A7B-E461-1058-0089AD1BA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9842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3ED8-2687-41D4-840E-B7CA9BC5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4BC62-FD80-F456-24F0-DB569FC77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FC391-17F7-E726-74F0-9722887DF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3EB35-3B32-02EA-382E-1A54D560C3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916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FCFA9-4F05-5763-5BD8-929DCE335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811F8-8D80-58CC-77EE-95CB4C032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B0E3C-4D1E-F526-10EA-E04884468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32B7B-DEF3-500D-743A-C0E148D7B7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870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8F39C-8DF2-F43B-872F-A66C1A65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1D97F-8E2B-20A3-0810-AC5E3794A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F4920-1882-77CD-0072-E5AF8F69C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B2A9E-C1EC-71D5-BE4A-9356591CB7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6863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D4301-B697-2019-6F3E-C8A05BE0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3505E-067D-CB96-B14F-10D799B3A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BAAC1-2513-ED12-9132-BC384FC2E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FF267-CA2D-38B9-4B31-57A4C178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442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CB07A-6335-041E-7E42-0440FD6A4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66FEF-4C4D-0B14-442E-B229C5275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03D09E-4270-EAA1-1609-5D88816E7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3BDE7-99AC-1B2A-DE60-6A50A8071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9727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4BCAF-E903-AE21-7D10-EC8D3A28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8261C-7DED-E105-BE99-19FC186A5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6FB6A-02AC-FC40-09A2-570628DA9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B688-6469-6BA9-1CDC-1A513330F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4092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938DB-4173-AB17-50DD-8C04F180D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6917C-4332-61D2-A1A2-F056C16A8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A38CF-5E09-72F4-7C64-5FB60CBD5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A3704-F186-8AF7-DFE3-ACA6129E4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876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3474A-916A-172A-2C2B-DCAD1420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6D7F7-CB8E-008B-B6DB-FE23151B5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A61BE-44C8-B750-E4A8-DE5A461D4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9595F-6380-3432-0BFD-E1D9D7A6B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93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4E07-3932-CA27-D3ED-4B97B4044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35049-9422-50C3-BBCB-489C84996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C7A21-7B98-F9C9-EB20-754A207CD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8A276-9096-C039-3586-6A1F47AC1E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805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7469-8C44-8DD9-08BA-1F44475D5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29C99-359E-CD84-644A-30FA4841F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E26C9-F20A-40AE-CB4E-30CF7BF67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A0666-9E79-6908-8CAB-CA3E59F45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731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EC06-7174-C9A9-DFC7-7B33E0E13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8DDD5-C91B-82FF-6F14-6B92494F3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16229-26E8-8A1E-F367-0E124DAD8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C35AB-B4BE-E4C9-E1B7-CD3A67811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903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4CDE9-C80A-BD63-28DF-2A8E07FCA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ED44D-9CED-D3C0-C16E-BF8901267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BCD87-4C0D-2F64-9825-C7CA11CF3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ED94C-2E36-A7AC-3D0E-66ED71CB2A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79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0CF1-5825-CB6C-889E-8D290330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B8137-99E2-863C-D84F-A71BD0DE4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63233-64EC-279C-AB6A-06C6EFEB9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445DA-21A4-538E-5547-8AEC5E9B68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704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1008-123A-BA88-37F8-79F2CF463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54261-EBED-BCA3-E46E-18F4B679B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619E6-E379-BA67-8454-211119CD6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5F3D3-5261-1931-A0A2-7D1F9FC1E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28015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C163-D18F-AAFF-552F-A16C82A25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65104-C2BB-F813-90CA-0439663ED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BB803-01A0-4F94-6717-54918AE91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F199B-1B58-B1FF-A88E-B544EB9AF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767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E9F49-120C-EE64-5DE6-E74FAF5BC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EAAC3-8133-6485-7B34-94A134E35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BCB79-9978-4970-6F6D-D74466450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66393-DFAD-FE86-2784-8E3C0C919A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7273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5780-B8F9-76DA-47C7-9F20BDFCE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FC52A-3D8C-3919-B5CE-E29908AF4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F1C6B-05AE-BBAF-3EBD-2F1BA9D9F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9C4B1-7A30-9A71-F650-EF26161FA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795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BCC35-38CE-BDB7-F4B2-6F4407A76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EBC82-4095-605B-157E-937F7D150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98FA5-AA11-B716-629A-7830E92FD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49164-F3E4-5EA8-B69A-5938807B7B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93601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507C-2783-1CA5-D5BE-DD35F92E1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1BBEC-519A-E5BF-9D7F-B7EC4531D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8F8A7-69F0-1AD7-EB5F-D8E0727F9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878FA-A3AA-C7AA-D02C-EBD7AE6F9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052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55C59-401D-4056-3D9F-5FD37168B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D544E-8954-3891-B241-DD342B99B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DAD98-B262-634E-96F1-A41387E75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C64EB-761C-725C-7319-1CAAF7189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5573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F52EB-6BAD-4C8D-B574-90134E3A7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749D7-2F5A-66D8-CE6A-22CD51EDB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958C3-59AF-A8FB-6851-E31478361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002BE-4F2F-C371-292B-D672EE68F8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58429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15905-5204-1320-641B-09EE60FC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0E6C1-9B17-79D7-BC5F-6AF1EBCD0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6C1C6-52D4-B11A-BC9B-65EAF899D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6B335-B007-DDAC-E2A7-546298EAB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06280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6F730-125D-76D0-7A61-371E43577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9AD56-5711-AEAE-7255-0AEF57518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AC627-0829-B06F-DE18-528711511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59CB4-84CB-8932-7119-2D06F76306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67556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8260D-B7AE-99E7-DA67-B6132DF74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63E0F-29E1-FE74-7835-16FD25338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5802B-815F-A1E9-4958-EFDE89CFD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782C5-86FE-ED59-0955-700267D32C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2112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NDALAKE_MASTER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edwardsaquifer.org/GroundWater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40"/>
          </a:solidFill>
          <a:ln w="12700">
            <a:solidFill>
              <a:srgbClr val="1232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742432"/>
            <a:ext cx="12191695" cy="1115568"/>
          </a:xfrm>
          <a:prstGeom prst="rect">
            <a:avLst/>
          </a:prstGeom>
          <a:solidFill>
            <a:srgbClr val="4F7D4F">
              <a:alpha val="91000"/>
            </a:srgbClr>
          </a:solidFill>
          <a:ln w="12700">
            <a:solidFill>
              <a:srgbClr val="4F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480000">
            <a:off x="7909560" y="73152"/>
            <a:ext cx="2834640" cy="2834640"/>
          </a:xfrm>
          <a:prstGeom prst="arc">
            <a:avLst/>
          </a:prstGeom>
          <a:solidFill>
            <a:srgbClr val="123240">
              <a:alpha val="0"/>
            </a:srgbClr>
          </a:solidFill>
          <a:ln w="25400">
            <a:solidFill>
              <a:srgbClr val="6CB7A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660000">
            <a:off x="8549640" y="411480"/>
            <a:ext cx="2834640" cy="2834640"/>
          </a:xfrm>
          <a:prstGeom prst="arc">
            <a:avLst/>
          </a:prstGeom>
          <a:solidFill>
            <a:srgbClr val="123240">
              <a:alpha val="0"/>
            </a:srgbClr>
          </a:solidFill>
          <a:ln w="17780">
            <a:solidFill>
              <a:srgbClr val="8BAE6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5120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CB7AF"/>
                </a:solidFill>
              </a:rPr>
              <a:t>EAHCP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58367" y="1143000"/>
            <a:ext cx="7893961" cy="767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>
                <a:solidFill>
                  <a:srgbClr val="FBFA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Drought Management</a:t>
            </a:r>
          </a:p>
        </p:txBody>
      </p:sp>
      <p:sp>
        <p:nvSpPr>
          <p:cNvPr id="9" name="Text 7"/>
          <p:cNvSpPr/>
          <p:nvPr/>
        </p:nvSpPr>
        <p:spPr>
          <a:xfrm>
            <a:off x="676656" y="2148550"/>
            <a:ext cx="68178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DED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EAHCP Activities Through 2025-2026 </a:t>
            </a:r>
            <a:r>
              <a:rPr lang="en-US" sz="1900">
                <a:solidFill>
                  <a:srgbClr val="DDED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Flows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76656" y="2868247"/>
            <a:ext cx="3794760" cy="0"/>
          </a:xfrm>
          <a:prstGeom prst="line">
            <a:avLst/>
          </a:prstGeom>
          <a:noFill/>
          <a:ln w="11430">
            <a:solidFill>
              <a:srgbClr val="D6A13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" y="4325541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CB7AF"/>
                </a:solidFill>
              </a:rPr>
              <a:t>SCIENCE COMMITTEE IMPLEMENTATION MEETING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76656" y="4682157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CFBA"/>
                </a:solidFill>
              </a:rPr>
              <a:t>September 16, 2026  ·  STAR SMTX  ·  Chad Furl PhD PE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79" y="347472"/>
            <a:ext cx="9904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Region Drought</a:t>
            </a:r>
            <a:endParaRPr lang="en-US" sz="2900"/>
          </a:p>
        </p:txBody>
      </p:sp>
      <p:sp>
        <p:nvSpPr>
          <p:cNvPr id="9" name="Text 7"/>
          <p:cNvSpPr/>
          <p:nvPr/>
        </p:nvSpPr>
        <p:spPr>
          <a:xfrm rot="10800000" flipV="1">
            <a:off x="11689079" y="561784"/>
            <a:ext cx="300113" cy="30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658368" y="1839087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ROLLING MONTHLY SPRINGFLOW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590659" y="2323523"/>
            <a:ext cx="2084071" cy="2518029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CE0C189-EFD5-914D-132E-BF643B42DF5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0797" y="1078992"/>
            <a:ext cx="8714250" cy="5468123"/>
          </a:xfrm>
          <a:prstGeom prst="rect">
            <a:avLst/>
          </a:prstGeom>
        </p:spPr>
      </p:pic>
      <p:sp>
        <p:nvSpPr>
          <p:cNvPr id="19" name="Text 17"/>
          <p:cNvSpPr/>
          <p:nvPr/>
        </p:nvSpPr>
        <p:spPr>
          <a:xfrm>
            <a:off x="732501" y="2135172"/>
            <a:ext cx="1897160" cy="29826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5B45"/>
                </a:solidFill>
              </a:rPr>
              <a:t>Mean monthly </a:t>
            </a:r>
            <a:r>
              <a:rPr lang="en-US" sz="1400" b="1" dirty="0" err="1">
                <a:solidFill>
                  <a:srgbClr val="3B5B45"/>
                </a:solidFill>
              </a:rPr>
              <a:t>springflow</a:t>
            </a:r>
            <a:r>
              <a:rPr lang="en-US" sz="1400" b="1" dirty="0">
                <a:solidFill>
                  <a:srgbClr val="3B5B45"/>
                </a:solidFill>
              </a:rPr>
              <a:t> USGS 08168710 – Comal.</a:t>
            </a:r>
          </a:p>
          <a:p>
            <a:pPr marL="0" indent="0">
              <a:buNone/>
            </a:pPr>
            <a:endParaRPr lang="en-US" sz="1400" b="1" dirty="0">
              <a:solidFill>
                <a:srgbClr val="3B5B45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3B5B45"/>
                </a:solidFill>
              </a:rPr>
              <a:t>Rolling averages represent the mean of consecutive monthly </a:t>
            </a:r>
            <a:r>
              <a:rPr lang="en-US" sz="1400" b="1" dirty="0" err="1">
                <a:solidFill>
                  <a:srgbClr val="3B5B45"/>
                </a:solidFill>
              </a:rPr>
              <a:t>springflow</a:t>
            </a:r>
            <a:r>
              <a:rPr lang="en-US" sz="1400" b="1" dirty="0">
                <a:solidFill>
                  <a:srgbClr val="3B5B45"/>
                </a:solidFill>
              </a:rPr>
              <a:t> values over the indicated 1- to 60-month periods.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3EE9C-B67E-4ADE-7CEA-F0E3D47E9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296FDF-3C67-9C25-D6C7-21C60D5DA4F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53FAF78-78FA-1556-97A1-41B6D56A8C94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C42DB2-EAB7-02B5-F469-5A516F0025B1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5579145-538C-A9D9-689D-48FCA0605CB3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E6581E-EFA3-E246-7892-E6AA7EFBD709}"/>
              </a:ext>
            </a:extLst>
          </p:cNvPr>
          <p:cNvSpPr/>
          <p:nvPr/>
        </p:nvSpPr>
        <p:spPr>
          <a:xfrm>
            <a:off x="640079" y="347472"/>
            <a:ext cx="99040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Region Drought</a:t>
            </a:r>
            <a:endParaRPr lang="en-US" sz="29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50A3BC-C498-7F83-CFAB-0451C477BD8B}"/>
              </a:ext>
            </a:extLst>
          </p:cNvPr>
          <p:cNvSpPr/>
          <p:nvPr/>
        </p:nvSpPr>
        <p:spPr>
          <a:xfrm rot="10800000" flipV="1">
            <a:off x="11689079" y="561784"/>
            <a:ext cx="300113" cy="30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ED5B2BB-D892-D77B-BD4F-5AC3590C5A87}"/>
              </a:ext>
            </a:extLst>
          </p:cNvPr>
          <p:cNvSpPr/>
          <p:nvPr/>
        </p:nvSpPr>
        <p:spPr>
          <a:xfrm>
            <a:off x="658368" y="1839087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ROLLING MONTHLY SPRINGFLOW</a:t>
            </a:r>
            <a:endParaRPr lang="en-US"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DF7DF68-D4A2-5BBD-D879-0FD52D9EBC9A}"/>
              </a:ext>
            </a:extLst>
          </p:cNvPr>
          <p:cNvSpPr/>
          <p:nvPr/>
        </p:nvSpPr>
        <p:spPr>
          <a:xfrm>
            <a:off x="826989" y="4696587"/>
            <a:ext cx="189716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B17342-F888-7D43-68A0-1A44F5C0AA9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0797" y="1078991"/>
            <a:ext cx="8714250" cy="5468123"/>
          </a:xfrm>
          <a:prstGeom prst="rect">
            <a:avLst/>
          </a:prstGeom>
        </p:spPr>
      </p:pic>
      <p:sp>
        <p:nvSpPr>
          <p:cNvPr id="18" name="Shape 16">
            <a:extLst>
              <a:ext uri="{FF2B5EF4-FFF2-40B4-BE49-F238E27FC236}">
                <a16:creationId xmlns:a16="http://schemas.microsoft.com/office/drawing/2014/main" id="{D2A6D4BB-677C-AAC4-5CCC-9AE1B97B29D6}"/>
              </a:ext>
            </a:extLst>
          </p:cNvPr>
          <p:cNvSpPr/>
          <p:nvPr/>
        </p:nvSpPr>
        <p:spPr>
          <a:xfrm>
            <a:off x="590659" y="2250557"/>
            <a:ext cx="2084071" cy="4026675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sz="1400" b="1" dirty="0"/>
              <a:t>Points show the 50 lowest rolling-average </a:t>
            </a:r>
            <a:r>
              <a:rPr lang="en-US" sz="1400" b="1" dirty="0" err="1"/>
              <a:t>springflow</a:t>
            </a:r>
            <a:r>
              <a:rPr lang="en-US" sz="1400" b="1" dirty="0"/>
              <a:t> values for each averaging duration. </a:t>
            </a:r>
          </a:p>
          <a:p>
            <a:endParaRPr lang="en-US" sz="1400" b="1" dirty="0"/>
          </a:p>
          <a:p>
            <a:r>
              <a:rPr lang="en-US" sz="1400" b="1" dirty="0"/>
              <a:t>Rolling periods overlap; for example, consecutive 12-month values can represent Jan–Dec 2024, Feb 2024–Jan 2025, and Mar 2024–Feb 2025. </a:t>
            </a:r>
          </a:p>
          <a:p>
            <a:endParaRPr lang="en-US" sz="1400" b="1" dirty="0"/>
          </a:p>
          <a:p>
            <a:r>
              <a:rPr lang="en-US" sz="1400" b="1" dirty="0"/>
              <a:t>Colors identify periods ending in the 1950s and 2020s; all other periods are shown in black.</a:t>
            </a:r>
          </a:p>
        </p:txBody>
      </p:sp>
    </p:spTree>
    <p:extLst>
      <p:ext uri="{BB962C8B-B14F-4D97-AF65-F5344CB8AC3E}">
        <p14:creationId xmlns:p14="http://schemas.microsoft.com/office/powerpoint/2010/main" val="993099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6E51-2476-07DE-986E-DDA9438B1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160120-2A75-E273-E3A5-5A0362185570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C74A82F-29B0-F1DF-8F59-326112F2ED19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CE6CA07-B065-51C0-04AA-4526C485AC3D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697124A-7582-F1E4-C2BD-595B387383D7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FC110DB-C1CF-3C41-AC97-9A31EC9E3CEC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F0D001D-C4E0-0537-BD23-179EC6E324D5}"/>
              </a:ext>
            </a:extLst>
          </p:cNvPr>
          <p:cNvSpPr/>
          <p:nvPr/>
        </p:nvSpPr>
        <p:spPr>
          <a:xfrm>
            <a:off x="640080" y="2386502"/>
            <a:ext cx="2417445" cy="352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50" b="1" dirty="0">
                <a:solidFill>
                  <a:srgbClr val="243036"/>
                </a:solidFill>
                <a:latin typeface="Aptos"/>
              </a:rPr>
              <a:t>Daily Minimums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May 22, 2025 – 48 </a:t>
            </a:r>
            <a:r>
              <a:rPr kumimoji="0" lang="en-US" sz="16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50" dirty="0">
                <a:solidFill>
                  <a:srgbClr val="243036"/>
                </a:solidFill>
                <a:latin typeface="Aptos"/>
              </a:rPr>
              <a:t>April 1, 2026 – 53 </a:t>
            </a:r>
            <a:r>
              <a:rPr lang="en-US" sz="1650" dirty="0" err="1">
                <a:solidFill>
                  <a:srgbClr val="243036"/>
                </a:solidFill>
                <a:latin typeface="Aptos"/>
              </a:rPr>
              <a:t>cfs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Days under 50 </a:t>
            </a:r>
            <a:r>
              <a:rPr kumimoji="0" lang="en-US" sz="1650" b="1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endParaRPr kumimoji="0" lang="en-US" sz="1650" b="1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1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50" dirty="0">
                <a:solidFill>
                  <a:srgbClr val="243036"/>
                </a:solidFill>
                <a:latin typeface="Aptos"/>
              </a:rPr>
              <a:t>    1955 – 15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 1956 – 273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50" dirty="0">
                <a:solidFill>
                  <a:srgbClr val="243036"/>
                </a:solidFill>
                <a:latin typeface="Aptos"/>
              </a:rPr>
              <a:t>    1957 – 28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 1984 – 96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50" dirty="0">
                <a:solidFill>
                  <a:srgbClr val="243036"/>
                </a:solidFill>
                <a:latin typeface="Aptos"/>
              </a:rPr>
              <a:t>    1990 – 4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 2025 – 2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50" dirty="0">
              <a:solidFill>
                <a:srgbClr val="243036"/>
              </a:solidFill>
              <a:latin typeface="Apto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F86876C-C092-9D69-9334-6E13A6140D7A}"/>
              </a:ext>
            </a:extLst>
          </p:cNvPr>
          <p:cNvSpPr/>
          <p:nvPr/>
        </p:nvSpPr>
        <p:spPr>
          <a:xfrm>
            <a:off x="3895725" y="1417320"/>
            <a:ext cx="7900035" cy="4535424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001BC098-A937-5C27-B4B5-787DAF3742B6}"/>
              </a:ext>
            </a:extLst>
          </p:cNvPr>
          <p:cNvSpPr/>
          <p:nvPr/>
        </p:nvSpPr>
        <p:spPr>
          <a:xfrm>
            <a:off x="3962400" y="6071616"/>
            <a:ext cx="72847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9B10265-A3F3-FA3C-1768-C5A9348983BA}"/>
              </a:ext>
            </a:extLst>
          </p:cNvPr>
          <p:cNvSpPr/>
          <p:nvPr/>
        </p:nvSpPr>
        <p:spPr>
          <a:xfrm>
            <a:off x="4095750" y="6190488"/>
            <a:ext cx="70050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lvl="0"/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Comal Springs discharge at USGS 08168710 2025 to </a:t>
            </a:r>
            <a:r>
              <a:rPr kumimoji="0" lang="en-US" sz="9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presnet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 August 1, 2026.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F6ABE4-F64A-0A01-397A-7A1079531BE4}"/>
              </a:ext>
            </a:extLst>
          </p:cNvPr>
          <p:cNvSpPr txBox="1"/>
          <p:nvPr/>
        </p:nvSpPr>
        <p:spPr>
          <a:xfrm>
            <a:off x="5219700" y="2093975"/>
            <a:ext cx="4619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Make a graph of LCRA well 2025-1-1 to present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C00E79-6C4B-A696-D601-130DBB73D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28" y="1206998"/>
            <a:ext cx="7900432" cy="474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22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EAE7D-F3BF-BC6C-64CD-3E1666E44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E7B9C99-11D2-60C4-07FD-29BA472712CD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40EF58-1296-F28A-D879-74B31A9DF301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2FABB08-9B17-E06E-768D-19C762829D8C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42AE2C-882F-5A75-1DC4-2AF844F0BAFF}"/>
              </a:ext>
            </a:extLst>
          </p:cNvPr>
          <p:cNvSpPr/>
          <p:nvPr/>
        </p:nvSpPr>
        <p:spPr>
          <a:xfrm>
            <a:off x="640080" y="347471"/>
            <a:ext cx="3569455" cy="122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Drought Management</a:t>
            </a:r>
            <a:endParaRPr lang="en-US" sz="2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01E2B6-8BD9-A86A-B91D-C6B419F1BBC2}"/>
              </a:ext>
            </a:extLst>
          </p:cNvPr>
          <p:cNvSpPr/>
          <p:nvPr/>
        </p:nvSpPr>
        <p:spPr>
          <a:xfrm>
            <a:off x="658368" y="194083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240"/>
                </a:solidFill>
              </a:rPr>
              <a:t>PRESSURE POINTS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2639B2B-32B4-C710-4820-31EC76D09778}"/>
              </a:ext>
            </a:extLst>
          </p:cNvPr>
          <p:cNvSpPr/>
          <p:nvPr/>
        </p:nvSpPr>
        <p:spPr>
          <a:xfrm>
            <a:off x="640079" y="2365976"/>
            <a:ext cx="3569455" cy="35644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43036"/>
                </a:solidFill>
              </a:rPr>
              <a:t>Lake wetted area</a:t>
            </a:r>
          </a:p>
          <a:p>
            <a:pPr marL="0" indent="0">
              <a:buNone/>
            </a:pPr>
            <a:endParaRPr lang="en-US" sz="2200" dirty="0">
              <a:solidFill>
                <a:srgbClr val="243036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243036"/>
                </a:solidFill>
              </a:rPr>
              <a:t>Lake level and culvert works</a:t>
            </a:r>
          </a:p>
          <a:p>
            <a:pPr marL="0" indent="0">
              <a:buNone/>
            </a:pPr>
            <a:endParaRPr lang="en-US" sz="2200" dirty="0">
              <a:solidFill>
                <a:srgbClr val="243036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243036"/>
                </a:solidFill>
              </a:rPr>
              <a:t>Dissolved oxygen</a:t>
            </a:r>
          </a:p>
          <a:p>
            <a:pPr marL="0" indent="0">
              <a:buNone/>
            </a:pPr>
            <a:endParaRPr lang="en-US" sz="2200" dirty="0">
              <a:solidFill>
                <a:srgbClr val="243036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243036"/>
                </a:solidFill>
              </a:rPr>
              <a:t>Temperature</a:t>
            </a:r>
          </a:p>
          <a:p>
            <a:pPr marL="0" indent="0">
              <a:buNone/>
            </a:pPr>
            <a:endParaRPr lang="en-US" sz="2200" dirty="0">
              <a:solidFill>
                <a:srgbClr val="243036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243036"/>
                </a:solidFill>
              </a:rPr>
              <a:t>Vegetation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30C23C-F98B-6ACE-47AE-77968F503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681" y="396568"/>
            <a:ext cx="6054399" cy="6162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0401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936CF-1B9E-DC39-69A5-DD03F5187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58FB08-F828-8F9A-BBAC-394632867AB9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55F07E-CC7F-F4FF-3BA8-47610700D053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2B525AA-20C0-05A9-D804-350D7DBCB232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6AA0372-07C9-95B3-029B-4194A75E9BD0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D3A628D-D2B6-C061-3F14-DB058F64F892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D1420C-213F-9BC3-2D3E-03857F47AD81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LAKE LEVEL AND WETTED AREA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F5A70C-FF02-F48B-68E6-D178E63E5375}"/>
              </a:ext>
            </a:extLst>
          </p:cNvPr>
          <p:cNvSpPr/>
          <p:nvPr/>
        </p:nvSpPr>
        <p:spPr>
          <a:xfrm>
            <a:off x="640080" y="1901951"/>
            <a:ext cx="2417445" cy="29035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LBG-Guyton 2004</a:t>
            </a:r>
            <a:r>
              <a:rPr kumimoji="0" lang="en-US" sz="1650" b="1" i="0" u="none" strike="noStrike" kern="1200" cap="none" spc="0" normalizeH="0" baseline="3000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 1 and 2 stop flowing </a:t>
            </a:r>
            <a:endParaRPr lang="en-US" sz="1650">
              <a:solidFill>
                <a:srgbClr val="243036"/>
              </a:solidFill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LCRA well ~ 625 ft.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Comal flow ~ 130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SR3 stops flowing when                LCRA well ~ 621.5 ft.    Comal flow ~ 50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50">
              <a:solidFill>
                <a:srgbClr val="243036"/>
              </a:solidFill>
              <a:latin typeface="Apto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D120D31-30B5-7B88-8028-7031F87AAF0E}"/>
              </a:ext>
            </a:extLst>
          </p:cNvPr>
          <p:cNvSpPr/>
          <p:nvPr/>
        </p:nvSpPr>
        <p:spPr>
          <a:xfrm>
            <a:off x="3895725" y="1417320"/>
            <a:ext cx="7900035" cy="4535424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0876A901-8148-FE9B-AAEE-48BFB9C75270}"/>
              </a:ext>
            </a:extLst>
          </p:cNvPr>
          <p:cNvSpPr/>
          <p:nvPr/>
        </p:nvSpPr>
        <p:spPr>
          <a:xfrm>
            <a:off x="3962400" y="6071616"/>
            <a:ext cx="72847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CB4A69F-7649-19DC-7D93-86E262ABCA2C}"/>
              </a:ext>
            </a:extLst>
          </p:cNvPr>
          <p:cNvSpPr/>
          <p:nvPr/>
        </p:nvSpPr>
        <p:spPr>
          <a:xfrm>
            <a:off x="4095750" y="6190488"/>
            <a:ext cx="70050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lvl="0"/>
            <a:r>
              <a:rPr lang="en-US" sz="1000" b="1" baseline="30000"/>
              <a:t>1</a:t>
            </a:r>
            <a:r>
              <a:rPr lang="en-US" sz="1000" b="1"/>
              <a:t>LBG-Guyton Associates. 2004. </a:t>
            </a:r>
            <a:r>
              <a:rPr lang="en-US" sz="1000" b="1" i="1"/>
              <a:t>Evaluation of Augmentation Methodologies in Support of In-Situ Refugia at Comal and San Marcos Springs, Texas.</a:t>
            </a:r>
            <a:r>
              <a:rPr lang="en-US" sz="1000" b="1"/>
              <a:t> Prepared for the Edwards Aquifer Authority.</a:t>
            </a:r>
            <a:endParaRPr kumimoji="0" lang="en-US" sz="9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12D278-CB0D-6BD5-008C-583AEC0BC2C1}"/>
              </a:ext>
            </a:extLst>
          </p:cNvPr>
          <p:cNvSpPr txBox="1"/>
          <p:nvPr/>
        </p:nvSpPr>
        <p:spPr>
          <a:xfrm>
            <a:off x="5219700" y="2093975"/>
            <a:ext cx="4619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Make a graph of LCRA well 2025-1-1 to present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078DE9-3426-B654-5217-3A699E47856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5725" y="1188720"/>
            <a:ext cx="7900035" cy="474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04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70DAA-EF57-2D81-E3BF-B7A1C780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24E03F-827D-28D5-4F68-9261FEDD3049}"/>
              </a:ext>
            </a:extLst>
          </p:cNvPr>
          <p:cNvSpPr/>
          <p:nvPr/>
        </p:nvSpPr>
        <p:spPr>
          <a:xfrm>
            <a:off x="53299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A8C0CB-B6C7-13EE-8799-CA404C236B46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462919-A97B-DAFC-B29A-3949BF5D9B30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7746AE4-8058-D873-9B2A-7362B4CDB325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40E989-79FA-2448-ABA5-AB781F9C865B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42149BB-601E-4A9E-9C1C-E8A552B7D844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LAKE LEVEL AND WETTED AREA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BF9F424-8A88-9776-9ABB-79E5E9B3913B}"/>
              </a:ext>
            </a:extLst>
          </p:cNvPr>
          <p:cNvSpPr/>
          <p:nvPr/>
        </p:nvSpPr>
        <p:spPr>
          <a:xfrm>
            <a:off x="640080" y="1901951"/>
            <a:ext cx="2417445" cy="29035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LBG-Guyton 2004</a:t>
            </a:r>
            <a:r>
              <a:rPr kumimoji="0" lang="en-US" sz="1650" b="1" i="0" u="none" strike="noStrike" kern="1200" cap="none" spc="0" normalizeH="0" baseline="3000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 1 and 2 stop flowing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LCRA well ~ 625 ft.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Comal flow ~ 130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SR3 stops flowing when                LCRA well ~ 621.5 ft.    Comal flow ~ 50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7CA819C-55EF-7887-CD82-98FE1051A8C5}"/>
              </a:ext>
            </a:extLst>
          </p:cNvPr>
          <p:cNvSpPr/>
          <p:nvPr/>
        </p:nvSpPr>
        <p:spPr>
          <a:xfrm>
            <a:off x="3895725" y="1417320"/>
            <a:ext cx="7900035" cy="4535424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BCD5C208-BE2D-8206-60A7-51E8654E1BD1}"/>
              </a:ext>
            </a:extLst>
          </p:cNvPr>
          <p:cNvSpPr/>
          <p:nvPr/>
        </p:nvSpPr>
        <p:spPr>
          <a:xfrm>
            <a:off x="3962400" y="6071616"/>
            <a:ext cx="72847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231DECB-0415-33E1-AA90-0055437C39EA}"/>
              </a:ext>
            </a:extLst>
          </p:cNvPr>
          <p:cNvSpPr/>
          <p:nvPr/>
        </p:nvSpPr>
        <p:spPr>
          <a:xfrm>
            <a:off x="4095750" y="6190488"/>
            <a:ext cx="70050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LBG-Guyton Associates. 2004. </a:t>
            </a:r>
            <a:r>
              <a:rPr kumimoji="0" lang="en-US" sz="1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Evaluation of Augmentation Methodologies in Support of In-Situ Refugia at Comal and San Marcos Springs, Texas.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Prepared for the Edwards Aquifer Authority.</a:t>
            </a:r>
            <a:endParaRPr kumimoji="0" lang="en-US" sz="9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204B30-7923-E927-44E1-F55E25922409}"/>
              </a:ext>
            </a:extLst>
          </p:cNvPr>
          <p:cNvSpPr txBox="1"/>
          <p:nvPr/>
        </p:nvSpPr>
        <p:spPr>
          <a:xfrm>
            <a:off x="5219700" y="2093975"/>
            <a:ext cx="4619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Make a graph of LCRA well 2025-1-1 to present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911AD8-6B31-C290-7CA4-F7596843712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5725" y="1188720"/>
            <a:ext cx="7900035" cy="47411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F2CBF3-C9C1-EB55-12DA-9AC2701C5E65}"/>
              </a:ext>
            </a:extLst>
          </p:cNvPr>
          <p:cNvSpPr txBox="1"/>
          <p:nvPr/>
        </p:nvSpPr>
        <p:spPr>
          <a:xfrm>
            <a:off x="585893" y="4871618"/>
            <a:ext cx="2628414" cy="1638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650" b="1" dirty="0">
                <a:solidFill>
                  <a:srgbClr val="243036"/>
                </a:solidFill>
              </a:rPr>
              <a:t>2025-2026 Observations</a:t>
            </a:r>
          </a:p>
          <a:p>
            <a:pPr marL="114300" lvl="0" indent="-114300">
              <a:defRPr/>
            </a:pPr>
            <a:endParaRPr lang="en-US" sz="1650" dirty="0">
              <a:solidFill>
                <a:srgbClr val="243036"/>
              </a:solidFill>
            </a:endParaRPr>
          </a:p>
          <a:p>
            <a:pPr marL="114300" lvl="0" indent="-114300">
              <a:defRPr/>
            </a:pPr>
            <a:r>
              <a:rPr lang="en-US" sz="1650" dirty="0">
                <a:solidFill>
                  <a:srgbClr val="243036"/>
                </a:solidFill>
              </a:rPr>
              <a:t>SR3 stops flowing when                LCRA well ~ 620.5 ft.    Comal flow ~ 50 </a:t>
            </a:r>
            <a:r>
              <a:rPr lang="en-US" sz="1650" dirty="0" err="1">
                <a:solidFill>
                  <a:srgbClr val="243036"/>
                </a:solidFill>
              </a:rPr>
              <a:t>cfs</a:t>
            </a:r>
            <a:r>
              <a:rPr lang="en-US" sz="1650" dirty="0">
                <a:solidFill>
                  <a:srgbClr val="243036"/>
                </a:solidFill>
              </a:rPr>
              <a:t>.</a:t>
            </a:r>
            <a:endParaRPr lang="en-US" sz="1650" dirty="0">
              <a:solidFill>
                <a:prstClr val="black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891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0B8E-F7F1-2E39-4AEC-542656FD8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CEE4DFFA-8ACA-8B13-F602-B536A2ADB6D8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5D1D97-5645-1A81-3511-82B1DAB6C3C8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BD030C4-2D27-804A-DCFF-BAC6DF697743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27C5DC-9E7F-DE4A-E088-05ECAFC36F25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D9EABCF-B923-B7F7-B668-B993D0E2387A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LAKE LEVEL AND WETTED AREA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BFC587D-2650-812B-ED59-DD1E852CA25E}"/>
              </a:ext>
            </a:extLst>
          </p:cNvPr>
          <p:cNvSpPr/>
          <p:nvPr/>
        </p:nvSpPr>
        <p:spPr>
          <a:xfrm>
            <a:off x="640080" y="1901951"/>
            <a:ext cx="2417445" cy="29035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LBG-Guyton 2004</a:t>
            </a:r>
            <a:r>
              <a:rPr kumimoji="0" lang="en-US" sz="1650" b="1" i="0" u="none" strike="noStrike" kern="1200" cap="none" spc="0" normalizeH="0" baseline="3000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 1 and 2 stop flowing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LCRA well ~ 625 ft.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Comal flow ~ 130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SR3 stops flowing when                LCRA well ~ 621.5 ft.    Comal flow ~ 50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6D0E6C4C-827F-B641-159B-F14440FC4BAA}"/>
              </a:ext>
            </a:extLst>
          </p:cNvPr>
          <p:cNvSpPr/>
          <p:nvPr/>
        </p:nvSpPr>
        <p:spPr>
          <a:xfrm>
            <a:off x="3962400" y="6071616"/>
            <a:ext cx="72847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052F829-25F8-7068-6477-68C7210814CD}"/>
              </a:ext>
            </a:extLst>
          </p:cNvPr>
          <p:cNvSpPr/>
          <p:nvPr/>
        </p:nvSpPr>
        <p:spPr>
          <a:xfrm>
            <a:off x="4095750" y="6190488"/>
            <a:ext cx="70050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Picture on left is Spring Run 3 facing downstream from walking bridge on May 21, 2025 (Total Comal discharge 49 </a:t>
            </a:r>
            <a:r>
              <a:rPr kumimoji="0" lang="en-US" sz="1200" b="1" i="0" u="none" strike="noStrike" kern="1200" cap="none" spc="0" normalizeH="0" baseline="30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).  Picture on the right is WQ monitoring equipment attached to </a:t>
            </a:r>
            <a:r>
              <a:rPr kumimoji="0" lang="en-US" sz="1200" b="1" i="0" u="none" strike="noStrike" kern="1200" cap="none" spc="0" normalizeH="0" baseline="30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sam</a:t>
            </a:r>
            <a:r>
              <a:rPr lang="en-US" sz="1200" b="1" baseline="30000">
                <a:solidFill>
                  <a:prstClr val="black"/>
                </a:solidFill>
                <a:latin typeface="Aptos"/>
              </a:rPr>
              <a:t>e walking bridge on </a:t>
            </a: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April 1, 2026 (Total Comal discharge 53 </a:t>
            </a:r>
            <a:r>
              <a:rPr kumimoji="0" lang="en-US" sz="1200" b="1" i="0" u="none" strike="noStrike" kern="1200" cap="none" spc="0" normalizeH="0" baseline="30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).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C9BD83-37C9-F99E-F4D8-26D08EA608B1}"/>
              </a:ext>
            </a:extLst>
          </p:cNvPr>
          <p:cNvSpPr txBox="1"/>
          <p:nvPr/>
        </p:nvSpPr>
        <p:spPr>
          <a:xfrm>
            <a:off x="585893" y="4871618"/>
            <a:ext cx="2628414" cy="1638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2025-2026 Observations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SR3 stops flowing when                LCRA well ~ 620.25 ft.    Comal flow ~ 50 </a:t>
            </a:r>
            <a:r>
              <a:rPr kumimoji="0" lang="en-US" sz="1650" b="0" i="0" u="none" strike="noStrike" kern="1200" cap="none" spc="0" normalizeH="0" baseline="0" noProof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  <a:endParaRPr kumimoji="0" lang="en-US" sz="1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21E582-D235-7692-54D4-06953D739B2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4031" y="1463040"/>
            <a:ext cx="3567889" cy="42885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A94749-30BE-F86F-744A-B558B5B56310}"/>
              </a:ext>
            </a:extLst>
          </p:cNvPr>
          <p:cNvSpPr txBox="1"/>
          <p:nvPr/>
        </p:nvSpPr>
        <p:spPr>
          <a:xfrm>
            <a:off x="4095750" y="2548647"/>
            <a:ext cx="2417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Add one more sr3</a:t>
            </a:r>
          </a:p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74D30B-3CB5-557A-E916-B116019EB9F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89795" y="2048937"/>
            <a:ext cx="4066157" cy="3050594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5022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93C9D-B2E6-97B4-C4E8-098C6F10F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5865617D-F858-C5E0-EA67-77BE3C07EEEC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A8D6C2-C1E2-13C0-1FE4-345573C63B8B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1C59DDC-D250-3D3E-EEE4-BF50D898E491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5063A2-83DA-E1A1-01F0-553E7DECF3B8}"/>
              </a:ext>
            </a:extLst>
          </p:cNvPr>
          <p:cNvSpPr/>
          <p:nvPr/>
        </p:nvSpPr>
        <p:spPr>
          <a:xfrm>
            <a:off x="678180" y="128016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F08684DC-DF68-F469-5E15-8039E53F92D7}"/>
              </a:ext>
            </a:extLst>
          </p:cNvPr>
          <p:cNvSpPr/>
          <p:nvPr/>
        </p:nvSpPr>
        <p:spPr>
          <a:xfrm>
            <a:off x="2532887" y="6239977"/>
            <a:ext cx="72847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EC70CF-3939-68FF-752C-FFA67C69562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80" y="590200"/>
            <a:ext cx="10910545" cy="608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22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7005-EC8A-BA28-7DAD-8406530E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2DAFEFD5-BEA3-415F-E7C4-DC7F114D35D2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696ACF7-0C8F-5E03-459A-EB7620358FB9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D7B9BC8-E50E-1119-456F-CCE24059A3A0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69D02D4-8C3F-628D-9000-6F382FBEB579}"/>
              </a:ext>
            </a:extLst>
          </p:cNvPr>
          <p:cNvSpPr/>
          <p:nvPr/>
        </p:nvSpPr>
        <p:spPr>
          <a:xfrm>
            <a:off x="667893" y="142758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5AB39179-1989-9214-6E95-A75B82FBA698}"/>
              </a:ext>
            </a:extLst>
          </p:cNvPr>
          <p:cNvSpPr/>
          <p:nvPr/>
        </p:nvSpPr>
        <p:spPr>
          <a:xfrm>
            <a:off x="3962400" y="6071616"/>
            <a:ext cx="728472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D5AE1E5-6EB8-F2F2-D511-641B498771AC}"/>
              </a:ext>
            </a:extLst>
          </p:cNvPr>
          <p:cNvSpPr/>
          <p:nvPr/>
        </p:nvSpPr>
        <p:spPr>
          <a:xfrm>
            <a:off x="4095750" y="6190488"/>
            <a:ext cx="70050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Picture on left is Spring Run 3 facing downstream from walking bridge on May 21, 2025 (Total Comal discharge 49 </a:t>
            </a:r>
            <a:r>
              <a:rPr kumimoji="0" lang="en-US" sz="1200" b="1" i="0" u="none" strike="noStrike" kern="1200" cap="none" spc="0" normalizeH="0" baseline="30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).  Picture on the right is WQ monitoring equipment attached to </a:t>
            </a:r>
            <a:r>
              <a:rPr kumimoji="0" lang="en-US" sz="1200" b="1" i="0" u="none" strike="noStrike" kern="1200" cap="none" spc="0" normalizeH="0" baseline="30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sam</a:t>
            </a: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 walking bridge on April 1, 2026 (Total Comal discharge 53 </a:t>
            </a:r>
            <a:r>
              <a:rPr kumimoji="0" lang="en-US" sz="1200" b="1" i="0" u="none" strike="noStrike" kern="1200" cap="none" spc="0" normalizeH="0" baseline="3000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200" b="1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).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B2E33F-E1DC-E0E8-5A25-38E439BEAFC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7893" y="624347"/>
            <a:ext cx="10914600" cy="609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41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80F4-92D1-96AC-A6E0-39CE3F608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F57E6E-05BE-3E04-9430-CC78100F0E5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636CA2-15CD-5535-ED33-4460AF95AFCE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D3574C9-3067-DA4F-97B5-540BEB0D3544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0F4BC3D-EB03-D1EC-F2A3-0FA6C59926D7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827BFD-59D7-864D-4C23-136C75A7A7F6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22BAA9-A24C-F182-7156-70B16FDEB795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81799742-323B-5FBC-61DC-1E83144DD830}"/>
              </a:ext>
            </a:extLst>
          </p:cNvPr>
          <p:cNvSpPr/>
          <p:nvPr/>
        </p:nvSpPr>
        <p:spPr>
          <a:xfrm>
            <a:off x="2218986" y="6394964"/>
            <a:ext cx="7918315" cy="259357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05ECB45-6F0A-DB51-9F2A-0F15D7C039AC}"/>
              </a:ext>
            </a:extLst>
          </p:cNvPr>
          <p:cNvSpPr/>
          <p:nvPr/>
        </p:nvSpPr>
        <p:spPr>
          <a:xfrm>
            <a:off x="2365290" y="6484652"/>
            <a:ext cx="7361423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Spring Island looking upstream. May, 21, 2025, total Comal discharge ~ 50 </a:t>
            </a:r>
            <a:r>
              <a:rPr kumimoji="0" lang="en-US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0351D1F-5E3E-8B9F-9385-A08409BF2B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18985" y="914400"/>
            <a:ext cx="7918316" cy="54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22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3D18-5ABF-EB6F-CF0E-0829B7EC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ED1FCB-6725-E841-FE8B-CE7870AF7DD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C4A4AC-9CCC-72C7-B4B4-43C6967CC6BD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9558EEF-03CC-269F-CB15-A3CBDD105400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5DB6354-C13A-73B6-C8EC-6CE1AA4A796D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A0D8F1-2568-CBDD-52B7-8C974AAAAB3A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50E4B02-3F62-642C-32B6-2E849BC6D3CC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7DCD68D5-88D2-EF81-26A8-7B1AB3946819}"/>
              </a:ext>
            </a:extLst>
          </p:cNvPr>
          <p:cNvSpPr/>
          <p:nvPr/>
        </p:nvSpPr>
        <p:spPr>
          <a:xfrm>
            <a:off x="2218986" y="6394964"/>
            <a:ext cx="7918315" cy="259357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3E3F2C1-8422-130E-9D3C-13E05E2E2CED}"/>
              </a:ext>
            </a:extLst>
          </p:cNvPr>
          <p:cNvSpPr/>
          <p:nvPr/>
        </p:nvSpPr>
        <p:spPr>
          <a:xfrm>
            <a:off x="2365290" y="6484652"/>
            <a:ext cx="7361423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Spring Island looking downstream. May, 21, 2025, total Comal discharge ~ 50 </a:t>
            </a:r>
            <a:r>
              <a:rPr kumimoji="0" lang="en-US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C0EE71-918F-6202-8FD8-14D6D394E10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18985" y="884874"/>
            <a:ext cx="7918316" cy="556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16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01978-3B14-8571-4970-20BFCB84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2293B6-AF45-B3A7-305C-1F7AE947762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6DDD78A-8436-8AE7-2CF0-3CD6C83559C1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5908B86-266C-82FA-4EE2-5B5B58E367C0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C66CA4-6FE2-AC72-231C-F8F7AE6F3205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A456D5-2626-966F-52EE-08709308862F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F24BC2-7378-5B1F-6D4E-C5A974A3ADEA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444992-DFF2-025A-FBCF-5523B3493C0B}"/>
              </a:ext>
            </a:extLst>
          </p:cNvPr>
          <p:cNvSpPr/>
          <p:nvPr/>
        </p:nvSpPr>
        <p:spPr>
          <a:xfrm>
            <a:off x="10083103" y="55456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LANDA LAKE HYDROLOGY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2E8292DB-057A-EDFC-CDA8-7EA5942BF342}"/>
              </a:ext>
            </a:extLst>
          </p:cNvPr>
          <p:cNvSpPr/>
          <p:nvPr/>
        </p:nvSpPr>
        <p:spPr>
          <a:xfrm>
            <a:off x="801624" y="6427661"/>
            <a:ext cx="10588752" cy="262890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20B16C7-01D9-394E-010C-AD6D6392781D}"/>
              </a:ext>
            </a:extLst>
          </p:cNvPr>
          <p:cNvSpPr/>
          <p:nvPr/>
        </p:nvSpPr>
        <p:spPr>
          <a:xfrm>
            <a:off x="932688" y="6707696"/>
            <a:ext cx="10457688" cy="31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Surface discharge is measured at four spring runs and four lake cross sections to estimate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springflow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contributions from different areas of the lake.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B0603E-F059-E171-D9F2-05B57DBA576E}"/>
              </a:ext>
            </a:extLst>
          </p:cNvPr>
          <p:cNvSpPr txBox="1"/>
          <p:nvPr/>
        </p:nvSpPr>
        <p:spPr>
          <a:xfrm>
            <a:off x="4097845" y="2340078"/>
            <a:ext cx="4619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Make a graph of spring orifices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8BE42D-7349-19E3-8951-3500DE6BDC1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52052" y="915752"/>
            <a:ext cx="5123668" cy="54570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086D04-4AA1-FF8C-66D5-EB0DD54BAA3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759" y="915753"/>
            <a:ext cx="5623293" cy="545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84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476C3-EE6C-4439-5E72-5CF1B0BE8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3F3979-3A58-01D6-E865-E5B67C4BCF0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6F8172-1EBF-8DB8-7CB9-94CA7D5289E1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C17A246-D56C-DAB2-F6EE-C3D8DF60C229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991AE3-4935-F3F5-6A5E-E880353D88DB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3E014E-C00A-E7C4-F32E-A3CB1C7C0035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lang="en-US" sz="2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AED31C-A629-FEB9-7C23-3383A364C2BE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7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7D24A80-F6F8-B1BB-9A71-64E8692BF62A}"/>
              </a:ext>
            </a:extLst>
          </p:cNvPr>
          <p:cNvSpPr/>
          <p:nvPr/>
        </p:nvSpPr>
        <p:spPr>
          <a:xfrm>
            <a:off x="502920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3240"/>
                </a:solidFill>
              </a:rPr>
              <a:t>LANDA LAKE HYDROLOGY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A0E10F0-A4E5-93B1-D645-1E617D0FAAEB}"/>
              </a:ext>
            </a:extLst>
          </p:cNvPr>
          <p:cNvSpPr/>
          <p:nvPr/>
        </p:nvSpPr>
        <p:spPr>
          <a:xfrm>
            <a:off x="502920" y="2286000"/>
            <a:ext cx="2240280" cy="281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43036"/>
                </a:solidFill>
              </a:rPr>
              <a:t>Surface discharge is measured at four spring runs and four lake cross sections.</a:t>
            </a:r>
          </a:p>
          <a:p>
            <a:pPr marL="0" indent="0">
              <a:buNone/>
            </a:pPr>
            <a:endParaRPr lang="en-US" sz="1650" dirty="0">
              <a:solidFill>
                <a:srgbClr val="243036"/>
              </a:solidFill>
            </a:endParaRPr>
          </a:p>
          <a:p>
            <a:pPr marL="0" indent="0">
              <a:buNone/>
            </a:pPr>
            <a:r>
              <a:rPr lang="en-US" sz="1650" dirty="0">
                <a:solidFill>
                  <a:srgbClr val="243036"/>
                </a:solidFill>
              </a:rPr>
              <a:t>Allows estimates of </a:t>
            </a:r>
            <a:r>
              <a:rPr lang="en-US" sz="1650" dirty="0" err="1">
                <a:solidFill>
                  <a:srgbClr val="243036"/>
                </a:solidFill>
              </a:rPr>
              <a:t>springflow</a:t>
            </a:r>
            <a:r>
              <a:rPr lang="en-US" sz="1650" dirty="0">
                <a:solidFill>
                  <a:srgbClr val="243036"/>
                </a:solidFill>
              </a:rPr>
              <a:t> contributions from different areas of the lake.</a:t>
            </a:r>
          </a:p>
          <a:p>
            <a:pPr marL="0" indent="0">
              <a:buNone/>
            </a:pPr>
            <a:endParaRPr lang="en-US" sz="1650" dirty="0">
              <a:solidFill>
                <a:srgbClr val="243036"/>
              </a:solidFill>
            </a:endParaRPr>
          </a:p>
          <a:p>
            <a:pPr marL="0" indent="0">
              <a:buNone/>
            </a:pPr>
            <a:endParaRPr lang="en-US" sz="1650" dirty="0">
              <a:solidFill>
                <a:srgbClr val="243036"/>
              </a:solidFill>
            </a:endParaRPr>
          </a:p>
          <a:p>
            <a:pPr marL="0" indent="0">
              <a:buNone/>
            </a:pPr>
            <a:endParaRPr lang="en-US" sz="16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5AACCF-469B-EAE2-A8AA-251A01AD714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2916" y="1152151"/>
            <a:ext cx="8506968" cy="511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44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F261-F9D6-0C9C-7AA1-289D75C33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3B9E12-856A-700E-FD0A-2AB063A54ED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6D1686-453B-988B-56B4-4DE8D7C8F035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87DA75-3557-65EE-F6CB-ADF271B1DC04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28F741D-24D5-B3A7-FBC7-AAD8A21650AF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60DF58C-4BF6-BA61-9EBC-51B874243EC6}"/>
              </a:ext>
            </a:extLst>
          </p:cNvPr>
          <p:cNvSpPr/>
          <p:nvPr/>
        </p:nvSpPr>
        <p:spPr>
          <a:xfrm>
            <a:off x="640080" y="126814"/>
            <a:ext cx="8686800" cy="37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Under Drought Conditions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5CF086-A89E-5142-D41B-74427C721C1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655" y="504825"/>
            <a:ext cx="11008995" cy="614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59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34ED4-B19C-869A-F0E6-45C19C67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DD0B9A-5E7A-6D5A-11EC-101592CB5D6F}"/>
              </a:ext>
            </a:extLst>
          </p:cNvPr>
          <p:cNvSpPr/>
          <p:nvPr/>
        </p:nvSpPr>
        <p:spPr>
          <a:xfrm>
            <a:off x="305" y="128016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E8A55B-EF05-129F-F37D-4AFBD8188DFA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874463-6530-8B64-3093-6B2430CAB4E3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C463284-A944-6BFB-E18D-4A21D91304E9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7AB688-EAB2-13C7-BE30-784C9EB46BE4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Flow Split Management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A7C8B7-76A3-AF14-2DC5-9E6CCF94A32F}"/>
              </a:ext>
            </a:extLst>
          </p:cNvPr>
          <p:cNvSpPr/>
          <p:nvPr/>
        </p:nvSpPr>
        <p:spPr>
          <a:xfrm>
            <a:off x="640080" y="89611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4BC5262-6844-0609-85A3-8561DD9B2E7E}"/>
              </a:ext>
            </a:extLst>
          </p:cNvPr>
          <p:cNvSpPr/>
          <p:nvPr/>
        </p:nvSpPr>
        <p:spPr>
          <a:xfrm>
            <a:off x="502920" y="5843016"/>
            <a:ext cx="6997106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6F79B5C-BFF8-F77F-7F03-0F2B43EAD741}"/>
              </a:ext>
            </a:extLst>
          </p:cNvPr>
          <p:cNvSpPr/>
          <p:nvPr/>
        </p:nvSpPr>
        <p:spPr>
          <a:xfrm>
            <a:off x="7818119" y="1444752"/>
            <a:ext cx="26780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FLOW SPLIT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CBC6E98-E85B-3B81-1396-447C4E179C7A}"/>
              </a:ext>
            </a:extLst>
          </p:cNvPr>
          <p:cNvSpPr/>
          <p:nvPr/>
        </p:nvSpPr>
        <p:spPr>
          <a:xfrm>
            <a:off x="7818120" y="1847088"/>
            <a:ext cx="256032" cy="256032"/>
          </a:xfrm>
          <a:prstGeom prst="rect">
            <a:avLst/>
          </a:prstGeom>
          <a:solidFill>
            <a:srgbClr val="1E6F73"/>
          </a:solidFill>
          <a:ln>
            <a:solidFill>
              <a:srgbClr val="1E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8BA0FE7-A738-22E9-946B-DD642A554247}"/>
              </a:ext>
            </a:extLst>
          </p:cNvPr>
          <p:cNvSpPr/>
          <p:nvPr/>
        </p:nvSpPr>
        <p:spPr>
          <a:xfrm>
            <a:off x="8211312" y="18379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EAHCP § 5.2.1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5C5677C-0082-A24A-A7F8-CB8D5904C336}"/>
              </a:ext>
            </a:extLst>
          </p:cNvPr>
          <p:cNvSpPr/>
          <p:nvPr/>
        </p:nvSpPr>
        <p:spPr>
          <a:xfrm>
            <a:off x="8211312" y="2147472"/>
            <a:ext cx="3474720" cy="234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Flow split management in the Old and New Channel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B473F10-F07C-7E54-A995-B3DCEC09BEF6}"/>
              </a:ext>
            </a:extLst>
          </p:cNvPr>
          <p:cNvSpPr/>
          <p:nvPr/>
        </p:nvSpPr>
        <p:spPr>
          <a:xfrm>
            <a:off x="7818120" y="2889504"/>
            <a:ext cx="256032" cy="256032"/>
          </a:xfrm>
          <a:prstGeom prst="rect">
            <a:avLst/>
          </a:prstGeom>
          <a:solidFill>
            <a:srgbClr val="4F7D4F"/>
          </a:solidFill>
          <a:ln>
            <a:solidFill>
              <a:srgbClr val="4F7D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5E2BF07-94F7-83EB-C5C4-6EE9D09C9A11}"/>
              </a:ext>
            </a:extLst>
          </p:cNvPr>
          <p:cNvSpPr/>
          <p:nvPr/>
        </p:nvSpPr>
        <p:spPr>
          <a:xfrm>
            <a:off x="8211312" y="28803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Old Channel Protection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9F491B2-E6B7-C904-5479-E3D187BC7F4C}"/>
              </a:ext>
            </a:extLst>
          </p:cNvPr>
          <p:cNvSpPr/>
          <p:nvPr/>
        </p:nvSpPr>
        <p:spPr>
          <a:xfrm>
            <a:off x="8211312" y="3221608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Flow split management is intended to complement the ecological restoration of aquatic vegetation in the Old Channel, by reducing long-duration high flows and allowing for more seasonal variability to be maintained, mimicking a more natural flow pattern.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74FE3C0-B49A-2A80-04D6-8C862474C569}"/>
              </a:ext>
            </a:extLst>
          </p:cNvPr>
          <p:cNvSpPr/>
          <p:nvPr/>
        </p:nvSpPr>
        <p:spPr>
          <a:xfrm>
            <a:off x="7818120" y="4194572"/>
            <a:ext cx="256032" cy="256032"/>
          </a:xfrm>
          <a:prstGeom prst="rect">
            <a:avLst/>
          </a:prstGeom>
          <a:solidFill>
            <a:srgbClr val="B86156"/>
          </a:solidFill>
          <a:ln>
            <a:solidFill>
              <a:srgbClr val="B8615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924B80F-92E0-8E58-F26C-2F918C4D4869}"/>
              </a:ext>
            </a:extLst>
          </p:cNvPr>
          <p:cNvSpPr/>
          <p:nvPr/>
        </p:nvSpPr>
        <p:spPr>
          <a:xfrm>
            <a:off x="8211312" y="418542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Culvert Management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5AAB710-2E54-916A-1ED3-A96B9A867F88}"/>
              </a:ext>
            </a:extLst>
          </p:cNvPr>
          <p:cNvSpPr/>
          <p:nvPr/>
        </p:nvSpPr>
        <p:spPr>
          <a:xfrm>
            <a:off x="8211312" y="44780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Flow manipulations are managed </a:t>
            </a:r>
            <a:r>
              <a:rPr lang="en-US" sz="1050">
                <a:solidFill>
                  <a:srgbClr val="243036"/>
                </a:solidFill>
                <a:latin typeface="Aptos"/>
              </a:rPr>
              <a:t>by City of New Braunfels according to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season and total system discharge. 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54C01E3-BBCA-6729-E728-575DA72A0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460365"/>
            <a:ext cx="7304852" cy="3639019"/>
          </a:xfrm>
          <a:prstGeom prst="rect">
            <a:avLst/>
          </a:prstGeom>
        </p:spPr>
      </p:pic>
      <p:sp>
        <p:nvSpPr>
          <p:cNvPr id="27" name="Shape 16">
            <a:extLst>
              <a:ext uri="{FF2B5EF4-FFF2-40B4-BE49-F238E27FC236}">
                <a16:creationId xmlns:a16="http://schemas.microsoft.com/office/drawing/2014/main" id="{ECF2EA35-5D32-576B-F767-0AFE52C6CA77}"/>
              </a:ext>
            </a:extLst>
          </p:cNvPr>
          <p:cNvSpPr/>
          <p:nvPr/>
        </p:nvSpPr>
        <p:spPr>
          <a:xfrm>
            <a:off x="502920" y="5178179"/>
            <a:ext cx="6997106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6525D7-3B82-1148-C247-ECBAF1426635}"/>
              </a:ext>
            </a:extLst>
          </p:cNvPr>
          <p:cNvSpPr txBox="1"/>
          <p:nvPr/>
        </p:nvSpPr>
        <p:spPr>
          <a:xfrm>
            <a:off x="640080" y="5262664"/>
            <a:ext cx="66556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Table 5-3 EAHCP Flow split management for Old and </a:t>
            </a:r>
            <a:r>
              <a:rPr lang="en-US" sz="1100" b="1"/>
              <a:t>New Channels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643088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BC122-A12D-FBD3-1BE5-DE713F63D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41FBF7-E698-FC36-854B-0086614DC83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DB838D-F607-B4C0-D2B9-3E90AAC52207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0EA62D-421F-3075-2D09-29FBE5DE41F9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D6E544-9025-C302-220C-DCB332A386A8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A4842A-0791-00EB-9B64-CD8A7AC1CF26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Flow Split</a:t>
            </a:r>
            <a:endParaRPr lang="en-US" sz="2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56295D-02A1-E526-B8E9-79ECB60406C3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7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839828D-8D5C-F480-E9E2-45300ABAAE59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DA9A809-A510-7682-D756-F1760DC6ADB8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FLOW SPLIT</a:t>
            </a:r>
            <a:endParaRPr lang="en-US"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9DA4B83-F5F2-18D3-C5FF-4A57DD118649}"/>
              </a:ext>
            </a:extLst>
          </p:cNvPr>
          <p:cNvSpPr/>
          <p:nvPr/>
        </p:nvSpPr>
        <p:spPr>
          <a:xfrm>
            <a:off x="640080" y="1929384"/>
            <a:ext cx="2399157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300"/>
              <a:t>Priority will be given to achieving target flow rates in the Old Channel and, secondly, to flow rates in the New Channel. </a:t>
            </a:r>
          </a:p>
          <a:p>
            <a:endParaRPr lang="en-US" sz="1300"/>
          </a:p>
          <a:p>
            <a:r>
              <a:rPr lang="en-US" sz="1300"/>
              <a:t>City of New Braunfels staff will monitor streamflow conditions via USGS streamflow gages and operate the flow-control gates between Landa Lake and the Old Channel to achieve flow targets.</a:t>
            </a:r>
          </a:p>
          <a:p>
            <a:r>
              <a:rPr lang="en-US" sz="1300"/>
              <a:t> </a:t>
            </a:r>
          </a:p>
          <a:p>
            <a:r>
              <a:rPr lang="en-US" sz="1300"/>
              <a:t>Maintenance activities associated with the flow-control gates will be conducted as needed to ensure continued operability.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528F6D0-00C9-D639-0973-0873A26FEC3A}"/>
              </a:ext>
            </a:extLst>
          </p:cNvPr>
          <p:cNvSpPr/>
          <p:nvPr/>
        </p:nvSpPr>
        <p:spPr>
          <a:xfrm>
            <a:off x="3735308" y="5833874"/>
            <a:ext cx="7895860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677025A-7BB2-3810-EB7F-1607DEB8941D}"/>
              </a:ext>
            </a:extLst>
          </p:cNvPr>
          <p:cNvSpPr/>
          <p:nvPr/>
        </p:nvSpPr>
        <p:spPr>
          <a:xfrm>
            <a:off x="3881611" y="5952746"/>
            <a:ext cx="73405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3B5B45"/>
                </a:solidFill>
              </a:rPr>
              <a:t>Comal River discharge at USGS 08169000, New Channel of Comal River 08168932, and Old Channel of Comal River 08168913, 2018.</a:t>
            </a:r>
            <a:endParaRPr lang="en-US" sz="9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A7F138B-091D-4BE4-9839-0EAE97D9DF7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5308" y="1060699"/>
            <a:ext cx="7900432" cy="474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28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2C6A3-CE68-C5EF-FD29-190E9E349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740EAD-8964-60E1-B24D-E4043F7A3EB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96C9EA8-C6EF-E8A5-A227-44B5BEAC0298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237AE45-CB6C-4E6B-864B-F83867AE9F6E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929A2A-9F3E-166B-F490-C245F70D4137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0C547A-19FC-6444-C3EB-C06051471CCE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Flow Split</a:t>
            </a:r>
            <a:endParaRPr lang="en-US" sz="2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B654D0E-F8AF-F051-1DC2-A6DFDC5B2AF4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7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ECBD885-0DCE-4B80-B4A5-C8E6CFF40511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D5B8CA-B5BB-512D-DE3F-019307D38587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FLOW SPLIT</a:t>
            </a:r>
            <a:endParaRPr lang="en-US"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43F7342-11CC-0BC4-9FD1-5C9346B735EC}"/>
              </a:ext>
            </a:extLst>
          </p:cNvPr>
          <p:cNvSpPr/>
          <p:nvPr/>
        </p:nvSpPr>
        <p:spPr>
          <a:xfrm>
            <a:off x="640080" y="1929384"/>
            <a:ext cx="2399157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300"/>
              <a:t>Priority will be given to achieving target flow rates in the Old Channel and, secondly, to flow rates in the New Channel. </a:t>
            </a:r>
          </a:p>
          <a:p>
            <a:endParaRPr lang="en-US" sz="1300"/>
          </a:p>
          <a:p>
            <a:r>
              <a:rPr lang="en-US" sz="1300"/>
              <a:t>City of New Braunfels staff will monitor streamflow conditions via USGS streamflow gages and operate the flow-control gates between Landa Lake and the Old Channel to achieve flow targets.</a:t>
            </a:r>
          </a:p>
          <a:p>
            <a:r>
              <a:rPr lang="en-US" sz="1300"/>
              <a:t> </a:t>
            </a:r>
          </a:p>
          <a:p>
            <a:r>
              <a:rPr lang="en-US" sz="1300"/>
              <a:t>Maintenance activities associated with the flow-control gates will be conducted as needed to ensure continued operability.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D270370-2D59-D305-57E3-EBFB1D043385}"/>
              </a:ext>
            </a:extLst>
          </p:cNvPr>
          <p:cNvSpPr/>
          <p:nvPr/>
        </p:nvSpPr>
        <p:spPr>
          <a:xfrm>
            <a:off x="3735308" y="5797296"/>
            <a:ext cx="7740412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24108C3-41A0-BEA7-39C1-E4FC808EB0A2}"/>
              </a:ext>
            </a:extLst>
          </p:cNvPr>
          <p:cNvSpPr/>
          <p:nvPr/>
        </p:nvSpPr>
        <p:spPr>
          <a:xfrm>
            <a:off x="3857625" y="5916168"/>
            <a:ext cx="7439025" cy="27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50" b="1" dirty="0">
                <a:solidFill>
                  <a:srgbClr val="3B5B45"/>
                </a:solidFill>
              </a:rPr>
              <a:t>Comal River discharge at USGS 08169000, New Channel of Comal River 08168932, and Old Channel of Comal River 08168913, 2025-2026.</a:t>
            </a:r>
            <a:endParaRPr lang="en-US" sz="9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18331F-DB79-0A74-6B07-7A5DCAB3564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5308" y="1150966"/>
            <a:ext cx="7900432" cy="474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60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6FF5D-ABD4-0AEE-9935-7BF3A825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88800E-8EA2-1208-C190-C49C2BC4215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4556DE-932B-AE02-3090-0B2C718DD7A9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EDB163-1D87-CD6D-63BF-9DB0120B1BB0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02BCE6-6432-2F74-8F9A-16F1E3F1FA2A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BFAA73-5F29-E8D2-0778-662E839BF863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Flow Split</a:t>
            </a:r>
            <a:endParaRPr lang="en-US" sz="29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80302FF-A3EF-5CD6-09C3-512AACF64EEB}"/>
              </a:ext>
            </a:extLst>
          </p:cNvPr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65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CFC6406-D413-E71B-095D-FFD51C7E20F1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23240"/>
                </a:solidFill>
              </a:rPr>
              <a:t>FLOW SPLIT</a:t>
            </a:r>
            <a:endParaRPr lang="en-US" sz="9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2374C13-B236-9E0E-E2A9-38D8E7B7505B}"/>
              </a:ext>
            </a:extLst>
          </p:cNvPr>
          <p:cNvSpPr/>
          <p:nvPr/>
        </p:nvSpPr>
        <p:spPr>
          <a:xfrm>
            <a:off x="4892040" y="5797296"/>
            <a:ext cx="6294768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2D58D00-80A7-C45F-F104-D7B8627E461A}"/>
              </a:ext>
            </a:extLst>
          </p:cNvPr>
          <p:cNvSpPr/>
          <p:nvPr/>
        </p:nvSpPr>
        <p:spPr>
          <a:xfrm>
            <a:off x="5038343" y="5916168"/>
            <a:ext cx="6001131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3B5B45"/>
                </a:solidFill>
              </a:rPr>
              <a:t>Landa Lake at the entrance to the Old Channel culvert at approximately 60 </a:t>
            </a:r>
            <a:r>
              <a:rPr lang="en-US" sz="950" b="1" dirty="0" err="1">
                <a:solidFill>
                  <a:srgbClr val="3B5B45"/>
                </a:solidFill>
              </a:rPr>
              <a:t>cfs</a:t>
            </a:r>
            <a:r>
              <a:rPr lang="en-US" sz="950" b="1" dirty="0">
                <a:solidFill>
                  <a:srgbClr val="3B5B45"/>
                </a:solidFill>
              </a:rPr>
              <a:t>.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3562F2-7204-D21A-D53A-6EB23D60C13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92039" y="1078991"/>
            <a:ext cx="6294769" cy="4663867"/>
          </a:xfrm>
          <a:prstGeom prst="rect">
            <a:avLst/>
          </a:prstGeom>
        </p:spPr>
      </p:pic>
      <p:sp>
        <p:nvSpPr>
          <p:cNvPr id="24" name="Text 9">
            <a:extLst>
              <a:ext uri="{FF2B5EF4-FFF2-40B4-BE49-F238E27FC236}">
                <a16:creationId xmlns:a16="http://schemas.microsoft.com/office/drawing/2014/main" id="{6710D9A2-96F8-DB9F-C59A-EBD7BFAD90C8}"/>
              </a:ext>
            </a:extLst>
          </p:cNvPr>
          <p:cNvSpPr/>
          <p:nvPr/>
        </p:nvSpPr>
        <p:spPr>
          <a:xfrm>
            <a:off x="640080" y="1929384"/>
            <a:ext cx="2399157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300"/>
              <a:t>Priority will be given to achieving target flow rates in the Old Channel and, secondly, to flow rates in the New Channel. </a:t>
            </a:r>
          </a:p>
          <a:p>
            <a:endParaRPr lang="en-US" sz="1300"/>
          </a:p>
          <a:p>
            <a:r>
              <a:rPr lang="en-US" sz="1300"/>
              <a:t>City of New Braunfels staff will monitor streamflow conditions via USGS streamflow gages and operate the flow-control gates between Landa Lake and the Old Channel to achieve flow targets.</a:t>
            </a:r>
          </a:p>
          <a:p>
            <a:r>
              <a:rPr lang="en-US" sz="1300"/>
              <a:t> </a:t>
            </a:r>
          </a:p>
          <a:p>
            <a:r>
              <a:rPr lang="en-US" sz="1300"/>
              <a:t>Maintenance activities associated with the flow-control gates will be conducted as needed to ensure continued operability.</a:t>
            </a:r>
          </a:p>
        </p:txBody>
      </p:sp>
    </p:spTree>
    <p:extLst>
      <p:ext uri="{BB962C8B-B14F-4D97-AF65-F5344CB8AC3E}">
        <p14:creationId xmlns:p14="http://schemas.microsoft.com/office/powerpoint/2010/main" val="1953992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75928-826F-BDFE-29BF-7BB61932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DAF4A1-927B-EE2A-72CA-DAD1B3F0FDB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5C8F78-28CA-89E6-51B7-A294C420EC2B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BFD93C0-1EF7-9518-DF2C-D4614AE96146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2B1E799-A126-B191-4CC9-D97AFC226CA3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659A864-A034-D2CE-0991-AB772D948999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Vegetation Management</a:t>
            </a:r>
            <a:endParaRPr kumimoji="0" lang="en-US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1B6DE84-2E28-4482-0685-18EEC60A6114}"/>
              </a:ext>
            </a:extLst>
          </p:cNvPr>
          <p:cNvSpPr/>
          <p:nvPr/>
        </p:nvSpPr>
        <p:spPr>
          <a:xfrm>
            <a:off x="502920" y="6483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LAKE CONTEXT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4246172-F704-B695-3E30-BD2D17A0E611}"/>
              </a:ext>
            </a:extLst>
          </p:cNvPr>
          <p:cNvSpPr/>
          <p:nvPr/>
        </p:nvSpPr>
        <p:spPr>
          <a:xfrm>
            <a:off x="658368" y="1417320"/>
            <a:ext cx="6720840" cy="4224528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F781C56-2954-D4A8-0678-F51BF0176C02}"/>
              </a:ext>
            </a:extLst>
          </p:cNvPr>
          <p:cNvSpPr/>
          <p:nvPr/>
        </p:nvSpPr>
        <p:spPr>
          <a:xfrm>
            <a:off x="859536" y="1618488"/>
            <a:ext cx="631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MAP / PHOTO / SITE FIGURE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B6BE22C-A6F5-EB65-78F4-C45A29E42D75}"/>
              </a:ext>
            </a:extLst>
          </p:cNvPr>
          <p:cNvSpPr/>
          <p:nvPr/>
        </p:nvSpPr>
        <p:spPr>
          <a:xfrm>
            <a:off x="859536" y="1947672"/>
            <a:ext cx="6318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65737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Replace with Landa Lake reach map, drone image, transect photo, or monitoring station map.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43182-757D-439D-F22D-96A262B80E0A}"/>
              </a:ext>
            </a:extLst>
          </p:cNvPr>
          <p:cNvSpPr/>
          <p:nvPr/>
        </p:nvSpPr>
        <p:spPr>
          <a:xfrm>
            <a:off x="886968" y="5257800"/>
            <a:ext cx="6263640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89420F2-FF14-6F59-5DE6-D6DFF969156E}"/>
              </a:ext>
            </a:extLst>
          </p:cNvPr>
          <p:cNvSpPr/>
          <p:nvPr/>
        </p:nvSpPr>
        <p:spPr>
          <a:xfrm>
            <a:off x="7818120" y="14447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SUBMERGED AQUATIC VEGETATION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FE51941-3405-C94F-9813-7EA5C055016C}"/>
              </a:ext>
            </a:extLst>
          </p:cNvPr>
          <p:cNvSpPr/>
          <p:nvPr/>
        </p:nvSpPr>
        <p:spPr>
          <a:xfrm>
            <a:off x="7818120" y="1847088"/>
            <a:ext cx="256032" cy="256032"/>
          </a:xfrm>
          <a:prstGeom prst="rect">
            <a:avLst/>
          </a:prstGeom>
          <a:solidFill>
            <a:srgbClr val="1E6F73"/>
          </a:solidFill>
          <a:ln>
            <a:solidFill>
              <a:srgbClr val="1E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59322FB-9037-6C7E-C3A6-A561493AA4C1}"/>
              </a:ext>
            </a:extLst>
          </p:cNvPr>
          <p:cNvSpPr/>
          <p:nvPr/>
        </p:nvSpPr>
        <p:spPr>
          <a:xfrm>
            <a:off x="8211312" y="18379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350" b="1" dirty="0">
                <a:solidFill>
                  <a:srgbClr val="123240"/>
                </a:solidFill>
              </a:rPr>
              <a:t>EAHCP § 5.2.2</a:t>
            </a:r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D606ADF-523E-C8F4-A2B7-4B08B3ADD3F2}"/>
              </a:ext>
            </a:extLst>
          </p:cNvPr>
          <p:cNvSpPr/>
          <p:nvPr/>
        </p:nvSpPr>
        <p:spPr>
          <a:xfrm>
            <a:off x="8211312" y="2130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Native Aquatic Vegetation Restoration and Maintenance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83B35AC-9519-2B22-7AF1-D0155F828FC5}"/>
              </a:ext>
            </a:extLst>
          </p:cNvPr>
          <p:cNvSpPr/>
          <p:nvPr/>
        </p:nvSpPr>
        <p:spPr>
          <a:xfrm>
            <a:off x="7818120" y="2889504"/>
            <a:ext cx="256032" cy="256032"/>
          </a:xfrm>
          <a:prstGeom prst="rect">
            <a:avLst/>
          </a:prstGeom>
          <a:solidFill>
            <a:srgbClr val="4F7D4F"/>
          </a:solidFill>
          <a:ln>
            <a:solidFill>
              <a:srgbClr val="4F7D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4E5646C-A0FA-B36D-C0FD-4EE74BCCAA50}"/>
              </a:ext>
            </a:extLst>
          </p:cNvPr>
          <p:cNvSpPr/>
          <p:nvPr/>
        </p:nvSpPr>
        <p:spPr>
          <a:xfrm>
            <a:off x="8211312" y="28803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Provide Beneficial Habitat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862159E-C68B-00CE-7488-52320D53DAC3}"/>
              </a:ext>
            </a:extLst>
          </p:cNvPr>
          <p:cNvSpPr/>
          <p:nvPr/>
        </p:nvSpPr>
        <p:spPr>
          <a:xfrm>
            <a:off x="8211312" y="3172968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 minimize and mitigate the impacts of incidental take from low-flow events by providing better habitat conditions for the ecological community.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D386F03-82C1-ED7F-AC92-03B319713204}"/>
              </a:ext>
            </a:extLst>
          </p:cNvPr>
          <p:cNvSpPr/>
          <p:nvPr/>
        </p:nvSpPr>
        <p:spPr>
          <a:xfrm>
            <a:off x="7818120" y="3931920"/>
            <a:ext cx="256032" cy="256032"/>
          </a:xfrm>
          <a:prstGeom prst="rect">
            <a:avLst/>
          </a:prstGeom>
          <a:solidFill>
            <a:srgbClr val="B86156"/>
          </a:solidFill>
          <a:ln>
            <a:solidFill>
              <a:srgbClr val="B8615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B2A014C-0407-168A-7605-95333DCE0E8F}"/>
              </a:ext>
            </a:extLst>
          </p:cNvPr>
          <p:cNvSpPr/>
          <p:nvPr/>
        </p:nvSpPr>
        <p:spPr>
          <a:xfrm>
            <a:off x="8211312" y="39227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Restoration Goals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FA482F5-4F94-9225-DB87-0E7E2B0383D8}"/>
              </a:ext>
            </a:extLst>
          </p:cNvPr>
          <p:cNvSpPr/>
          <p:nvPr/>
        </p:nvSpPr>
        <p:spPr>
          <a:xfrm>
            <a:off x="8211312" y="421538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Restoration activities occur in Long-term Biological Goal Reaches designated by the EAHCP as well as supportive Restoration Reaches which provide further habitat enhancement objectives.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C1F64D8-AC50-3DD5-F508-2470083254B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8368" y="1392510"/>
            <a:ext cx="6720840" cy="442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04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DE738-459E-FAA4-338A-DAA168A09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79BDCD-F8E5-A955-A82C-86CD5D88B01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5F9A43-D3A5-FEAF-49C0-A1B66ABF9479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90474BF-96B8-6B19-172C-F6403CC30502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C6282E-BC4A-5B59-DE4F-95FD67F1DED6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8001144-EDBC-0BFC-9264-689ACB6679AF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Vegetation Maintenance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C0BF1B-6F0C-7B9E-BA97-DB3A30C327DE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SUBMERGED AQUATIC VEGETATION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771EC15-EEDD-5E96-6895-79180F0E20B0}"/>
              </a:ext>
            </a:extLst>
          </p:cNvPr>
          <p:cNvSpPr/>
          <p:nvPr/>
        </p:nvSpPr>
        <p:spPr>
          <a:xfrm>
            <a:off x="640080" y="2093975"/>
            <a:ext cx="2487549" cy="35661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Restoration activities have been moderated by Condition M of the permit with flows &lt; 130 </a:t>
            </a:r>
            <a:r>
              <a:rPr kumimoji="0" lang="en-US" sz="16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50" dirty="0">
              <a:solidFill>
                <a:srgbClr val="243036"/>
              </a:solidFill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Currently, only </a:t>
            </a:r>
            <a:r>
              <a:rPr kumimoji="0" lang="en-US" sz="16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Ludwigia</a:t>
            </a:r>
            <a:r>
              <a:rPr lang="en-US" sz="1650" dirty="0">
                <a:solidFill>
                  <a:srgbClr val="243036"/>
                </a:solidFill>
                <a:latin typeface="Aptos"/>
              </a:rPr>
              <a:t> and </a:t>
            </a:r>
            <a:r>
              <a:rPr lang="en-US" sz="1650" dirty="0" err="1">
                <a:solidFill>
                  <a:srgbClr val="243036"/>
                </a:solidFill>
                <a:latin typeface="Aptos"/>
              </a:rPr>
              <a:t>Cabomba</a:t>
            </a:r>
            <a:r>
              <a:rPr lang="en-US" sz="1650" dirty="0">
                <a:solidFill>
                  <a:srgbClr val="243036"/>
                </a:solidFill>
                <a:latin typeface="Aptos"/>
              </a:rPr>
              <a:t> are propagated and planted.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50" dirty="0">
                <a:solidFill>
                  <a:srgbClr val="243036"/>
                </a:solidFill>
                <a:latin typeface="Aptos"/>
              </a:rPr>
              <a:t>~ 3500 plants were planted across six restoration plot areas (~ 750 m</a:t>
            </a:r>
            <a:r>
              <a:rPr lang="en-US" sz="1650" baseline="30000" dirty="0">
                <a:solidFill>
                  <a:srgbClr val="243036"/>
                </a:solidFill>
                <a:latin typeface="Aptos"/>
              </a:rPr>
              <a:t>2</a:t>
            </a:r>
            <a:r>
              <a:rPr lang="en-US" sz="1650" dirty="0">
                <a:solidFill>
                  <a:srgbClr val="243036"/>
                </a:solidFill>
                <a:latin typeface="Aptos"/>
              </a:rPr>
              <a:t>)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E3ACEBA-4DAB-32F6-8AB4-67004F2A953C}"/>
              </a:ext>
            </a:extLst>
          </p:cNvPr>
          <p:cNvSpPr/>
          <p:nvPr/>
        </p:nvSpPr>
        <p:spPr>
          <a:xfrm>
            <a:off x="3895725" y="1417320"/>
            <a:ext cx="7900035" cy="4535424"/>
          </a:xfrm>
          <a:prstGeom prst="rect">
            <a:avLst/>
          </a:prstGeom>
          <a:solidFill>
            <a:srgbClr val="FBFAF4"/>
          </a:solidFill>
          <a:ln w="12700">
            <a:solidFill>
              <a:srgbClr val="A99B80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D75A8E79-84A4-9E5C-B049-DE5C32F2388B}"/>
              </a:ext>
            </a:extLst>
          </p:cNvPr>
          <p:cNvSpPr/>
          <p:nvPr/>
        </p:nvSpPr>
        <p:spPr>
          <a:xfrm>
            <a:off x="3895725" y="6071616"/>
            <a:ext cx="7351395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B97D37B-8DB4-63FB-73F6-5DCFB2066FF7}"/>
              </a:ext>
            </a:extLst>
          </p:cNvPr>
          <p:cNvSpPr/>
          <p:nvPr/>
        </p:nvSpPr>
        <p:spPr>
          <a:xfrm>
            <a:off x="4152900" y="6190488"/>
            <a:ext cx="69479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SAV in the Landa Lake LTBG reach from 2022-2025, long-term averages and Biological Goal for reach shown.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4BB2EF-8DD6-6372-E0F2-8C706964AC31}"/>
              </a:ext>
            </a:extLst>
          </p:cNvPr>
          <p:cNvSpPr txBox="1"/>
          <p:nvPr/>
        </p:nvSpPr>
        <p:spPr>
          <a:xfrm>
            <a:off x="5219700" y="2093975"/>
            <a:ext cx="4619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Perhaps a few pictures here, visual tour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6D414B9-6F21-773F-193B-7DAAA5F7C43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5725" y="1261862"/>
            <a:ext cx="7900432" cy="474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40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12028-7430-BFDC-EEB9-A60B2695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E3F1FC-286D-502D-4530-E39B8137D0A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49B20C-C3FF-9239-7042-67821DAD4B44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1C87A6-29B1-2DBB-10AF-5A6BC7BB4B85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26EFAA-EEA7-5749-989A-C985ABAFEC8A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FF71E4-8C3C-E0C0-B13B-CC19AF0164EA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Vegetation Maintenance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CC4F979-811F-3FD4-48E0-15791C236F96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SUBMERGED AQUATIC VEGETATION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F17DFB2-52BC-8FFB-D8BE-979DDC29E2D7}"/>
              </a:ext>
            </a:extLst>
          </p:cNvPr>
          <p:cNvSpPr/>
          <p:nvPr/>
        </p:nvSpPr>
        <p:spPr>
          <a:xfrm>
            <a:off x="640080" y="2093975"/>
            <a:ext cx="2487549" cy="35661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Restoration activities have been moderated by Condition M of the permit with flows &lt; 130 </a:t>
            </a:r>
            <a:r>
              <a:rPr kumimoji="0" lang="en-US" sz="16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cfs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50" dirty="0">
              <a:solidFill>
                <a:srgbClr val="243036"/>
              </a:solidFill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Currently, only </a:t>
            </a:r>
            <a:r>
              <a:rPr kumimoji="0" lang="en-US" sz="16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Ludwigia</a:t>
            </a:r>
            <a:r>
              <a:rPr lang="en-US" sz="1650" dirty="0">
                <a:solidFill>
                  <a:srgbClr val="243036"/>
                </a:solidFill>
                <a:latin typeface="Aptos"/>
              </a:rPr>
              <a:t> and </a:t>
            </a:r>
            <a:r>
              <a:rPr lang="en-US" sz="1650" dirty="0" err="1">
                <a:solidFill>
                  <a:srgbClr val="243036"/>
                </a:solidFill>
                <a:latin typeface="Aptos"/>
              </a:rPr>
              <a:t>Cabomba</a:t>
            </a:r>
            <a:r>
              <a:rPr lang="en-US" sz="1650" dirty="0">
                <a:solidFill>
                  <a:srgbClr val="243036"/>
                </a:solidFill>
                <a:latin typeface="Aptos"/>
              </a:rPr>
              <a:t> are propagated and planted.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50" dirty="0">
                <a:solidFill>
                  <a:srgbClr val="243036"/>
                </a:solidFill>
                <a:latin typeface="Aptos"/>
              </a:rPr>
              <a:t>~ 3500 plants were planted across six restoration plot areas (~ 750 m</a:t>
            </a:r>
            <a:r>
              <a:rPr lang="en-US" sz="1650" baseline="30000" dirty="0">
                <a:solidFill>
                  <a:srgbClr val="243036"/>
                </a:solidFill>
                <a:latin typeface="Aptos"/>
              </a:rPr>
              <a:t>2</a:t>
            </a:r>
            <a:r>
              <a:rPr lang="en-US" sz="1650" dirty="0">
                <a:solidFill>
                  <a:srgbClr val="243036"/>
                </a:solidFill>
                <a:latin typeface="Aptos"/>
              </a:rPr>
              <a:t>)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580AAF6C-84A0-8444-C520-5F73BC760BD2}"/>
              </a:ext>
            </a:extLst>
          </p:cNvPr>
          <p:cNvSpPr/>
          <p:nvPr/>
        </p:nvSpPr>
        <p:spPr>
          <a:xfrm>
            <a:off x="4646822" y="6071616"/>
            <a:ext cx="6208776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F18A851-F9F2-8961-1DBC-C5C02F5569A7}"/>
              </a:ext>
            </a:extLst>
          </p:cNvPr>
          <p:cNvSpPr/>
          <p:nvPr/>
        </p:nvSpPr>
        <p:spPr>
          <a:xfrm>
            <a:off x="4819650" y="6190488"/>
            <a:ext cx="62811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3B5B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SAV from Fall 2025 mapping in the Landa Lake LTBG reach.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B8EE17-D6F1-E169-5A3A-58ED6DB22943}"/>
              </a:ext>
            </a:extLst>
          </p:cNvPr>
          <p:cNvSpPr txBox="1"/>
          <p:nvPr/>
        </p:nvSpPr>
        <p:spPr>
          <a:xfrm>
            <a:off x="5219700" y="2093975"/>
            <a:ext cx="4619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Perhaps a few pictures here, visual tour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9CF41A-315E-886C-9567-7CF55A96885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46822" y="1108366"/>
            <a:ext cx="6208776" cy="48489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9971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9C211-0F50-6188-8E03-A50C0A18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7329FFF-2C1B-C902-24F9-148B8AEED80E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729CC2A-4FCA-4D29-4AA7-DC6DB8A7A76C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6AE2EA4-21ED-111C-06B3-4E276A981FB9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AF6BBF-C3C3-A563-A971-E8B82ED7A0C6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32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Water Quality</a:t>
            </a:r>
            <a:endParaRPr lang="en-US" sz="2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85BE99F-740E-3928-4ABF-CABC9A280928}"/>
              </a:ext>
            </a:extLst>
          </p:cNvPr>
          <p:cNvSpPr/>
          <p:nvPr/>
        </p:nvSpPr>
        <p:spPr>
          <a:xfrm>
            <a:off x="658368" y="1463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3240"/>
                </a:solidFill>
              </a:rPr>
              <a:t>TEMPERATURE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5F10504-DA5B-4C0A-EFC4-B155FAC9B941}"/>
              </a:ext>
            </a:extLst>
          </p:cNvPr>
          <p:cNvSpPr/>
          <p:nvPr/>
        </p:nvSpPr>
        <p:spPr>
          <a:xfrm>
            <a:off x="640080" y="2058688"/>
            <a:ext cx="2399157" cy="31931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400" dirty="0"/>
              <a:t>Spring Run 3 and Spring Run 7 were unable to record data for 6 days in May of 2025 and 2 days in April of 2026 due to low flows at the monitoring locations.</a:t>
            </a:r>
          </a:p>
          <a:p>
            <a:endParaRPr lang="en-US" sz="1400" dirty="0"/>
          </a:p>
          <a:p>
            <a:r>
              <a:rPr lang="en-US" sz="1400" dirty="0"/>
              <a:t>Temperatures in the Old Channel have largely remained under 25C at the RTWQ monitoring stations with the exception of a brief period in May 2025.</a:t>
            </a:r>
          </a:p>
          <a:p>
            <a:r>
              <a:rPr lang="en-US" sz="1400" dirty="0"/>
              <a:t> 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A7BB5A0-A361-F3BD-A0CF-A1BC90D0F7D7}"/>
              </a:ext>
            </a:extLst>
          </p:cNvPr>
          <p:cNvSpPr/>
          <p:nvPr/>
        </p:nvSpPr>
        <p:spPr>
          <a:xfrm>
            <a:off x="4357816" y="5797296"/>
            <a:ext cx="7026876" cy="438912"/>
          </a:xfrm>
          <a:prstGeom prst="rect">
            <a:avLst/>
          </a:prstGeom>
          <a:solidFill>
            <a:srgbClr val="E6ECDD"/>
          </a:solidFill>
          <a:ln w="12700">
            <a:solidFill>
              <a:srgbClr val="E6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FD44D4C-54F8-95EF-06B5-ECC2B7E73A49}"/>
              </a:ext>
            </a:extLst>
          </p:cNvPr>
          <p:cNvSpPr/>
          <p:nvPr/>
        </p:nvSpPr>
        <p:spPr>
          <a:xfrm>
            <a:off x="4530811" y="5957358"/>
            <a:ext cx="667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3B5B45"/>
                </a:solidFill>
              </a:rPr>
              <a:t>Temperature data from real-time water quality stations operating in the Comal system.  Data from 2026 are unapproved and potentially contain incorrect values.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BB218D-1E99-2D7D-A7F3-671FC76AFC3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5288" y="1138418"/>
            <a:ext cx="7900432" cy="474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14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B6D21-0392-12CD-D67F-FDE641B7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ACCA21-2F44-073E-4F01-A890A74E402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 w="12700">
            <a:solidFill>
              <a:srgbClr val="F6F2E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352B59-FCBD-1968-808F-C215C50FDCD1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D738A2-4776-9209-F832-439CAC36B3B5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A362355-8519-57E5-208A-DD96E067819F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31BA67-5BDA-D960-7D86-0BAF6E985F75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 Water Quality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2A405F-7E30-F506-D8EB-9CBBB3D2B0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00" t="16687" r="9123" b="3544"/>
          <a:stretch>
            <a:fillRect/>
          </a:stretch>
        </p:blipFill>
        <p:spPr>
          <a:xfrm>
            <a:off x="640080" y="990600"/>
            <a:ext cx="10750601" cy="52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401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EEE40-92D6-C972-8116-2AB65454F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B60FA11-3769-120E-D373-6457E741D1E5}"/>
              </a:ext>
            </a:extLst>
          </p:cNvPr>
          <p:cNvSpPr/>
          <p:nvPr/>
        </p:nvSpPr>
        <p:spPr>
          <a:xfrm>
            <a:off x="164592" y="0"/>
            <a:ext cx="12027103" cy="128016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9D35EC-A304-6CFC-6494-ACA15E34ACE4}"/>
              </a:ext>
            </a:extLst>
          </p:cNvPr>
          <p:cNvSpPr/>
          <p:nvPr/>
        </p:nvSpPr>
        <p:spPr>
          <a:xfrm>
            <a:off x="0" y="128016"/>
            <a:ext cx="164592" cy="6729984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25FFF4D-684D-DD19-04B9-234CBF0D0B93}"/>
              </a:ext>
            </a:extLst>
          </p:cNvPr>
          <p:cNvSpPr/>
          <p:nvPr/>
        </p:nvSpPr>
        <p:spPr>
          <a:xfrm>
            <a:off x="164592" y="6739128"/>
            <a:ext cx="12027103" cy="118872"/>
          </a:xfrm>
          <a:prstGeom prst="rect">
            <a:avLst/>
          </a:prstGeom>
          <a:solidFill>
            <a:srgbClr val="D8CFBA"/>
          </a:solidFill>
          <a:ln w="12700">
            <a:solidFill>
              <a:srgbClr val="D8CFB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0681F45-389A-1C88-537D-73A609998762}"/>
              </a:ext>
            </a:extLst>
          </p:cNvPr>
          <p:cNvSpPr/>
          <p:nvPr/>
        </p:nvSpPr>
        <p:spPr>
          <a:xfrm>
            <a:off x="640080" y="34747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Landa Lake/ Comal Data Presented 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30D97F6-2ED0-93FA-4910-A1E9149FF25A}"/>
              </a:ext>
            </a:extLst>
          </p:cNvPr>
          <p:cNvSpPr/>
          <p:nvPr/>
        </p:nvSpPr>
        <p:spPr>
          <a:xfrm>
            <a:off x="886968" y="5998463"/>
            <a:ext cx="6263640" cy="0"/>
          </a:xfrm>
          <a:prstGeom prst="line">
            <a:avLst/>
          </a:prstGeom>
          <a:noFill/>
          <a:ln w="17780">
            <a:solidFill>
              <a:srgbClr val="6CB7AF">
                <a:alpha val="9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82081825-98AA-358E-C73E-4EF5AABF1CE3}"/>
              </a:ext>
            </a:extLst>
          </p:cNvPr>
          <p:cNvSpPr/>
          <p:nvPr/>
        </p:nvSpPr>
        <p:spPr>
          <a:xfrm>
            <a:off x="640080" y="1133857"/>
            <a:ext cx="256032" cy="256032"/>
          </a:xfrm>
          <a:prstGeom prst="rect">
            <a:avLst/>
          </a:prstGeom>
          <a:solidFill>
            <a:srgbClr val="1E6F73"/>
          </a:solidFill>
          <a:ln>
            <a:solidFill>
              <a:srgbClr val="1E6F7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2FDFA9DC-DA79-0D76-1C01-F4557DD2E8D0}"/>
              </a:ext>
            </a:extLst>
          </p:cNvPr>
          <p:cNvSpPr/>
          <p:nvPr/>
        </p:nvSpPr>
        <p:spPr>
          <a:xfrm>
            <a:off x="1033272" y="1124713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350" b="1" dirty="0">
                <a:solidFill>
                  <a:srgbClr val="123240"/>
                </a:solidFill>
              </a:rPr>
              <a:t>Hydrologic</a:t>
            </a:r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A8B4C846-5340-DD71-3317-D0BDF2968340}"/>
              </a:ext>
            </a:extLst>
          </p:cNvPr>
          <p:cNvSpPr/>
          <p:nvPr/>
        </p:nvSpPr>
        <p:spPr>
          <a:xfrm>
            <a:off x="1033272" y="1417321"/>
            <a:ext cx="7996428" cy="1672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Springflow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and River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Dischage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 Comal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Spgs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at New Braunfels, TX – USGS-08168710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243036"/>
                </a:solidFill>
                <a:latin typeface="Aptos"/>
              </a:rPr>
              <a:t>    Comal </a:t>
            </a:r>
            <a:r>
              <a:rPr lang="en-US" sz="1050" dirty="0" err="1">
                <a:solidFill>
                  <a:srgbClr val="243036"/>
                </a:solidFill>
                <a:latin typeface="Aptos"/>
              </a:rPr>
              <a:t>Rv</a:t>
            </a:r>
            <a:r>
              <a:rPr lang="en-US" sz="1050" dirty="0">
                <a:solidFill>
                  <a:srgbClr val="243036"/>
                </a:solidFill>
                <a:latin typeface="Aptos"/>
              </a:rPr>
              <a:t> at New Braunfels, TX – USGS-08169000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243036"/>
                </a:solidFill>
                <a:latin typeface="Aptos"/>
              </a:rPr>
              <a:t>    Comal </a:t>
            </a:r>
            <a:r>
              <a:rPr lang="en-US" sz="1050" dirty="0" err="1">
                <a:solidFill>
                  <a:srgbClr val="243036"/>
                </a:solidFill>
                <a:latin typeface="Aptos"/>
              </a:rPr>
              <a:t>Rv</a:t>
            </a:r>
            <a:r>
              <a:rPr lang="en-US" sz="1050" dirty="0">
                <a:solidFill>
                  <a:srgbClr val="243036"/>
                </a:solidFill>
                <a:latin typeface="Aptos"/>
              </a:rPr>
              <a:t> (nc) nr Landa Lk, New Braunfels, TX – USGS-08168932</a:t>
            </a:r>
          </a:p>
          <a:p>
            <a:pPr lvl="0"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 Comal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Rv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oc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) nr Landa Lk</a:t>
            </a:r>
            <a:r>
              <a:rPr lang="en-US" sz="1050" dirty="0">
                <a:solidFill>
                  <a:srgbClr val="243036"/>
                </a:solidFill>
              </a:rPr>
              <a:t>, New Braunfels, TX – USGS-08168913</a:t>
            </a:r>
          </a:p>
          <a:p>
            <a:pPr lvl="0"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4303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lvl="0">
              <a:defRPr/>
            </a:pPr>
            <a:r>
              <a:rPr lang="en-US" sz="1050" dirty="0">
                <a:solidFill>
                  <a:srgbClr val="243036"/>
                </a:solidFill>
                <a:latin typeface="Aptos"/>
              </a:rPr>
              <a:t>Groundwater Height at LCRA Well - </a:t>
            </a:r>
            <a:r>
              <a:rPr lang="en-US" sz="1050" dirty="0">
                <a:solidFill>
                  <a:srgbClr val="243036"/>
                </a:solidFill>
                <a:latin typeface="Aptos"/>
                <a:hlinkClick r:id="rId3"/>
              </a:rPr>
              <a:t>https://data.edwardsaquifer.org/GroundWater</a:t>
            </a:r>
            <a:endParaRPr lang="en-US" sz="1050" dirty="0">
              <a:solidFill>
                <a:srgbClr val="243036"/>
              </a:solidFill>
              <a:latin typeface="Aptos"/>
            </a:endParaRPr>
          </a:p>
          <a:p>
            <a:pPr lvl="0"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Landa Lake Spring Run and Flow split discharge</a:t>
            </a:r>
          </a:p>
          <a:p>
            <a:pPr lvl="0"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7F1B1082-7269-96A6-C9F5-36CC260E1BB2}"/>
              </a:ext>
            </a:extLst>
          </p:cNvPr>
          <p:cNvSpPr/>
          <p:nvPr/>
        </p:nvSpPr>
        <p:spPr>
          <a:xfrm>
            <a:off x="640080" y="3138326"/>
            <a:ext cx="256032" cy="256032"/>
          </a:xfrm>
          <a:prstGeom prst="rect">
            <a:avLst/>
          </a:prstGeom>
          <a:solidFill>
            <a:srgbClr val="4F7D4F"/>
          </a:solidFill>
          <a:ln>
            <a:solidFill>
              <a:srgbClr val="4F7D4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EDC154FC-24BD-5F78-C0A9-BF8B650BF369}"/>
              </a:ext>
            </a:extLst>
          </p:cNvPr>
          <p:cNvSpPr/>
          <p:nvPr/>
        </p:nvSpPr>
        <p:spPr>
          <a:xfrm>
            <a:off x="1033272" y="312918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2324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Water Quality and Habitat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A51270C4-86BA-1CEA-B36F-00496C216742}"/>
              </a:ext>
            </a:extLst>
          </p:cNvPr>
          <p:cNvSpPr/>
          <p:nvPr/>
        </p:nvSpPr>
        <p:spPr>
          <a:xfrm>
            <a:off x="1033272" y="3402333"/>
            <a:ext cx="3474720" cy="762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243036"/>
                </a:solidFill>
                <a:latin typeface="Aptos"/>
              </a:rPr>
              <a:t>Spring Run 3, 7, and OC Temperature RTWQ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243036"/>
                </a:solidFill>
                <a:latin typeface="Aptos"/>
              </a:rPr>
              <a:t>Landa Lake Thermistors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243036"/>
                </a:solidFill>
                <a:latin typeface="Aptos"/>
              </a:rPr>
              <a:t>Landa Lake SAV maps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4303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TPWD Spring Orifices Map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4524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40"/>
          </a:solidFill>
          <a:ln w="12700">
            <a:solidFill>
              <a:srgbClr val="1232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6CB7AF"/>
          </a:solidFill>
          <a:ln w="12700">
            <a:solidFill>
              <a:srgbClr val="6CB7A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4F7D4F"/>
          </a:solidFill>
          <a:ln w="12700">
            <a:solidFill>
              <a:srgbClr val="4F7D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841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6CB7AF"/>
                </a:solidFill>
              </a:rPr>
              <a:t>EAHCP · LANDA LAKE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>
                <a:solidFill>
                  <a:srgbClr val="FBFA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and</a:t>
            </a:r>
            <a:endParaRPr lang="en-US" sz="4300"/>
          </a:p>
          <a:p>
            <a:pPr marL="0" indent="0">
              <a:buNone/>
            </a:pPr>
            <a:r>
              <a:rPr lang="en-US" sz="4300" b="1">
                <a:solidFill>
                  <a:srgbClr val="FBFA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</a:t>
            </a:r>
            <a:endParaRPr lang="en-US" sz="4300"/>
          </a:p>
        </p:txBody>
      </p:sp>
      <p:sp>
        <p:nvSpPr>
          <p:cNvPr id="9" name="Text 7"/>
          <p:cNvSpPr/>
          <p:nvPr/>
        </p:nvSpPr>
        <p:spPr>
          <a:xfrm>
            <a:off x="7452360" y="62636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F4E9CF"/>
                </a:solidFill>
              </a:rPr>
              <a:t>Edwards Aquifer Habitat Conservation Plan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11475720" y="62636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F4E9CF"/>
                </a:solidFill>
              </a:rPr>
              <a:t>13</a:t>
            </a:r>
            <a:endParaRPr lang="en-US" sz="8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2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2B5B1-179C-C823-D72B-FBD58B17F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4509DD-1D94-43D2-DDE0-67B8A0A393E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40"/>
          </a:solidFill>
          <a:ln w="12700">
            <a:solidFill>
              <a:srgbClr val="12324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3370C0-B207-9F2E-3D77-B2E5EBB9CAC4}"/>
              </a:ext>
            </a:extLst>
          </p:cNvPr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1E6F73"/>
          </a:solidFill>
          <a:ln w="12700">
            <a:solidFill>
              <a:srgbClr val="1E6F7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96E49AB-1757-683B-EF90-F02EA51F8151}"/>
              </a:ext>
            </a:extLst>
          </p:cNvPr>
          <p:cNvSpPr/>
          <p:nvPr/>
        </p:nvSpPr>
        <p:spPr>
          <a:xfrm>
            <a:off x="0" y="5742432"/>
            <a:ext cx="12191695" cy="1115568"/>
          </a:xfrm>
          <a:prstGeom prst="rect">
            <a:avLst/>
          </a:prstGeom>
          <a:solidFill>
            <a:srgbClr val="4F7D4F">
              <a:alpha val="91000"/>
            </a:srgbClr>
          </a:solidFill>
          <a:ln w="12700">
            <a:solidFill>
              <a:srgbClr val="4F7D4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4BE51A-D607-4BE1-A15C-BB4EE1404807}"/>
              </a:ext>
            </a:extLst>
          </p:cNvPr>
          <p:cNvSpPr/>
          <p:nvPr/>
        </p:nvSpPr>
        <p:spPr>
          <a:xfrm rot="480000">
            <a:off x="7909560" y="73152"/>
            <a:ext cx="2834640" cy="2834640"/>
          </a:xfrm>
          <a:prstGeom prst="arc">
            <a:avLst/>
          </a:prstGeom>
          <a:solidFill>
            <a:srgbClr val="123240">
              <a:alpha val="0"/>
            </a:srgbClr>
          </a:solidFill>
          <a:ln w="25400">
            <a:solidFill>
              <a:srgbClr val="6CB7A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FF6C824-3F2A-EF70-5D44-80E757DB5560}"/>
              </a:ext>
            </a:extLst>
          </p:cNvPr>
          <p:cNvSpPr/>
          <p:nvPr/>
        </p:nvSpPr>
        <p:spPr>
          <a:xfrm rot="660000">
            <a:off x="8549640" y="411480"/>
            <a:ext cx="2834640" cy="2834640"/>
          </a:xfrm>
          <a:prstGeom prst="arc">
            <a:avLst/>
          </a:prstGeom>
          <a:solidFill>
            <a:srgbClr val="123240">
              <a:alpha val="0"/>
            </a:srgbClr>
          </a:solidFill>
          <a:ln w="17780">
            <a:solidFill>
              <a:srgbClr val="8BAE66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7BCE381-254E-2B50-1B46-F0F97001953C}"/>
              </a:ext>
            </a:extLst>
          </p:cNvPr>
          <p:cNvSpPr/>
          <p:nvPr/>
        </p:nvSpPr>
        <p:spPr>
          <a:xfrm>
            <a:off x="658368" y="5120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6CB7A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EAHCP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2770403-7260-C500-5810-D0C69C1D2679}"/>
              </a:ext>
            </a:extLst>
          </p:cNvPr>
          <p:cNvSpPr/>
          <p:nvPr/>
        </p:nvSpPr>
        <p:spPr>
          <a:xfrm>
            <a:off x="658367" y="1143000"/>
            <a:ext cx="7893961" cy="767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BFAF4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EAHCP Supporting Measures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F26F101-D1BA-EA64-F7F2-9CAF37702BB1}"/>
              </a:ext>
            </a:extLst>
          </p:cNvPr>
          <p:cNvSpPr/>
          <p:nvPr/>
        </p:nvSpPr>
        <p:spPr>
          <a:xfrm>
            <a:off x="676656" y="3090672"/>
            <a:ext cx="3794760" cy="0"/>
          </a:xfrm>
          <a:prstGeom prst="line">
            <a:avLst/>
          </a:prstGeom>
          <a:noFill/>
          <a:ln w="11430">
            <a:solidFill>
              <a:srgbClr val="D6A13A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720C37F-6A29-995B-EA2B-D658CCC5C5CB}"/>
              </a:ext>
            </a:extLst>
          </p:cNvPr>
          <p:cNvSpPr/>
          <p:nvPr/>
        </p:nvSpPr>
        <p:spPr>
          <a:xfrm>
            <a:off x="685800" y="332841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1" i="0" u="none" strike="noStrike" kern="1200" cap="none" spc="0" normalizeH="0" baseline="0" noProof="0">
                <a:ln>
                  <a:noFill/>
                </a:ln>
                <a:solidFill>
                  <a:srgbClr val="6CB7A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SCIENCE COMMITTEE IMPLEMENTATION MEETING</a:t>
            </a:r>
            <a:endParaRPr kumimoji="0" lang="en-US" sz="8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74E0003-24B2-FA5B-4F49-AA47C66CA27B}"/>
              </a:ext>
            </a:extLst>
          </p:cNvPr>
          <p:cNvSpPr/>
          <p:nvPr/>
        </p:nvSpPr>
        <p:spPr>
          <a:xfrm>
            <a:off x="685800" y="36850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8CFB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September 16, 2026  ·  STAR SMTX  ·  Chad Furl PhD PE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718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474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Supporting Measures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87552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87552" y="25420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+mn-ea"/>
                <a:cs typeface="+mn-cs"/>
              </a:rPr>
              <a:t>Water Quality and Biological Monitoring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552" y="3447288"/>
            <a:ext cx="2670048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98264" y="1874520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DDECEF"/>
          </a:solidFill>
          <a:ln w="20320">
            <a:solidFill>
              <a:srgbClr val="6DB6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72584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D7F8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RESEARCH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672584" y="25420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Applied Research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72584" y="3180523"/>
            <a:ext cx="2670048" cy="19719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San Marcos salamander monitoring protocol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CSRB genetics across droughts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Comal Springs dryopid monitoring protocol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4343B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Data management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83296" y="1874520"/>
            <a:ext cx="3273552" cy="363931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357616" y="2185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6374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REFUGIA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357616" y="25420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Edwards Aquifer Refugia Program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57616" y="3447288"/>
            <a:ext cx="2670048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3232" y="5751576"/>
            <a:ext cx="10652760" cy="329184"/>
          </a:xfrm>
          <a:prstGeom prst="roundRect">
            <a:avLst>
              <a:gd name="adj" fmla="val 11111"/>
            </a:avLst>
          </a:prstGeom>
          <a:solidFill>
            <a:srgbClr val="2D7F83"/>
          </a:solidFill>
          <a:ln w="12700">
            <a:solidFill>
              <a:srgbClr val="2D7F8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C9D5E1-2F31-5A7E-4075-7D2ED528DE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53" t="24626" r="28125" b="21793"/>
          <a:stretch>
            <a:fillRect/>
          </a:stretch>
        </p:blipFill>
        <p:spPr>
          <a:xfrm>
            <a:off x="8357616" y="3429000"/>
            <a:ext cx="2700744" cy="17946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6A92471-AF2B-8E41-5CA4-9EF9D07496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44" t="17185" r="25781" b="14520"/>
          <a:stretch>
            <a:fillRect/>
          </a:stretch>
        </p:blipFill>
        <p:spPr>
          <a:xfrm>
            <a:off x="1069848" y="3280324"/>
            <a:ext cx="2560319" cy="197290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San Marcos salamander monitoring protocol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A93D8D-CD7F-A089-E4B6-B770E829A31E}"/>
              </a:ext>
            </a:extLst>
          </p:cNvPr>
          <p:cNvSpPr txBox="1"/>
          <p:nvPr/>
        </p:nvSpPr>
        <p:spPr>
          <a:xfrm>
            <a:off x="685800" y="1470203"/>
            <a:ext cx="107262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Goal: Develop sampling and analytical protocols to monitor occupancy and abundance dynamics of the San Marcos salamander.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Sampling occurred 2025-2026 for a total of 9 sampling events per year. Switched from transect to quadrat (0.5 m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) sampling in 2026. ~30% occupied habitat sampled.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Occupancy models look promising with site covariates substrate type and spring presence as top predictors.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Track juvenile and adults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Add fourth sampling event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   per year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3ECC4CD-B8C9-2B9C-1F70-D33414652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873"/>
          <a:stretch>
            <a:fillRect/>
          </a:stretch>
        </p:blipFill>
        <p:spPr>
          <a:xfrm>
            <a:off x="4659668" y="3617149"/>
            <a:ext cx="3272144" cy="27104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88CB16C-C2FA-5C3D-335D-0A2C681FF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518" y="3770317"/>
            <a:ext cx="3480259" cy="219113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0CAE5EE-7BD8-840A-C2E7-E7A74D198093}"/>
              </a:ext>
            </a:extLst>
          </p:cNvPr>
          <p:cNvSpPr txBox="1"/>
          <p:nvPr/>
        </p:nvSpPr>
        <p:spPr>
          <a:xfrm>
            <a:off x="685800" y="4746237"/>
            <a:ext cx="3411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Final report will be finished by December 2026 with plans to complete an additional sampling event in 2027.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2D5194-B006-2411-1912-FA344F73A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56ED19B-7624-AE32-1261-FCC04E525C07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Comal Springs dryopid beetle monitoring protocol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712FECA-C81D-13B7-9049-46023365DB38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7FD299-08F4-083B-03F7-E701DC8DA6F2}"/>
              </a:ext>
            </a:extLst>
          </p:cNvPr>
          <p:cNvSpPr txBox="1"/>
          <p:nvPr/>
        </p:nvSpPr>
        <p:spPr>
          <a:xfrm>
            <a:off x="685801" y="1470203"/>
            <a:ext cx="5410200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Goal: Develop monitoring protocols for the previously unmonitored Comal Springs dryopid beetle.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Evaluate and standardize the use of wooden discs to capture the animal.  Wooden disc have recently been proven as an effective capture technique during Refugia collections.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2026 findings: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Low flows limited areas that could be sampled for much of the year.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Spring Island served as the most useful area to test wooden disc techniques.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Early data suggests CSDB are more common or detectable during February-April.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67717C-B2A7-9638-0EB8-377CED8A27D2}"/>
              </a:ext>
            </a:extLst>
          </p:cNvPr>
          <p:cNvSpPr txBox="1"/>
          <p:nvPr/>
        </p:nvSpPr>
        <p:spPr>
          <a:xfrm>
            <a:off x="685801" y="5501808"/>
            <a:ext cx="56522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Field sampling will be complete by end of 2026 with report available in 2027.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EC0D5C-5921-EC28-2F92-F14B9EC3A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093" y="1444752"/>
            <a:ext cx="4994787" cy="444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664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55AF9-C3FB-E5D1-A5F2-0F59149BF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A0E60B2-BF1A-3343-BE25-9222D45BBB58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Comal Springs riffle beetle genetics history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5D91DEA-D9E8-375A-3A9A-1915A8D6134E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55B560-A49F-31EB-886F-4CCBEEE646A6}"/>
              </a:ext>
            </a:extLst>
          </p:cNvPr>
          <p:cNvSpPr txBox="1"/>
          <p:nvPr/>
        </p:nvSpPr>
        <p:spPr>
          <a:xfrm>
            <a:off x="685800" y="1470203"/>
            <a:ext cx="99821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Goal: Examine population genetics of the Comal Springs riffle beetle based on collected specimens from 2007-2024.</a:t>
            </a:r>
          </a:p>
          <a:p>
            <a:pPr marL="798513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Estimate genetic diversity, patterns of gene flow, and population structure for each locality and temporal sample (n=4) and assess change over time. </a:t>
            </a:r>
          </a:p>
          <a:p>
            <a:pPr marL="798513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Estimate effective population sizes at each locality and explore if there is evidence that any populations have gone through a genetic bottleneck. </a:t>
            </a:r>
          </a:p>
          <a:p>
            <a:pPr marL="798513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2026 progress: Individuals of CSRB and CSDB were sent to genome sequencing lab. CSDB extraction was successful and ready for sequencing. CSRB extraction unsuccessful, additional specimens being sent to lab.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55B3F0-3DB0-35F4-0412-F2F4A629B7F1}"/>
              </a:ext>
            </a:extLst>
          </p:cNvPr>
          <p:cNvSpPr txBox="1"/>
          <p:nvPr/>
        </p:nvSpPr>
        <p:spPr>
          <a:xfrm>
            <a:off x="685801" y="4461902"/>
            <a:ext cx="5652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Final report planned by end of 2027.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91CE9F-3D54-27CC-FC5F-C43A73320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972743">
            <a:off x="9371738" y="4344877"/>
            <a:ext cx="2023423" cy="208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909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A495B6-8B69-3592-95E3-2DC47406E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DCB0ED0-73FD-DA11-4FCF-ADE2C6259C9A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EAHCP 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management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FCBAFFD-B4CA-89A8-AF57-92F6CD3113A2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576166-71D7-4376-7608-71515A984ECF}"/>
              </a:ext>
            </a:extLst>
          </p:cNvPr>
          <p:cNvSpPr txBox="1"/>
          <p:nvPr/>
        </p:nvSpPr>
        <p:spPr>
          <a:xfrm>
            <a:off x="685800" y="1470203"/>
            <a:ext cx="11018519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Goal: Develop a simple, public-facing Shiny-based data portal that allows users to query, filter, and download approved EAHCP environmental monitoring datasets.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Provides access to core EAHCP datasets.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Focused on data discovery and standardized downloads, not analysis, modeling, or interpretation.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Built around a maintainable, configuration-driven framework so EAA can update datasets, metadata, schemas, and download packages annually without rebuilding the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Presently, in the data standardization and architecture design phase.  Plan to hand off to a developer early 2027. </a:t>
            </a:r>
          </a:p>
        </p:txBody>
      </p:sp>
    </p:spTree>
    <p:extLst>
      <p:ext uri="{BB962C8B-B14F-4D97-AF65-F5344CB8AC3E}">
        <p14:creationId xmlns:p14="http://schemas.microsoft.com/office/powerpoint/2010/main" val="4214966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CC5712-9985-862E-614F-8E5CD5F9A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76C0EFC-BB59-B512-A165-D46BBBCC3573}"/>
              </a:ext>
            </a:extLst>
          </p:cNvPr>
          <p:cNvSpPr txBox="1"/>
          <p:nvPr/>
        </p:nvSpPr>
        <p:spPr>
          <a:xfrm>
            <a:off x="685800" y="694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3C5D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Refugia Program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0B42F04-2125-FBA7-6804-85389560C0AD}"/>
              </a:ext>
            </a:extLst>
          </p:cNvPr>
          <p:cNvSpPr/>
          <p:nvPr/>
        </p:nvSpPr>
        <p:spPr>
          <a:xfrm>
            <a:off x="594360" y="6510528"/>
            <a:ext cx="11018520" cy="0"/>
          </a:xfrm>
          <a:prstGeom prst="line">
            <a:avLst/>
          </a:prstGeom>
          <a:noFill/>
          <a:ln w="7620">
            <a:solidFill>
              <a:srgbClr val="A69E8F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57F61E-88EF-7A2B-65BA-5B53A4B32C51}"/>
              </a:ext>
            </a:extLst>
          </p:cNvPr>
          <p:cNvSpPr txBox="1"/>
          <p:nvPr/>
        </p:nvSpPr>
        <p:spPr>
          <a:xfrm>
            <a:off x="685801" y="1470203"/>
            <a:ext cx="640528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Gas supersaturation event occurred at the Uvalde hatchery on June 6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resulting in the loss of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231 San Marcos salamanders and 92 Texas blind salamanders.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There was an interruption of power to the well pump and a malfunction of the diversion valve when supersaturated water was detected.  A chunk of calcium carbonate was wedged into the valve allowing it to not fully close.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New standard operating procedures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hav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 been adopted: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	Diversion valve exercised weekly and will be broken down and cleaned or replaced on a bi-annual basis.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	Off-gassing chambers installed to reduce saturated gas before entering systems.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B925E7-2D4F-8B9E-8B67-4B758D2B1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751" y="751019"/>
            <a:ext cx="3999517" cy="2974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FBD633-E39B-3A10-0052-48E87CCDC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752" y="3429000"/>
            <a:ext cx="3999518" cy="261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72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2208</Words>
  <Application>Microsoft Office PowerPoint</Application>
  <PresentationFormat>Widescreen</PresentationFormat>
  <Paragraphs>306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Edwards Aquifer Habitat Conservation Plan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EAHCP Landa Lake Template</dc:title>
  <dc:subject>EAHCP Landa Lake presentation template</dc:subject>
  <dc:creator>OpenAI</dc:creator>
  <cp:lastModifiedBy>Chad Furl</cp:lastModifiedBy>
  <cp:revision>1</cp:revision>
  <dcterms:created xsi:type="dcterms:W3CDTF">2026-08-03T20:56:09Z</dcterms:created>
  <dcterms:modified xsi:type="dcterms:W3CDTF">2026-09-09T15:12:36Z</dcterms:modified>
</cp:coreProperties>
</file>